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78" r:id="rId4"/>
    <p:sldId id="281" r:id="rId5"/>
    <p:sldId id="287" r:id="rId6"/>
    <p:sldId id="282" r:id="rId7"/>
    <p:sldId id="283" r:id="rId8"/>
    <p:sldId id="284" r:id="rId9"/>
    <p:sldId id="285" r:id="rId10"/>
    <p:sldId id="288" r:id="rId11"/>
    <p:sldId id="286" r:id="rId12"/>
    <p:sldId id="289" r:id="rId13"/>
    <p:sldId id="290" r:id="rId14"/>
    <p:sldId id="291" r:id="rId15"/>
    <p:sldId id="298" r:id="rId16"/>
    <p:sldId id="257" r:id="rId17"/>
    <p:sldId id="259" r:id="rId18"/>
    <p:sldId id="262" r:id="rId19"/>
    <p:sldId id="299" r:id="rId20"/>
    <p:sldId id="292" r:id="rId21"/>
    <p:sldId id="293" r:id="rId22"/>
    <p:sldId id="294" r:id="rId23"/>
    <p:sldId id="295" r:id="rId24"/>
    <p:sldId id="296" r:id="rId25"/>
    <p:sldId id="297" r:id="rId26"/>
    <p:sldId id="300" r:id="rId27"/>
    <p:sldId id="301" r:id="rId28"/>
    <p:sldId id="302" r:id="rId29"/>
    <p:sldId id="303" r:id="rId30"/>
    <p:sldId id="304" r:id="rId31"/>
    <p:sldId id="305" r:id="rId32"/>
    <p:sldId id="306" r:id="rId33"/>
    <p:sldId id="308" r:id="rId34"/>
    <p:sldId id="309" r:id="rId35"/>
    <p:sldId id="310" r:id="rId36"/>
    <p:sldId id="30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66FF"/>
    <a:srgbClr val="FFFF00"/>
    <a:srgbClr val="66CCFF"/>
    <a:srgbClr val="00CCFF"/>
    <a:srgbClr val="FFFF99"/>
    <a:srgbClr val="CC3300"/>
    <a:srgbClr val="9999FF"/>
    <a:srgbClr val="99FF33"/>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5C70BE-9713-4BC7-B144-48C8D682EA29}" v="4" dt="2025-05-02T16:58:45.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7" autoAdjust="0"/>
    <p:restoredTop sz="94660"/>
  </p:normalViewPr>
  <p:slideViewPr>
    <p:cSldViewPr snapToGrid="0">
      <p:cViewPr varScale="1">
        <p:scale>
          <a:sx n="157" d="100"/>
          <a:sy n="157" d="100"/>
        </p:scale>
        <p:origin x="618"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aton Smith" userId="43f47a3b4c49c735" providerId="LiveId" clId="{525C70BE-9713-4BC7-B144-48C8D682EA29}"/>
    <pc:docChg chg="modSld sldOrd">
      <pc:chgData name="Keaton Smith" userId="43f47a3b4c49c735" providerId="LiveId" clId="{525C70BE-9713-4BC7-B144-48C8D682EA29}" dt="2025-05-02T17:00:34.145" v="36" actId="1076"/>
      <pc:docMkLst>
        <pc:docMk/>
      </pc:docMkLst>
      <pc:sldChg chg="modSp mod ord">
        <pc:chgData name="Keaton Smith" userId="43f47a3b4c49c735" providerId="LiveId" clId="{525C70BE-9713-4BC7-B144-48C8D682EA29}" dt="2025-05-02T17:00:34.145" v="36" actId="1076"/>
        <pc:sldMkLst>
          <pc:docMk/>
          <pc:sldMk cId="1147961301" sldId="307"/>
        </pc:sldMkLst>
        <pc:spChg chg="mod">
          <ac:chgData name="Keaton Smith" userId="43f47a3b4c49c735" providerId="LiveId" clId="{525C70BE-9713-4BC7-B144-48C8D682EA29}" dt="2025-05-02T17:00:34.145" v="36" actId="1076"/>
          <ac:spMkLst>
            <pc:docMk/>
            <pc:sldMk cId="1147961301" sldId="307"/>
            <ac:spMk id="2" creationId="{11A52677-6773-CC04-FA78-3D519C458D35}"/>
          </ac:spMkLst>
        </pc:spChg>
        <pc:spChg chg="mod">
          <ac:chgData name="Keaton Smith" userId="43f47a3b4c49c735" providerId="LiveId" clId="{525C70BE-9713-4BC7-B144-48C8D682EA29}" dt="2025-05-02T16:58:45.111" v="33" actId="14100"/>
          <ac:spMkLst>
            <pc:docMk/>
            <pc:sldMk cId="1147961301" sldId="307"/>
            <ac:spMk id="3" creationId="{76EB74B9-65B2-BB97-EC75-08E65F776F6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4F1F0-8340-0808-8BA9-012CC617F1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11C533-1558-B10B-1529-A726B851B1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79B5F4-BD97-4960-C834-8C960A0CAFCB}"/>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5" name="Footer Placeholder 4">
            <a:extLst>
              <a:ext uri="{FF2B5EF4-FFF2-40B4-BE49-F238E27FC236}">
                <a16:creationId xmlns:a16="http://schemas.microsoft.com/office/drawing/2014/main" id="{7C3BF20A-E3AA-968B-4581-545F67934E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81C7C5-F56D-0863-C84B-568377602E4A}"/>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564420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38DBE-06EB-43A8-FC48-9386C6EBED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883-CEF1-30E0-9714-EF891F98CC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B9697-1C15-0CA8-202C-D0546846393B}"/>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5" name="Footer Placeholder 4">
            <a:extLst>
              <a:ext uri="{FF2B5EF4-FFF2-40B4-BE49-F238E27FC236}">
                <a16:creationId xmlns:a16="http://schemas.microsoft.com/office/drawing/2014/main" id="{6957E2AD-9155-0E6D-E6A0-A41CD5E19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489D38-86AF-E393-1FAC-B704B5FA2C8D}"/>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3701091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40A29-31D8-F0D1-E2FF-2C104A0388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DE6D0A-C888-F3C9-56C9-F29270FE2A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F76A97-8BF4-0EDC-F169-34E80084E566}"/>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5" name="Footer Placeholder 4">
            <a:extLst>
              <a:ext uri="{FF2B5EF4-FFF2-40B4-BE49-F238E27FC236}">
                <a16:creationId xmlns:a16="http://schemas.microsoft.com/office/drawing/2014/main" id="{50446A94-6932-18C4-53FA-EDDD1EAC6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C99258-C809-4502-A755-41B7EC5366A1}"/>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1027071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0FC30-0970-9C50-CA8E-AD807DF147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AAF26E-4F96-CE2F-F39E-D7057FE10B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4EA6F7-D87F-13D9-82AB-5C06F939E8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1CD3FB-E469-C410-4989-0D94B6B14B77}"/>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6" name="Footer Placeholder 5">
            <a:extLst>
              <a:ext uri="{FF2B5EF4-FFF2-40B4-BE49-F238E27FC236}">
                <a16:creationId xmlns:a16="http://schemas.microsoft.com/office/drawing/2014/main" id="{8F22FD3F-276D-7396-BDA8-6D7193392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81A17-C821-4C7A-8AE7-76448B538315}"/>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3756968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2BC5B-5468-F364-1566-75FFB3DB58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FE2C8B-F59E-29C7-69BF-75DFDC7DB4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89CC97-180B-C8C3-22E0-EA6079067D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9D3638-4C9A-4B14-C162-7D9B433791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9B3FFF-1177-C0B0-F70F-75E61F79B1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9B5098-3E7B-DEC5-919F-B3934334DBE9}"/>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8" name="Footer Placeholder 7">
            <a:extLst>
              <a:ext uri="{FF2B5EF4-FFF2-40B4-BE49-F238E27FC236}">
                <a16:creationId xmlns:a16="http://schemas.microsoft.com/office/drawing/2014/main" id="{7F37DF22-E6FA-E063-76F9-90F41CBE43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1BAEC3-1D45-AFFB-9C7A-AFA6C588E4AF}"/>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324811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E0667-6437-A0B6-2CEB-3D8B04CD80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3D2C7F-7780-7814-7D18-5DA6083EF25B}"/>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4" name="Footer Placeholder 3">
            <a:extLst>
              <a:ext uri="{FF2B5EF4-FFF2-40B4-BE49-F238E27FC236}">
                <a16:creationId xmlns:a16="http://schemas.microsoft.com/office/drawing/2014/main" id="{6BB64942-3C37-263F-FEED-CBBC51EE30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49C24A-4E45-E616-6BD0-1AA34DC4131E}"/>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1929834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ADA31B-B07B-EDE2-0A7E-62BD078F9DF5}"/>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3" name="Footer Placeholder 2">
            <a:extLst>
              <a:ext uri="{FF2B5EF4-FFF2-40B4-BE49-F238E27FC236}">
                <a16:creationId xmlns:a16="http://schemas.microsoft.com/office/drawing/2014/main" id="{AC275308-0E77-C0C7-FE0A-1FB6360747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669FA2-3ECA-4A10-D9BC-1E060DFAC3D3}"/>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505829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9F82-7F1A-FFB0-D23B-567F1C3D6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366787-2D31-3887-F554-265729FB0A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419F50-A93E-11E5-146D-24ED31F91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6D668B-2B07-04AA-C8F0-DE217A4C2755}"/>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6" name="Footer Placeholder 5">
            <a:extLst>
              <a:ext uri="{FF2B5EF4-FFF2-40B4-BE49-F238E27FC236}">
                <a16:creationId xmlns:a16="http://schemas.microsoft.com/office/drawing/2014/main" id="{9F171A5B-2467-3554-F7B0-472B7CE97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9E55F-4652-C43A-A324-FADEC391EF9C}"/>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954191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847EA-61FA-BAFB-3A0D-DA60BA509E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43C697-58C6-1D6F-C01F-C11097EB7D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C10A85-0710-36D8-2B2B-614303300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774AE5-8E06-CC6B-E89D-837839097DB7}"/>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6" name="Footer Placeholder 5">
            <a:extLst>
              <a:ext uri="{FF2B5EF4-FFF2-40B4-BE49-F238E27FC236}">
                <a16:creationId xmlns:a16="http://schemas.microsoft.com/office/drawing/2014/main" id="{7B6B78F4-C4E1-B463-AB1E-21E449015C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F1C4D-CB8C-2B3F-571E-6FA9EB3ACB73}"/>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671809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1FDE5-3A4E-5945-DC6E-88B84D5074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FAD55F-551A-2EB2-5A5F-3382F96468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257BF-06CF-B503-7E96-9B0DE6F086A2}"/>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5" name="Footer Placeholder 4">
            <a:extLst>
              <a:ext uri="{FF2B5EF4-FFF2-40B4-BE49-F238E27FC236}">
                <a16:creationId xmlns:a16="http://schemas.microsoft.com/office/drawing/2014/main" id="{8665C180-B3E5-61B4-E65B-5BB5CE8C6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812E0-20B0-4CC8-8911-77E3213F5BCF}"/>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2902603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81AF37-640F-3388-F1D2-AEAC0DAB720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6E05D1-AEFE-B8E5-49B6-8B61F51C92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EF73B-B190-8C17-2AD4-7154E62B4037}"/>
              </a:ext>
            </a:extLst>
          </p:cNvPr>
          <p:cNvSpPr>
            <a:spLocks noGrp="1"/>
          </p:cNvSpPr>
          <p:nvPr>
            <p:ph type="dt" sz="half" idx="10"/>
          </p:nvPr>
        </p:nvSpPr>
        <p:spPr/>
        <p:txBody>
          <a:bodyPr/>
          <a:lstStyle/>
          <a:p>
            <a:fld id="{481B4678-2E1C-448A-9A62-D54DCE7E9221}" type="datetimeFigureOut">
              <a:rPr lang="en-US" smtClean="0"/>
              <a:t>5/2/2025</a:t>
            </a:fld>
            <a:endParaRPr lang="en-US"/>
          </a:p>
        </p:txBody>
      </p:sp>
      <p:sp>
        <p:nvSpPr>
          <p:cNvPr id="5" name="Footer Placeholder 4">
            <a:extLst>
              <a:ext uri="{FF2B5EF4-FFF2-40B4-BE49-F238E27FC236}">
                <a16:creationId xmlns:a16="http://schemas.microsoft.com/office/drawing/2014/main" id="{481547DF-4D5D-E33C-1D9C-D9C54C45F8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D53D3B-2927-341D-5ED9-3AE5CF93DB82}"/>
              </a:ext>
            </a:extLst>
          </p:cNvPr>
          <p:cNvSpPr>
            <a:spLocks noGrp="1"/>
          </p:cNvSpPr>
          <p:nvPr>
            <p:ph type="sldNum" sz="quarter" idx="12"/>
          </p:nvPr>
        </p:nvSpPr>
        <p:spPr/>
        <p:txBody>
          <a:bodyPr/>
          <a:lstStyle/>
          <a:p>
            <a:fld id="{3D9F021F-8888-49C2-91FE-CF7CF9A2C74C}" type="slidenum">
              <a:rPr lang="en-US" smtClean="0"/>
              <a:t>‹#›</a:t>
            </a:fld>
            <a:endParaRPr lang="en-US"/>
          </a:p>
        </p:txBody>
      </p:sp>
    </p:spTree>
    <p:extLst>
      <p:ext uri="{BB962C8B-B14F-4D97-AF65-F5344CB8AC3E}">
        <p14:creationId xmlns:p14="http://schemas.microsoft.com/office/powerpoint/2010/main" val="1860887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D2F9BE-F886-5A5C-C5ED-6FC31E8BDF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555381-09B8-7A8C-0A0D-ACF6CC330D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71D2AB-29AB-2F67-B4A8-B22A634468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B4678-2E1C-448A-9A62-D54DCE7E9221}" type="datetimeFigureOut">
              <a:rPr lang="en-US" smtClean="0"/>
              <a:t>5/2/2025</a:t>
            </a:fld>
            <a:endParaRPr lang="en-US"/>
          </a:p>
        </p:txBody>
      </p:sp>
      <p:sp>
        <p:nvSpPr>
          <p:cNvPr id="5" name="Footer Placeholder 4">
            <a:extLst>
              <a:ext uri="{FF2B5EF4-FFF2-40B4-BE49-F238E27FC236}">
                <a16:creationId xmlns:a16="http://schemas.microsoft.com/office/drawing/2014/main" id="{8D9FBDC5-436F-CF6E-38BE-B8A62DB8CD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5AB53C-6F36-20F6-C5B9-E19575FE99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9F021F-8888-49C2-91FE-CF7CF9A2C74C}" type="slidenum">
              <a:rPr lang="en-US" smtClean="0"/>
              <a:t>‹#›</a:t>
            </a:fld>
            <a:endParaRPr lang="en-US"/>
          </a:p>
        </p:txBody>
      </p:sp>
    </p:spTree>
    <p:extLst>
      <p:ext uri="{BB962C8B-B14F-4D97-AF65-F5344CB8AC3E}">
        <p14:creationId xmlns:p14="http://schemas.microsoft.com/office/powerpoint/2010/main" val="4216360695"/>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0156D-2CDF-5F32-350B-83E5B4EED5F0}"/>
              </a:ext>
            </a:extLst>
          </p:cNvPr>
          <p:cNvSpPr>
            <a:spLocks noGrp="1"/>
          </p:cNvSpPr>
          <p:nvPr>
            <p:ph type="ctrTitle"/>
          </p:nvPr>
        </p:nvSpPr>
        <p:spPr>
          <a:xfrm>
            <a:off x="264694" y="270494"/>
            <a:ext cx="7904747" cy="1501653"/>
          </a:xfrm>
        </p:spPr>
        <p:txBody>
          <a:bodyPr>
            <a:noAutofit/>
          </a:bodyPr>
          <a:lstStyle/>
          <a:p>
            <a:pPr algn="l"/>
            <a:r>
              <a:rPr lang="en-US" sz="11500" dirty="0">
                <a:solidFill>
                  <a:srgbClr val="00B0F0"/>
                </a:solidFill>
              </a:rPr>
              <a:t>The</a:t>
            </a:r>
            <a:endParaRPr lang="en-US" sz="11500" dirty="0"/>
          </a:p>
        </p:txBody>
      </p:sp>
      <p:sp>
        <p:nvSpPr>
          <p:cNvPr id="5" name="TextBox 4">
            <a:extLst>
              <a:ext uri="{FF2B5EF4-FFF2-40B4-BE49-F238E27FC236}">
                <a16:creationId xmlns:a16="http://schemas.microsoft.com/office/drawing/2014/main" id="{D4374F6D-3B29-7EA4-4802-C510E281760A}"/>
              </a:ext>
            </a:extLst>
          </p:cNvPr>
          <p:cNvSpPr txBox="1"/>
          <p:nvPr/>
        </p:nvSpPr>
        <p:spPr>
          <a:xfrm>
            <a:off x="8561570" y="6184197"/>
            <a:ext cx="3313292" cy="553998"/>
          </a:xfrm>
          <a:prstGeom prst="rect">
            <a:avLst/>
          </a:prstGeom>
          <a:noFill/>
        </p:spPr>
        <p:txBody>
          <a:bodyPr wrap="square" rtlCol="0">
            <a:spAutoFit/>
          </a:bodyPr>
          <a:lstStyle/>
          <a:p>
            <a:r>
              <a:rPr lang="en-US" sz="1400" dirty="0">
                <a:solidFill>
                  <a:schemeClr val="tx2">
                    <a:lumMod val="50000"/>
                  </a:schemeClr>
                </a:solidFill>
              </a:rPr>
              <a:t>by: </a:t>
            </a:r>
            <a:r>
              <a:rPr lang="en-US" sz="1400" dirty="0">
                <a:solidFill>
                  <a:schemeClr val="tx2">
                    <a:lumMod val="75000"/>
                  </a:schemeClr>
                </a:solidFill>
              </a:rPr>
              <a:t>keaton smith</a:t>
            </a:r>
          </a:p>
          <a:p>
            <a:r>
              <a:rPr lang="en-US" sz="1600" dirty="0">
                <a:solidFill>
                  <a:schemeClr val="tx2">
                    <a:lumMod val="50000"/>
                  </a:schemeClr>
                </a:solidFill>
              </a:rPr>
              <a:t>-</a:t>
            </a:r>
            <a:r>
              <a:rPr lang="en-US" sz="1600" i="1" dirty="0">
                <a:solidFill>
                  <a:schemeClr val="tx2">
                    <a:lumMod val="50000"/>
                  </a:schemeClr>
                </a:solidFill>
              </a:rPr>
              <a:t>an analyst with </a:t>
            </a:r>
            <a:r>
              <a:rPr lang="en-US" sz="1600" i="1" dirty="0">
                <a:solidFill>
                  <a:schemeClr val="accent1">
                    <a:lumMod val="90000"/>
                  </a:schemeClr>
                </a:solidFill>
              </a:rPr>
              <a:t>ttec services corporation</a:t>
            </a:r>
          </a:p>
        </p:txBody>
      </p:sp>
      <p:sp>
        <p:nvSpPr>
          <p:cNvPr id="19" name="Title 1">
            <a:extLst>
              <a:ext uri="{FF2B5EF4-FFF2-40B4-BE49-F238E27FC236}">
                <a16:creationId xmlns:a16="http://schemas.microsoft.com/office/drawing/2014/main" id="{AA4CC0BA-3F8C-5B25-3C9C-32834C63D2AB}"/>
              </a:ext>
            </a:extLst>
          </p:cNvPr>
          <p:cNvSpPr txBox="1">
            <a:spLocks/>
          </p:cNvSpPr>
          <p:nvPr/>
        </p:nvSpPr>
        <p:spPr>
          <a:xfrm>
            <a:off x="8561570" y="4528609"/>
            <a:ext cx="2370221" cy="165558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t>A business framework for growth</a:t>
            </a:r>
            <a:endParaRPr lang="en-US" sz="11500" dirty="0">
              <a:solidFill>
                <a:srgbClr val="92D050"/>
              </a:solidFill>
            </a:endParaRPr>
          </a:p>
        </p:txBody>
      </p:sp>
      <p:sp>
        <p:nvSpPr>
          <p:cNvPr id="18" name="Title 1">
            <a:extLst>
              <a:ext uri="{FF2B5EF4-FFF2-40B4-BE49-F238E27FC236}">
                <a16:creationId xmlns:a16="http://schemas.microsoft.com/office/drawing/2014/main" id="{49275903-1A91-4998-115D-BD5C16C652CB}"/>
              </a:ext>
            </a:extLst>
          </p:cNvPr>
          <p:cNvSpPr txBox="1">
            <a:spLocks/>
          </p:cNvSpPr>
          <p:nvPr/>
        </p:nvSpPr>
        <p:spPr>
          <a:xfrm>
            <a:off x="264693" y="5334697"/>
            <a:ext cx="8412871" cy="152330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1500" dirty="0">
                <a:solidFill>
                  <a:srgbClr val="FFC000"/>
                </a:solidFill>
              </a:rPr>
              <a:t>Organization</a:t>
            </a:r>
            <a:endParaRPr lang="en-US" sz="11500" dirty="0"/>
          </a:p>
        </p:txBody>
      </p:sp>
      <p:sp>
        <p:nvSpPr>
          <p:cNvPr id="17" name="Title 1">
            <a:extLst>
              <a:ext uri="{FF2B5EF4-FFF2-40B4-BE49-F238E27FC236}">
                <a16:creationId xmlns:a16="http://schemas.microsoft.com/office/drawing/2014/main" id="{5199EB06-3699-2464-2BF4-B699ED7AC05A}"/>
              </a:ext>
            </a:extLst>
          </p:cNvPr>
          <p:cNvSpPr txBox="1">
            <a:spLocks/>
          </p:cNvSpPr>
          <p:nvPr/>
        </p:nvSpPr>
        <p:spPr>
          <a:xfrm>
            <a:off x="264693" y="2802166"/>
            <a:ext cx="7904747" cy="152330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1500" dirty="0">
                <a:solidFill>
                  <a:srgbClr val="92D050"/>
                </a:solidFill>
              </a:rPr>
              <a:t>Resonant</a:t>
            </a:r>
            <a:endParaRPr lang="en-US" sz="11500" dirty="0"/>
          </a:p>
        </p:txBody>
      </p:sp>
    </p:spTree>
    <p:extLst>
      <p:ext uri="{BB962C8B-B14F-4D97-AF65-F5344CB8AC3E}">
        <p14:creationId xmlns:p14="http://schemas.microsoft.com/office/powerpoint/2010/main" val="464858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78AD-8131-E5B3-5E58-9E7727564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B5016-09AF-5AE9-4124-2EC4DC31AB53}"/>
              </a:ext>
            </a:extLst>
          </p:cNvPr>
          <p:cNvSpPr>
            <a:spLocks noGrp="1"/>
          </p:cNvSpPr>
          <p:nvPr>
            <p:ph type="ctrTitle"/>
          </p:nvPr>
        </p:nvSpPr>
        <p:spPr>
          <a:xfrm>
            <a:off x="0" y="0"/>
            <a:ext cx="12192000" cy="1636295"/>
          </a:xfrm>
        </p:spPr>
        <p:txBody>
          <a:bodyPr>
            <a:noAutofit/>
          </a:bodyPr>
          <a:lstStyle/>
          <a:p>
            <a:pPr algn="l"/>
            <a:r>
              <a:rPr lang="en-US" sz="3600" dirty="0">
                <a:solidFill>
                  <a:srgbClr val="92D050"/>
                </a:solidFill>
              </a:rPr>
              <a:t>                                  </a:t>
            </a:r>
            <a:r>
              <a:rPr lang="en-US" sz="11500" dirty="0">
                <a:solidFill>
                  <a:srgbClr val="92D050"/>
                </a:solidFill>
              </a:rPr>
              <a:t>Resonance</a:t>
            </a:r>
          </a:p>
        </p:txBody>
      </p:sp>
      <p:sp>
        <p:nvSpPr>
          <p:cNvPr id="4" name="TextBox 3">
            <a:extLst>
              <a:ext uri="{FF2B5EF4-FFF2-40B4-BE49-F238E27FC236}">
                <a16:creationId xmlns:a16="http://schemas.microsoft.com/office/drawing/2014/main" id="{C2926BA9-C070-B083-D8AF-3D96F0E97B32}"/>
              </a:ext>
            </a:extLst>
          </p:cNvPr>
          <p:cNvSpPr txBox="1"/>
          <p:nvPr/>
        </p:nvSpPr>
        <p:spPr>
          <a:xfrm>
            <a:off x="0" y="2815390"/>
            <a:ext cx="12067674" cy="584775"/>
          </a:xfrm>
          <a:prstGeom prst="rect">
            <a:avLst/>
          </a:prstGeom>
          <a:noFill/>
        </p:spPr>
        <p:txBody>
          <a:bodyPr wrap="square" rtlCol="0">
            <a:spAutoFit/>
          </a:bodyPr>
          <a:lstStyle/>
          <a:p>
            <a:r>
              <a:rPr lang="en-US" sz="2400" dirty="0"/>
              <a:t>When we say something is </a:t>
            </a:r>
            <a:r>
              <a:rPr lang="en-US" sz="3200" dirty="0">
                <a:solidFill>
                  <a:srgbClr val="92D050"/>
                </a:solidFill>
              </a:rPr>
              <a:t>Resonant</a:t>
            </a:r>
            <a:r>
              <a:rPr lang="en-US" sz="3200" dirty="0"/>
              <a:t> </a:t>
            </a:r>
            <a:r>
              <a:rPr lang="en-US" sz="2400" dirty="0"/>
              <a:t>we mean its positions in </a:t>
            </a:r>
            <a:r>
              <a:rPr lang="en-US" sz="3200" dirty="0">
                <a:solidFill>
                  <a:srgbClr val="00B0F0"/>
                </a:solidFill>
              </a:rPr>
              <a:t>Time</a:t>
            </a:r>
            <a:r>
              <a:rPr lang="en-US" sz="3200" dirty="0"/>
              <a:t> </a:t>
            </a:r>
            <a:r>
              <a:rPr lang="en-US" sz="2400" dirty="0"/>
              <a:t>are linked meaningfully.</a:t>
            </a:r>
            <a:endParaRPr lang="en-US" sz="3200" dirty="0"/>
          </a:p>
        </p:txBody>
      </p:sp>
      <p:sp>
        <p:nvSpPr>
          <p:cNvPr id="3" name="TextBox 2">
            <a:extLst>
              <a:ext uri="{FF2B5EF4-FFF2-40B4-BE49-F238E27FC236}">
                <a16:creationId xmlns:a16="http://schemas.microsoft.com/office/drawing/2014/main" id="{69EC7867-C86A-299D-0775-74DCD6BD7147}"/>
              </a:ext>
            </a:extLst>
          </p:cNvPr>
          <p:cNvSpPr txBox="1"/>
          <p:nvPr/>
        </p:nvSpPr>
        <p:spPr>
          <a:xfrm>
            <a:off x="6015" y="4013776"/>
            <a:ext cx="12994496" cy="584775"/>
          </a:xfrm>
          <a:prstGeom prst="rect">
            <a:avLst/>
          </a:prstGeom>
          <a:noFill/>
        </p:spPr>
        <p:txBody>
          <a:bodyPr wrap="square" rtlCol="0">
            <a:spAutoFit/>
          </a:bodyPr>
          <a:lstStyle/>
          <a:p>
            <a:r>
              <a:rPr lang="en-US" sz="2400" dirty="0"/>
              <a:t>It is in a </a:t>
            </a:r>
            <a:r>
              <a:rPr lang="en-US" sz="3200" dirty="0">
                <a:solidFill>
                  <a:srgbClr val="92D050"/>
                </a:solidFill>
              </a:rPr>
              <a:t>Heartbeat</a:t>
            </a:r>
            <a:r>
              <a:rPr lang="en-US" sz="3200" dirty="0"/>
              <a:t>, </a:t>
            </a:r>
            <a:r>
              <a:rPr lang="en-US" sz="2400" dirty="0"/>
              <a:t>where blood pumps because of pressure over </a:t>
            </a:r>
            <a:r>
              <a:rPr lang="en-US" sz="3200" dirty="0">
                <a:solidFill>
                  <a:srgbClr val="00B0F0"/>
                </a:solidFill>
              </a:rPr>
              <a:t>Time</a:t>
            </a:r>
            <a:r>
              <a:rPr lang="en-US" sz="2400" dirty="0"/>
              <a:t>.</a:t>
            </a:r>
            <a:endParaRPr lang="en-US" sz="3200" dirty="0"/>
          </a:p>
        </p:txBody>
      </p:sp>
      <p:sp>
        <p:nvSpPr>
          <p:cNvPr id="6" name="TextBox 5">
            <a:extLst>
              <a:ext uri="{FF2B5EF4-FFF2-40B4-BE49-F238E27FC236}">
                <a16:creationId xmlns:a16="http://schemas.microsoft.com/office/drawing/2014/main" id="{A2A0179A-8E13-56E7-1937-CB5D6EB659DA}"/>
              </a:ext>
            </a:extLst>
          </p:cNvPr>
          <p:cNvSpPr txBox="1"/>
          <p:nvPr/>
        </p:nvSpPr>
        <p:spPr>
          <a:xfrm>
            <a:off x="0" y="5267872"/>
            <a:ext cx="9411164" cy="584775"/>
          </a:xfrm>
          <a:prstGeom prst="rect">
            <a:avLst/>
          </a:prstGeom>
          <a:noFill/>
        </p:spPr>
        <p:txBody>
          <a:bodyPr wrap="square" rtlCol="0">
            <a:spAutoFit/>
          </a:bodyPr>
          <a:lstStyle/>
          <a:p>
            <a:r>
              <a:rPr lang="en-US" sz="2400" dirty="0"/>
              <a:t>It is </a:t>
            </a:r>
            <a:r>
              <a:rPr lang="en-US" sz="3200" dirty="0">
                <a:solidFill>
                  <a:srgbClr val="92D050"/>
                </a:solidFill>
              </a:rPr>
              <a:t>Hitting every green light</a:t>
            </a:r>
            <a:r>
              <a:rPr lang="en-US" sz="3200" dirty="0">
                <a:solidFill>
                  <a:srgbClr val="00B0F0"/>
                </a:solidFill>
              </a:rPr>
              <a:t> on the way to work</a:t>
            </a:r>
            <a:r>
              <a:rPr lang="en-US" sz="2400" dirty="0"/>
              <a:t>. </a:t>
            </a:r>
            <a:endParaRPr lang="en-US" sz="3200" dirty="0"/>
          </a:p>
        </p:txBody>
      </p:sp>
      <p:sp>
        <p:nvSpPr>
          <p:cNvPr id="5" name="Title 1">
            <a:extLst>
              <a:ext uri="{FF2B5EF4-FFF2-40B4-BE49-F238E27FC236}">
                <a16:creationId xmlns:a16="http://schemas.microsoft.com/office/drawing/2014/main" id="{7C5DF93C-B4B7-A153-7B5D-82B8BF4766DB}"/>
              </a:ext>
            </a:extLst>
          </p:cNvPr>
          <p:cNvSpPr txBox="1">
            <a:spLocks/>
          </p:cNvSpPr>
          <p:nvPr/>
        </p:nvSpPr>
        <p:spPr>
          <a:xfrm>
            <a:off x="0" y="519581"/>
            <a:ext cx="4271211" cy="78205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t>This framework all boils down to</a:t>
            </a:r>
            <a:endParaRPr lang="en-US" sz="11500" dirty="0">
              <a:solidFill>
                <a:srgbClr val="92D050"/>
              </a:solidFill>
            </a:endParaRPr>
          </a:p>
        </p:txBody>
      </p:sp>
    </p:spTree>
    <p:extLst>
      <p:ext uri="{BB962C8B-B14F-4D97-AF65-F5344CB8AC3E}">
        <p14:creationId xmlns:p14="http://schemas.microsoft.com/office/powerpoint/2010/main" val="3141302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49B3-3D10-38D9-2E23-9BB9CA687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E3614-EDBC-23C1-5787-403793D5908D}"/>
              </a:ext>
            </a:extLst>
          </p:cNvPr>
          <p:cNvSpPr>
            <a:spLocks noGrp="1"/>
          </p:cNvSpPr>
          <p:nvPr>
            <p:ph type="ctrTitle"/>
          </p:nvPr>
        </p:nvSpPr>
        <p:spPr>
          <a:xfrm>
            <a:off x="0" y="0"/>
            <a:ext cx="12192000" cy="1636295"/>
          </a:xfrm>
        </p:spPr>
        <p:txBody>
          <a:bodyPr>
            <a:noAutofit/>
          </a:bodyPr>
          <a:lstStyle/>
          <a:p>
            <a:pPr algn="l"/>
            <a:r>
              <a:rPr lang="en-US" sz="3600" dirty="0"/>
              <a:t>The </a:t>
            </a:r>
            <a:r>
              <a:rPr lang="en-US" sz="3600" dirty="0">
                <a:solidFill>
                  <a:srgbClr val="92D050"/>
                </a:solidFill>
              </a:rPr>
              <a:t>Resonance</a:t>
            </a:r>
            <a:r>
              <a:rPr lang="en-US" sz="3600" dirty="0"/>
              <a:t> we want is across </a:t>
            </a:r>
            <a:r>
              <a:rPr lang="en-US" sz="11500" dirty="0">
                <a:solidFill>
                  <a:srgbClr val="00B0F0"/>
                </a:solidFill>
              </a:rPr>
              <a:t>Time</a:t>
            </a:r>
          </a:p>
        </p:txBody>
      </p:sp>
      <p:sp>
        <p:nvSpPr>
          <p:cNvPr id="3" name="TextBox 2">
            <a:extLst>
              <a:ext uri="{FF2B5EF4-FFF2-40B4-BE49-F238E27FC236}">
                <a16:creationId xmlns:a16="http://schemas.microsoft.com/office/drawing/2014/main" id="{93F09978-A0E2-2BCA-412E-BD9DDE1E4F25}"/>
              </a:ext>
            </a:extLst>
          </p:cNvPr>
          <p:cNvSpPr txBox="1"/>
          <p:nvPr/>
        </p:nvSpPr>
        <p:spPr>
          <a:xfrm>
            <a:off x="200748" y="3985264"/>
            <a:ext cx="11991252" cy="830997"/>
          </a:xfrm>
          <a:prstGeom prst="rect">
            <a:avLst/>
          </a:prstGeom>
          <a:noFill/>
        </p:spPr>
        <p:txBody>
          <a:bodyPr wrap="square" rtlCol="0">
            <a:spAutoFit/>
          </a:bodyPr>
          <a:lstStyle/>
          <a:p>
            <a:r>
              <a:rPr lang="en-US" sz="2400" dirty="0"/>
              <a:t>In this </a:t>
            </a:r>
            <a:r>
              <a:rPr lang="en-US" sz="2400" dirty="0">
                <a:solidFill>
                  <a:srgbClr val="FFC000"/>
                </a:solidFill>
              </a:rPr>
              <a:t>Organizational Framework</a:t>
            </a:r>
            <a:r>
              <a:rPr lang="en-US" sz="2400" dirty="0"/>
              <a:t> I present a business system that relies on </a:t>
            </a:r>
            <a:r>
              <a:rPr lang="en-US" sz="2400" dirty="0">
                <a:solidFill>
                  <a:srgbClr val="92D050"/>
                </a:solidFill>
              </a:rPr>
              <a:t>Resonance Principles</a:t>
            </a:r>
            <a:r>
              <a:rPr lang="en-US" sz="2400" dirty="0"/>
              <a:t> to provide benefit over </a:t>
            </a:r>
            <a:r>
              <a:rPr lang="en-US" sz="2400" dirty="0">
                <a:solidFill>
                  <a:srgbClr val="00B0F0"/>
                </a:solidFill>
              </a:rPr>
              <a:t>Time</a:t>
            </a:r>
            <a:r>
              <a:rPr lang="en-US" sz="2400" dirty="0"/>
              <a:t> </a:t>
            </a:r>
            <a:endParaRPr lang="en-US" sz="3200" dirty="0"/>
          </a:p>
        </p:txBody>
      </p:sp>
      <p:sp>
        <p:nvSpPr>
          <p:cNvPr id="6" name="TextBox 5">
            <a:extLst>
              <a:ext uri="{FF2B5EF4-FFF2-40B4-BE49-F238E27FC236}">
                <a16:creationId xmlns:a16="http://schemas.microsoft.com/office/drawing/2014/main" id="{6E97B90B-0674-C194-D17D-58B2F4F2B903}"/>
              </a:ext>
            </a:extLst>
          </p:cNvPr>
          <p:cNvSpPr txBox="1"/>
          <p:nvPr/>
        </p:nvSpPr>
        <p:spPr>
          <a:xfrm>
            <a:off x="194733" y="2857091"/>
            <a:ext cx="8684572" cy="830997"/>
          </a:xfrm>
          <a:prstGeom prst="rect">
            <a:avLst/>
          </a:prstGeom>
          <a:noFill/>
        </p:spPr>
        <p:txBody>
          <a:bodyPr wrap="square" rtlCol="0">
            <a:spAutoFit/>
          </a:bodyPr>
          <a:lstStyle/>
          <a:p>
            <a:r>
              <a:rPr lang="en-US" sz="2400" dirty="0"/>
              <a:t>Those </a:t>
            </a:r>
            <a:r>
              <a:rPr lang="en-US" sz="2400" dirty="0">
                <a:solidFill>
                  <a:srgbClr val="92D050"/>
                </a:solidFill>
              </a:rPr>
              <a:t>Resonant Conditions</a:t>
            </a:r>
            <a:r>
              <a:rPr lang="en-US" sz="2400" dirty="0"/>
              <a:t> are created by the </a:t>
            </a:r>
            <a:r>
              <a:rPr lang="en-US" sz="2400" dirty="0">
                <a:solidFill>
                  <a:srgbClr val="FFC000"/>
                </a:solidFill>
              </a:rPr>
              <a:t>Organization</a:t>
            </a:r>
            <a:r>
              <a:rPr lang="en-US" sz="2400" dirty="0"/>
              <a:t> of the green lights in your favor.</a:t>
            </a:r>
            <a:endParaRPr lang="en-US" sz="3200" dirty="0"/>
          </a:p>
        </p:txBody>
      </p:sp>
      <p:sp>
        <p:nvSpPr>
          <p:cNvPr id="7" name="TextBox 6">
            <a:extLst>
              <a:ext uri="{FF2B5EF4-FFF2-40B4-BE49-F238E27FC236}">
                <a16:creationId xmlns:a16="http://schemas.microsoft.com/office/drawing/2014/main" id="{7E7363EB-A532-0E9E-60C5-D08FE1149CC6}"/>
              </a:ext>
            </a:extLst>
          </p:cNvPr>
          <p:cNvSpPr txBox="1"/>
          <p:nvPr/>
        </p:nvSpPr>
        <p:spPr>
          <a:xfrm>
            <a:off x="194733" y="1636295"/>
            <a:ext cx="8516130" cy="830997"/>
          </a:xfrm>
          <a:prstGeom prst="rect">
            <a:avLst/>
          </a:prstGeom>
          <a:noFill/>
        </p:spPr>
        <p:txBody>
          <a:bodyPr wrap="square" rtlCol="0">
            <a:spAutoFit/>
          </a:bodyPr>
          <a:lstStyle/>
          <a:p>
            <a:r>
              <a:rPr lang="en-US" sz="2400" dirty="0"/>
              <a:t>When we </a:t>
            </a:r>
            <a:r>
              <a:rPr lang="en-US" sz="2400" dirty="0">
                <a:solidFill>
                  <a:srgbClr val="92D050"/>
                </a:solidFill>
              </a:rPr>
              <a:t>hit every green light</a:t>
            </a:r>
            <a:r>
              <a:rPr lang="en-US" sz="2400" dirty="0">
                <a:solidFill>
                  <a:srgbClr val="00B0F0"/>
                </a:solidFill>
              </a:rPr>
              <a:t> on the way to work</a:t>
            </a:r>
            <a:r>
              <a:rPr lang="en-US" sz="2400" dirty="0"/>
              <a:t>, our </a:t>
            </a:r>
            <a:r>
              <a:rPr lang="en-US" sz="2400" dirty="0">
                <a:solidFill>
                  <a:srgbClr val="00B0F0"/>
                </a:solidFill>
              </a:rPr>
              <a:t>Time</a:t>
            </a:r>
            <a:r>
              <a:rPr lang="en-US" sz="2400" dirty="0"/>
              <a:t> is efficient because of </a:t>
            </a:r>
            <a:r>
              <a:rPr lang="en-US" sz="2400" dirty="0">
                <a:solidFill>
                  <a:srgbClr val="92D050"/>
                </a:solidFill>
              </a:rPr>
              <a:t>Resonant Conditions</a:t>
            </a:r>
            <a:endParaRPr lang="en-US" sz="3200" dirty="0"/>
          </a:p>
        </p:txBody>
      </p:sp>
    </p:spTree>
    <p:extLst>
      <p:ext uri="{BB962C8B-B14F-4D97-AF65-F5344CB8AC3E}">
        <p14:creationId xmlns:p14="http://schemas.microsoft.com/office/powerpoint/2010/main" val="925136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9C655-DC37-1C9C-CACD-86A450C94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05F682-F299-AE30-86C2-27D2B78FAA4F}"/>
              </a:ext>
            </a:extLst>
          </p:cNvPr>
          <p:cNvSpPr>
            <a:spLocks noGrp="1"/>
          </p:cNvSpPr>
          <p:nvPr>
            <p:ph type="ctrTitle"/>
          </p:nvPr>
        </p:nvSpPr>
        <p:spPr>
          <a:xfrm>
            <a:off x="0" y="0"/>
            <a:ext cx="7904747" cy="1501653"/>
          </a:xfrm>
        </p:spPr>
        <p:txBody>
          <a:bodyPr>
            <a:noAutofit/>
          </a:bodyPr>
          <a:lstStyle/>
          <a:p>
            <a:pPr algn="l"/>
            <a:r>
              <a:rPr lang="en-US" sz="11500" dirty="0">
                <a:solidFill>
                  <a:srgbClr val="00B0F0"/>
                </a:solidFill>
              </a:rPr>
              <a:t>Ag</a:t>
            </a:r>
            <a:r>
              <a:rPr lang="en-US" sz="11500" dirty="0">
                <a:solidFill>
                  <a:srgbClr val="92D050"/>
                </a:solidFill>
              </a:rPr>
              <a:t>en</a:t>
            </a:r>
            <a:r>
              <a:rPr lang="en-US" sz="11500" dirty="0">
                <a:solidFill>
                  <a:srgbClr val="FFC000"/>
                </a:solidFill>
              </a:rPr>
              <a:t>da</a:t>
            </a:r>
          </a:p>
        </p:txBody>
      </p:sp>
      <p:sp>
        <p:nvSpPr>
          <p:cNvPr id="19" name="Title 1">
            <a:extLst>
              <a:ext uri="{FF2B5EF4-FFF2-40B4-BE49-F238E27FC236}">
                <a16:creationId xmlns:a16="http://schemas.microsoft.com/office/drawing/2014/main" id="{CC1C5EFB-FB54-AD23-7874-10FE4F82A0A1}"/>
              </a:ext>
            </a:extLst>
          </p:cNvPr>
          <p:cNvSpPr txBox="1">
            <a:spLocks/>
          </p:cNvSpPr>
          <p:nvPr/>
        </p:nvSpPr>
        <p:spPr>
          <a:xfrm>
            <a:off x="0" y="2451587"/>
            <a:ext cx="5502442" cy="320610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571500" indent="-571500" algn="l">
              <a:lnSpc>
                <a:spcPct val="50000"/>
              </a:lnSpc>
              <a:buFont typeface="Arial" panose="020B0604020202020204" pitchFamily="34" charset="0"/>
              <a:buChar char="•"/>
            </a:pPr>
            <a:r>
              <a:rPr lang="en-US" sz="3600" dirty="0">
                <a:solidFill>
                  <a:srgbClr val="00B0F0"/>
                </a:solidFill>
              </a:rPr>
              <a:t>Math</a:t>
            </a:r>
          </a:p>
          <a:p>
            <a:pPr marL="571500" indent="-571500" algn="l">
              <a:lnSpc>
                <a:spcPct val="50000"/>
              </a:lnSpc>
              <a:buFont typeface="Arial" panose="020B0604020202020204" pitchFamily="34" charset="0"/>
              <a:buChar char="•"/>
            </a:pPr>
            <a:endParaRPr lang="en-US" sz="3600" dirty="0"/>
          </a:p>
          <a:p>
            <a:pPr marL="571500" indent="-571500" algn="l">
              <a:lnSpc>
                <a:spcPct val="50000"/>
              </a:lnSpc>
              <a:buFont typeface="Arial" panose="020B0604020202020204" pitchFamily="34" charset="0"/>
              <a:buChar char="•"/>
            </a:pPr>
            <a:r>
              <a:rPr lang="en-US" sz="3600" dirty="0">
                <a:solidFill>
                  <a:srgbClr val="00B0F0"/>
                </a:solidFill>
              </a:rPr>
              <a:t>Structure</a:t>
            </a:r>
          </a:p>
          <a:p>
            <a:pPr marL="571500" indent="-571500" algn="l">
              <a:lnSpc>
                <a:spcPct val="50000"/>
              </a:lnSpc>
              <a:buFont typeface="Arial" panose="020B0604020202020204" pitchFamily="34" charset="0"/>
              <a:buChar char="•"/>
            </a:pPr>
            <a:endParaRPr lang="en-US" sz="3600" dirty="0">
              <a:solidFill>
                <a:srgbClr val="00B0F0"/>
              </a:solidFill>
            </a:endParaRPr>
          </a:p>
          <a:p>
            <a:pPr marL="571500" indent="-571500" algn="l">
              <a:lnSpc>
                <a:spcPct val="50000"/>
              </a:lnSpc>
              <a:buFont typeface="Arial" panose="020B0604020202020204" pitchFamily="34" charset="0"/>
              <a:buChar char="•"/>
            </a:pPr>
            <a:r>
              <a:rPr lang="en-US" sz="3600" dirty="0">
                <a:solidFill>
                  <a:srgbClr val="92D050"/>
                </a:solidFill>
              </a:rPr>
              <a:t>Metrics</a:t>
            </a:r>
            <a:endParaRPr lang="en-US" sz="3600" dirty="0">
              <a:solidFill>
                <a:srgbClr val="00B0F0"/>
              </a:solidFill>
            </a:endParaRPr>
          </a:p>
          <a:p>
            <a:pPr marL="571500" indent="-571500" algn="l">
              <a:lnSpc>
                <a:spcPct val="50000"/>
              </a:lnSpc>
              <a:buFont typeface="Arial" panose="020B0604020202020204" pitchFamily="34" charset="0"/>
              <a:buChar char="•"/>
            </a:pPr>
            <a:endParaRPr lang="en-US" sz="3600" dirty="0"/>
          </a:p>
          <a:p>
            <a:pPr marL="571500" indent="-571500" algn="l">
              <a:lnSpc>
                <a:spcPct val="50000"/>
              </a:lnSpc>
              <a:buFont typeface="Arial" panose="020B0604020202020204" pitchFamily="34" charset="0"/>
              <a:buChar char="•"/>
            </a:pPr>
            <a:r>
              <a:rPr lang="en-US" sz="3600" dirty="0">
                <a:solidFill>
                  <a:srgbClr val="92D050"/>
                </a:solidFill>
              </a:rPr>
              <a:t>Modules</a:t>
            </a:r>
          </a:p>
          <a:p>
            <a:pPr algn="l">
              <a:lnSpc>
                <a:spcPct val="50000"/>
              </a:lnSpc>
            </a:pPr>
            <a:endParaRPr lang="en-US" sz="3600" dirty="0"/>
          </a:p>
          <a:p>
            <a:pPr marL="571500" indent="-571500" algn="l">
              <a:lnSpc>
                <a:spcPct val="50000"/>
              </a:lnSpc>
              <a:buFont typeface="Arial" panose="020B0604020202020204" pitchFamily="34" charset="0"/>
              <a:buChar char="•"/>
            </a:pPr>
            <a:r>
              <a:rPr lang="en-US" sz="3600" dirty="0">
                <a:solidFill>
                  <a:srgbClr val="FFC000"/>
                </a:solidFill>
              </a:rPr>
              <a:t>Pilot Document</a:t>
            </a:r>
          </a:p>
          <a:p>
            <a:pPr marL="571500" indent="-571500" algn="l">
              <a:lnSpc>
                <a:spcPct val="50000"/>
              </a:lnSpc>
              <a:buFont typeface="Arial" panose="020B0604020202020204" pitchFamily="34" charset="0"/>
              <a:buChar char="•"/>
            </a:pPr>
            <a:endParaRPr lang="en-US" sz="3600" dirty="0"/>
          </a:p>
          <a:p>
            <a:pPr marL="571500" indent="-571500" algn="l">
              <a:lnSpc>
                <a:spcPct val="50000"/>
              </a:lnSpc>
              <a:buFont typeface="Arial" panose="020B0604020202020204" pitchFamily="34" charset="0"/>
              <a:buChar char="•"/>
            </a:pPr>
            <a:r>
              <a:rPr lang="en-US" sz="3600" dirty="0">
                <a:solidFill>
                  <a:srgbClr val="FFC000"/>
                </a:solidFill>
              </a:rPr>
              <a:t>Realistic Example</a:t>
            </a:r>
            <a:endParaRPr lang="en-US" sz="11500" dirty="0">
              <a:solidFill>
                <a:srgbClr val="FFC000"/>
              </a:solidFill>
            </a:endParaRPr>
          </a:p>
        </p:txBody>
      </p:sp>
    </p:spTree>
    <p:extLst>
      <p:ext uri="{BB962C8B-B14F-4D97-AF65-F5344CB8AC3E}">
        <p14:creationId xmlns:p14="http://schemas.microsoft.com/office/powerpoint/2010/main" val="987556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3F235-D2E8-B4CB-8B6B-C08623B0F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D81D5-AAD0-8641-1AFE-BCF1B89D5C87}"/>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Math</a:t>
            </a:r>
          </a:p>
        </p:txBody>
      </p:sp>
      <p:sp>
        <p:nvSpPr>
          <p:cNvPr id="3" name="TextBox 2">
            <a:extLst>
              <a:ext uri="{FF2B5EF4-FFF2-40B4-BE49-F238E27FC236}">
                <a16:creationId xmlns:a16="http://schemas.microsoft.com/office/drawing/2014/main" id="{11A63FF7-0667-5618-5A4B-D931E0F7033D}"/>
              </a:ext>
            </a:extLst>
          </p:cNvPr>
          <p:cNvSpPr txBox="1"/>
          <p:nvPr/>
        </p:nvSpPr>
        <p:spPr>
          <a:xfrm>
            <a:off x="144378" y="2522568"/>
            <a:ext cx="4138863" cy="584775"/>
          </a:xfrm>
          <a:prstGeom prst="rect">
            <a:avLst/>
          </a:prstGeom>
          <a:noFill/>
        </p:spPr>
        <p:txBody>
          <a:bodyPr wrap="square" rtlCol="0">
            <a:spAutoFit/>
          </a:bodyPr>
          <a:lstStyle/>
          <a:p>
            <a:r>
              <a:rPr lang="en-US" sz="3200" dirty="0"/>
              <a:t>Framing Formula</a:t>
            </a:r>
          </a:p>
        </p:txBody>
      </p:sp>
      <p:sp>
        <p:nvSpPr>
          <p:cNvPr id="4" name="TextBox 3">
            <a:extLst>
              <a:ext uri="{FF2B5EF4-FFF2-40B4-BE49-F238E27FC236}">
                <a16:creationId xmlns:a16="http://schemas.microsoft.com/office/drawing/2014/main" id="{BCE4CCAD-6BCF-0296-AD46-ACF131BA372F}"/>
              </a:ext>
            </a:extLst>
          </p:cNvPr>
          <p:cNvSpPr txBox="1"/>
          <p:nvPr/>
        </p:nvSpPr>
        <p:spPr>
          <a:xfrm>
            <a:off x="144378" y="2020961"/>
            <a:ext cx="4668254" cy="584775"/>
          </a:xfrm>
          <a:prstGeom prst="rect">
            <a:avLst/>
          </a:prstGeom>
          <a:noFill/>
        </p:spPr>
        <p:txBody>
          <a:bodyPr wrap="square" rtlCol="0">
            <a:spAutoFit/>
          </a:bodyPr>
          <a:lstStyle/>
          <a:p>
            <a:r>
              <a:rPr lang="en-US" sz="3200" dirty="0"/>
              <a:t>Time Adherence Formula</a:t>
            </a:r>
          </a:p>
        </p:txBody>
      </p:sp>
      <p:sp>
        <p:nvSpPr>
          <p:cNvPr id="5" name="TextBox 4">
            <a:extLst>
              <a:ext uri="{FF2B5EF4-FFF2-40B4-BE49-F238E27FC236}">
                <a16:creationId xmlns:a16="http://schemas.microsoft.com/office/drawing/2014/main" id="{B7A164B4-427C-33AC-30B7-E1BB19AF8B8E}"/>
              </a:ext>
            </a:extLst>
          </p:cNvPr>
          <p:cNvSpPr txBox="1"/>
          <p:nvPr/>
        </p:nvSpPr>
        <p:spPr>
          <a:xfrm>
            <a:off x="144377" y="1570957"/>
            <a:ext cx="4138863" cy="584775"/>
          </a:xfrm>
          <a:prstGeom prst="rect">
            <a:avLst/>
          </a:prstGeom>
          <a:noFill/>
        </p:spPr>
        <p:txBody>
          <a:bodyPr wrap="square" rtlCol="0">
            <a:spAutoFit/>
          </a:bodyPr>
          <a:lstStyle/>
          <a:p>
            <a:r>
              <a:rPr lang="en-US" sz="3200" dirty="0"/>
              <a:t>Resonance Formula</a:t>
            </a:r>
          </a:p>
        </p:txBody>
      </p:sp>
      <p:sp>
        <p:nvSpPr>
          <p:cNvPr id="6" name="TextBox 5">
            <a:extLst>
              <a:ext uri="{FF2B5EF4-FFF2-40B4-BE49-F238E27FC236}">
                <a16:creationId xmlns:a16="http://schemas.microsoft.com/office/drawing/2014/main" id="{35DAEF05-10B8-617A-1EEC-CA51BA1430AA}"/>
              </a:ext>
            </a:extLst>
          </p:cNvPr>
          <p:cNvSpPr txBox="1"/>
          <p:nvPr/>
        </p:nvSpPr>
        <p:spPr>
          <a:xfrm>
            <a:off x="144377" y="5781674"/>
            <a:ext cx="5165558" cy="646331"/>
          </a:xfrm>
          <a:prstGeom prst="rect">
            <a:avLst/>
          </a:prstGeom>
          <a:noFill/>
        </p:spPr>
        <p:txBody>
          <a:bodyPr wrap="square" rtlCol="0">
            <a:spAutoFit/>
          </a:bodyPr>
          <a:lstStyle/>
          <a:p>
            <a:r>
              <a:rPr lang="en-US" dirty="0"/>
              <a:t>We now go through </a:t>
            </a:r>
            <a:r>
              <a:rPr lang="en-US" dirty="0">
                <a:solidFill>
                  <a:srgbClr val="92D050"/>
                </a:solidFill>
              </a:rPr>
              <a:t>Resonance</a:t>
            </a:r>
            <a:r>
              <a:rPr lang="en-US" dirty="0"/>
              <a:t>, </a:t>
            </a:r>
            <a:r>
              <a:rPr lang="en-US" dirty="0">
                <a:solidFill>
                  <a:srgbClr val="00B0F0"/>
                </a:solidFill>
              </a:rPr>
              <a:t>Time Adherence</a:t>
            </a:r>
            <a:r>
              <a:rPr lang="en-US" dirty="0"/>
              <a:t> and </a:t>
            </a:r>
            <a:r>
              <a:rPr lang="en-US" dirty="0">
                <a:solidFill>
                  <a:srgbClr val="EE0000"/>
                </a:solidFill>
              </a:rPr>
              <a:t>Framing</a:t>
            </a:r>
            <a:r>
              <a:rPr lang="en-US" dirty="0"/>
              <a:t> on a mathematical level</a:t>
            </a:r>
          </a:p>
        </p:txBody>
      </p:sp>
    </p:spTree>
    <p:extLst>
      <p:ext uri="{BB962C8B-B14F-4D97-AF65-F5344CB8AC3E}">
        <p14:creationId xmlns:p14="http://schemas.microsoft.com/office/powerpoint/2010/main" val="1485772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B8A7-D5AF-D41A-4A30-F1547E4BF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EEBCE-89D3-AB6E-A863-D9C06B724BAA}"/>
              </a:ext>
            </a:extLst>
          </p:cNvPr>
          <p:cNvSpPr>
            <a:spLocks noGrp="1"/>
          </p:cNvSpPr>
          <p:nvPr>
            <p:ph type="ctrTitle"/>
          </p:nvPr>
        </p:nvSpPr>
        <p:spPr>
          <a:xfrm>
            <a:off x="144378" y="152996"/>
            <a:ext cx="3320717" cy="1501653"/>
          </a:xfrm>
        </p:spPr>
        <p:txBody>
          <a:bodyPr>
            <a:noAutofit/>
          </a:bodyPr>
          <a:lstStyle/>
          <a:p>
            <a:pPr algn="l"/>
            <a:r>
              <a:rPr lang="en-US" sz="11500" dirty="0">
                <a:solidFill>
                  <a:srgbClr val="00B0F0"/>
                </a:solidFill>
              </a:rPr>
              <a:t>Math</a:t>
            </a:r>
          </a:p>
        </p:txBody>
      </p:sp>
      <p:sp>
        <p:nvSpPr>
          <p:cNvPr id="19" name="Title 1">
            <a:extLst>
              <a:ext uri="{FF2B5EF4-FFF2-40B4-BE49-F238E27FC236}">
                <a16:creationId xmlns:a16="http://schemas.microsoft.com/office/drawing/2014/main" id="{F5D1C3B3-7BF9-E8D1-8C71-CC450FFF726F}"/>
              </a:ext>
            </a:extLst>
          </p:cNvPr>
          <p:cNvSpPr txBox="1">
            <a:spLocks/>
          </p:cNvSpPr>
          <p:nvPr/>
        </p:nvSpPr>
        <p:spPr>
          <a:xfrm>
            <a:off x="970547" y="2713428"/>
            <a:ext cx="7138738" cy="3425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t> </a:t>
            </a:r>
            <a:endParaRPr lang="en-US" sz="413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4A6ED49-8FDA-0E9C-9D45-0C55F7541925}"/>
                  </a:ext>
                </a:extLst>
              </p:cNvPr>
              <p:cNvSpPr txBox="1"/>
              <p:nvPr/>
            </p:nvSpPr>
            <p:spPr>
              <a:xfrm>
                <a:off x="312821" y="2485084"/>
                <a:ext cx="3814010" cy="752194"/>
              </a:xfrm>
              <a:prstGeom prst="rect">
                <a:avLst/>
              </a:prstGeom>
              <a:noFill/>
            </p:spPr>
            <p:txBody>
              <a:bodyPr wrap="square" rtlCol="0">
                <a:spAutoFit/>
              </a:bodyPr>
              <a:lstStyle/>
              <a:p>
                <a14:m>
                  <m:oMath xmlns:m="http://schemas.openxmlformats.org/officeDocument/2006/math">
                    <m:sSub>
                      <m:sSubPr>
                        <m:ctrlPr>
                          <a:rPr lang="en-US" i="1" smtClean="0">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𝑋</m:t>
                        </m:r>
                      </m:e>
                      <m:sub>
                        <m:r>
                          <m:rPr>
                            <m:nor/>
                          </m:rPr>
                          <a:rPr lang="en-US" dirty="0">
                            <a:solidFill>
                              <a:srgbClr val="92D050"/>
                            </a:solidFill>
                          </a:rPr>
                          <m:t>n</m:t>
                        </m:r>
                      </m:sub>
                    </m:sSub>
                    <m:r>
                      <a:rPr lang="en-US" i="1" dirty="0">
                        <a:solidFill>
                          <a:srgbClr val="92D050"/>
                        </a:solidFill>
                        <a:latin typeface="Cambria Math" panose="02040503050406030204" pitchFamily="18" charset="0"/>
                      </a:rPr>
                      <m:t> </m:t>
                    </m:r>
                  </m:oMath>
                </a14:m>
                <a:r>
                  <a:rPr lang="en-US" dirty="0"/>
                  <a:t>= </a:t>
                </a:r>
                <a14:m>
                  <m:oMath xmlns:m="http://schemas.openxmlformats.org/officeDocument/2006/math">
                    <m:sSup>
                      <m:sSupPr>
                        <m:ctrlPr>
                          <a:rPr lang="en-US" i="1">
                            <a:latin typeface="Cambria Math" panose="02040503050406030204" pitchFamily="18" charset="0"/>
                          </a:rPr>
                        </m:ctrlPr>
                      </m:sSupPr>
                      <m:e>
                        <m:r>
                          <m:rPr>
                            <m:nor/>
                          </m:rPr>
                          <a:rPr lang="en-US" dirty="0"/>
                          <m:t>(​</m:t>
                        </m:r>
                        <m:sSub>
                          <m:sSubPr>
                            <m:ctrlPr>
                              <a:rPr lang="en-US" i="1" smtClean="0">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𝑀</m:t>
                            </m:r>
                          </m:e>
                          <m:sub>
                            <m:r>
                              <m:rPr>
                                <m:nor/>
                              </m:rPr>
                              <a:rPr lang="en-US" dirty="0">
                                <a:solidFill>
                                  <a:srgbClr val="FFC000"/>
                                </a:solidFill>
                              </a:rPr>
                              <m:t>0</m:t>
                            </m:r>
                          </m:sub>
                        </m:sSub>
                        <m:r>
                          <m:rPr>
                            <m:nor/>
                          </m:rPr>
                          <a:rPr lang="en-US" dirty="0"/>
                          <m:t>⋅</m:t>
                        </m:r>
                        <m:sSup>
                          <m:sSupPr>
                            <m:ctrlPr>
                              <a:rPr lang="en-US" i="1" dirty="0" smtClean="0">
                                <a:solidFill>
                                  <a:srgbClr val="FF66FF"/>
                                </a:solidFill>
                                <a:latin typeface="Cambria Math" panose="02040503050406030204" pitchFamily="18" charset="0"/>
                              </a:rPr>
                            </m:ctrlPr>
                          </m:sSupPr>
                          <m:e>
                            <m:r>
                              <a:rPr lang="en-US" i="1" dirty="0">
                                <a:solidFill>
                                  <a:srgbClr val="FF66FF"/>
                                </a:solidFill>
                                <a:latin typeface="Cambria Math" panose="02040503050406030204" pitchFamily="18" charset="0"/>
                              </a:rPr>
                              <m:t>(0.9927)</m:t>
                            </m:r>
                          </m:e>
                          <m:sup>
                            <m:r>
                              <a:rPr lang="en-US" i="1" dirty="0">
                                <a:solidFill>
                                  <a:srgbClr val="FF66FF"/>
                                </a:solidFill>
                                <a:latin typeface="Cambria Math" panose="02040503050406030204" pitchFamily="18" charset="0"/>
                              </a:rPr>
                              <m:t>𝑛</m:t>
                            </m:r>
                          </m:sup>
                        </m:sSup>
                        <m:r>
                          <m:rPr>
                            <m:nor/>
                          </m:rPr>
                          <a:rPr lang="en-US" dirty="0"/>
                          <m:t>⋅</m:t>
                        </m:r>
                        <m:r>
                          <m:rPr>
                            <m:nor/>
                          </m:rPr>
                          <a:rPr lang="en-US" dirty="0" smtClean="0">
                            <a:solidFill>
                              <a:srgbClr val="FF3300"/>
                            </a:solidFill>
                          </a:rPr>
                          <m:t>k</m:t>
                        </m:r>
                        <m:r>
                          <m:rPr>
                            <m:nor/>
                          </m:rPr>
                          <a:rPr lang="en-US" dirty="0"/>
                          <m:t>)</m:t>
                        </m:r>
                      </m:e>
                      <m:sup>
                        <m:r>
                          <m:rPr>
                            <m:nor/>
                          </m:rPr>
                          <a:rPr lang="en-US" dirty="0"/>
                          <m:t>−1/</m:t>
                        </m:r>
                        <m:r>
                          <m:rPr>
                            <m:nor/>
                          </m:rPr>
                          <a:rPr lang="el-GR" dirty="0" smtClean="0">
                            <a:solidFill>
                              <a:srgbClr val="FFFF00"/>
                            </a:solidFill>
                          </a:rPr>
                          <m:t>α</m:t>
                        </m:r>
                      </m:sup>
                    </m:sSup>
                    <m:r>
                      <a:rPr lang="el-GR" i="1" dirty="0">
                        <a:latin typeface="Cambria Math" panose="02040503050406030204" pitchFamily="18" charset="0"/>
                      </a:rPr>
                      <m:t> </m:t>
                    </m:r>
                  </m:oMath>
                </a14:m>
                <a:r>
                  <a:rPr lang="el-GR" sz="1800" dirty="0"/>
                  <a:t>⋅</a:t>
                </a:r>
                <a14:m>
                  <m:oMath xmlns:m="http://schemas.openxmlformats.org/officeDocument/2006/math">
                    <m:f>
                      <m:fPr>
                        <m:ctrlPr>
                          <a:rPr lang="en-US" sz="1800" i="1" smtClean="0">
                            <a:solidFill>
                              <a:srgbClr val="00CCFF"/>
                            </a:solidFill>
                            <a:latin typeface="Cambria Math" panose="02040503050406030204" pitchFamily="18" charset="0"/>
                          </a:rPr>
                        </m:ctrlPr>
                      </m:fPr>
                      <m:num>
                        <m:r>
                          <m:rPr>
                            <m:nor/>
                          </m:rPr>
                          <a:rPr lang="en-US" sz="1800" dirty="0">
                            <a:solidFill>
                              <a:srgbClr val="00CCFF"/>
                            </a:solidFill>
                          </a:rPr>
                          <m:t>sin</m:t>
                        </m:r>
                        <m:r>
                          <m:rPr>
                            <m:nor/>
                          </m:rPr>
                          <a:rPr lang="en-US" sz="1800" dirty="0">
                            <a:solidFill>
                              <a:srgbClr val="00CCFF"/>
                            </a:solidFill>
                          </a:rPr>
                          <m:t>(</m:t>
                        </m:r>
                        <m:f>
                          <m:fPr>
                            <m:ctrlPr>
                              <a:rPr lang="en-US" sz="1800" i="1">
                                <a:solidFill>
                                  <a:srgbClr val="00CCFF"/>
                                </a:solidFill>
                                <a:latin typeface="Cambria Math" panose="02040503050406030204" pitchFamily="18" charset="0"/>
                              </a:rPr>
                            </m:ctrlPr>
                          </m:fPr>
                          <m:num>
                            <m:r>
                              <m:rPr>
                                <m:nor/>
                              </m:rPr>
                              <a:rPr lang="el-GR" sz="1800" dirty="0">
                                <a:solidFill>
                                  <a:srgbClr val="00CCFF"/>
                                </a:solidFill>
                              </a:rPr>
                              <m:t>π</m:t>
                            </m:r>
                            <m:sSub>
                              <m:sSubPr>
                                <m:ctrlPr>
                                  <a:rPr lang="en-US" sz="1800" i="1">
                                    <a:solidFill>
                                      <a:srgbClr val="00CCFF"/>
                                    </a:solidFill>
                                    <a:latin typeface="Cambria Math" panose="02040503050406030204" pitchFamily="18" charset="0"/>
                                  </a:rPr>
                                </m:ctrlPr>
                              </m:sSubPr>
                              <m:e>
                                <m:r>
                                  <a:rPr lang="en-US" sz="1800" i="1">
                                    <a:solidFill>
                                      <a:srgbClr val="00CCFF"/>
                                    </a:solidFill>
                                    <a:latin typeface="Cambria Math" panose="02040503050406030204" pitchFamily="18" charset="0"/>
                                  </a:rPr>
                                  <m:t>𝑟</m:t>
                                </m:r>
                              </m:e>
                              <m:sub>
                                <m:r>
                                  <m:rPr>
                                    <m:nor/>
                                  </m:rPr>
                                  <a:rPr lang="en-US" sz="1800" dirty="0">
                                    <a:solidFill>
                                      <a:srgbClr val="00CCFF"/>
                                    </a:solidFill>
                                  </a:rPr>
                                  <m:t>n</m:t>
                                </m:r>
                              </m:sub>
                            </m:sSub>
                          </m:num>
                          <m:den>
                            <m:sSub>
                              <m:sSubPr>
                                <m:ctrlPr>
                                  <a:rPr lang="en-US" sz="1800" i="1">
                                    <a:solidFill>
                                      <a:srgbClr val="00CCFF"/>
                                    </a:solidFill>
                                    <a:latin typeface="Cambria Math" panose="02040503050406030204" pitchFamily="18" charset="0"/>
                                  </a:rPr>
                                </m:ctrlPr>
                              </m:sSubPr>
                              <m:e>
                                <m:r>
                                  <a:rPr lang="en-US" sz="1800" i="1">
                                    <a:solidFill>
                                      <a:srgbClr val="00CCFF"/>
                                    </a:solidFill>
                                    <a:latin typeface="Cambria Math" panose="02040503050406030204" pitchFamily="18" charset="0"/>
                                  </a:rPr>
                                  <m:t>𝑟</m:t>
                                </m:r>
                              </m:e>
                              <m:sub>
                                <m:r>
                                  <m:rPr>
                                    <m:nor/>
                                  </m:rPr>
                                  <a:rPr lang="en-US" sz="1800" dirty="0">
                                    <a:solidFill>
                                      <a:srgbClr val="00CCFF"/>
                                    </a:solidFill>
                                  </a:rPr>
                                  <m:t>0</m:t>
                                </m:r>
                              </m:sub>
                            </m:sSub>
                          </m:den>
                        </m:f>
                        <m:r>
                          <m:rPr>
                            <m:nor/>
                          </m:rPr>
                          <a:rPr lang="en-US" sz="1800" dirty="0">
                            <a:solidFill>
                              <a:srgbClr val="00CCFF"/>
                            </a:solidFill>
                          </a:rPr>
                          <m:t>​)</m:t>
                        </m:r>
                      </m:num>
                      <m:den>
                        <m:r>
                          <m:rPr>
                            <m:nor/>
                          </m:rPr>
                          <a:rPr lang="el-GR" sz="1800" dirty="0">
                            <a:solidFill>
                              <a:srgbClr val="00CCFF"/>
                            </a:solidFill>
                          </a:rPr>
                          <m:t>π</m:t>
                        </m:r>
                      </m:den>
                    </m:f>
                  </m:oMath>
                </a14:m>
                <a:r>
                  <a:rPr lang="en-US" sz="1800" dirty="0"/>
                  <a:t>​</a:t>
                </a:r>
                <a:endParaRPr lang="en-US" dirty="0"/>
              </a:p>
            </p:txBody>
          </p:sp>
        </mc:Choice>
        <mc:Fallback xmlns="">
          <p:sp>
            <p:nvSpPr>
              <p:cNvPr id="5" name="TextBox 4">
                <a:extLst>
                  <a:ext uri="{FF2B5EF4-FFF2-40B4-BE49-F238E27FC236}">
                    <a16:creationId xmlns:a16="http://schemas.microsoft.com/office/drawing/2014/main" id="{F4A6ED49-8FDA-0E9C-9D45-0C55F7541925}"/>
                  </a:ext>
                </a:extLst>
              </p:cNvPr>
              <p:cNvSpPr txBox="1">
                <a:spLocks noRot="1" noChangeAspect="1" noMove="1" noResize="1" noEditPoints="1" noAdjustHandles="1" noChangeArrowheads="1" noChangeShapeType="1" noTextEdit="1"/>
              </p:cNvSpPr>
              <p:nvPr/>
            </p:nvSpPr>
            <p:spPr>
              <a:xfrm>
                <a:off x="312821" y="2485084"/>
                <a:ext cx="3814010" cy="752194"/>
              </a:xfrm>
              <a:prstGeom prst="rect">
                <a:avLst/>
              </a:prstGeom>
              <a:blipFill>
                <a:blip r:embed="rId2"/>
                <a:stretch>
                  <a:fillRect b="-40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2605ED3-A381-02AE-F462-27B3B4A40847}"/>
                  </a:ext>
                </a:extLst>
              </p:cNvPr>
              <p:cNvSpPr txBox="1"/>
              <p:nvPr/>
            </p:nvSpPr>
            <p:spPr>
              <a:xfrm>
                <a:off x="312821" y="3234543"/>
                <a:ext cx="381401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𝑊h𝑎𝑡</m:t>
                    </m:r>
                    <m:r>
                      <a:rPr lang="en-US" b="0" i="1" smtClean="0">
                        <a:latin typeface="Cambria Math" panose="02040503050406030204" pitchFamily="18" charset="0"/>
                      </a:rPr>
                      <m:t> </m:t>
                    </m:r>
                    <m:r>
                      <a:rPr lang="en-US" b="0" i="1" smtClean="0">
                        <a:latin typeface="Cambria Math" panose="02040503050406030204" pitchFamily="18" charset="0"/>
                      </a:rPr>
                      <m:t>𝑤𝑒</m:t>
                    </m:r>
                    <m:r>
                      <a:rPr lang="en-US" b="0" i="1" smtClean="0">
                        <a:latin typeface="Cambria Math" panose="02040503050406030204" pitchFamily="18" charset="0"/>
                      </a:rPr>
                      <m:t> </m:t>
                    </m:r>
                    <m:r>
                      <a:rPr lang="en-US" b="0" i="1" smtClean="0">
                        <a:latin typeface="Cambria Math" panose="02040503050406030204" pitchFamily="18" charset="0"/>
                      </a:rPr>
                      <m:t>𝑤𝑎𝑛𝑡</m:t>
                    </m:r>
                    <m:r>
                      <a:rPr lang="en-US" i="1" dirty="0">
                        <a:latin typeface="Cambria Math" panose="02040503050406030204" pitchFamily="18" charset="0"/>
                      </a:rPr>
                      <m:t> </m:t>
                    </m:r>
                  </m:oMath>
                </a14:m>
                <a:r>
                  <a:rPr lang="en-US" dirty="0"/>
                  <a:t>= </a:t>
                </a:r>
                <a14:m>
                  <m:oMath xmlns:m="http://schemas.openxmlformats.org/officeDocument/2006/math">
                    <m:r>
                      <a:rPr lang="en-US" b="0" i="1" smtClean="0">
                        <a:latin typeface="Cambria Math" panose="02040503050406030204" pitchFamily="18" charset="0"/>
                      </a:rPr>
                      <m:t>𝐻𝑜𝑤</m:t>
                    </m:r>
                    <m:r>
                      <a:rPr lang="en-US" b="0" i="1" smtClean="0">
                        <a:latin typeface="Cambria Math" panose="02040503050406030204" pitchFamily="18" charset="0"/>
                      </a:rPr>
                      <m:t> </m:t>
                    </m:r>
                    <m:r>
                      <a:rPr lang="en-US" b="0" i="1" smtClean="0">
                        <a:latin typeface="Cambria Math" panose="02040503050406030204" pitchFamily="18" charset="0"/>
                      </a:rPr>
                      <m:t>𝑤𝑒</m:t>
                    </m:r>
                    <m:r>
                      <a:rPr lang="en-US" b="0" i="1" smtClean="0">
                        <a:latin typeface="Cambria Math" panose="02040503050406030204" pitchFamily="18" charset="0"/>
                      </a:rPr>
                      <m:t> </m:t>
                    </m:r>
                    <m:r>
                      <a:rPr lang="en-US" b="0" i="1" smtClean="0">
                        <a:latin typeface="Cambria Math" panose="02040503050406030204" pitchFamily="18" charset="0"/>
                      </a:rPr>
                      <m:t>𝑔𝑒𝑡</m:t>
                    </m:r>
                    <m:r>
                      <a:rPr lang="en-US" b="0" i="1" smtClean="0">
                        <a:latin typeface="Cambria Math" panose="02040503050406030204" pitchFamily="18" charset="0"/>
                      </a:rPr>
                      <m:t> </m:t>
                    </m:r>
                    <m:r>
                      <a:rPr lang="en-US" b="0" i="1" smtClean="0">
                        <a:latin typeface="Cambria Math" panose="02040503050406030204" pitchFamily="18" charset="0"/>
                      </a:rPr>
                      <m:t>𝑖𝑡</m:t>
                    </m:r>
                  </m:oMath>
                </a14:m>
                <a:endParaRPr lang="en-US" dirty="0"/>
              </a:p>
            </p:txBody>
          </p:sp>
        </mc:Choice>
        <mc:Fallback xmlns="">
          <p:sp>
            <p:nvSpPr>
              <p:cNvPr id="8" name="TextBox 7">
                <a:extLst>
                  <a:ext uri="{FF2B5EF4-FFF2-40B4-BE49-F238E27FC236}">
                    <a16:creationId xmlns:a16="http://schemas.microsoft.com/office/drawing/2014/main" id="{22605ED3-A381-02AE-F462-27B3B4A40847}"/>
                  </a:ext>
                </a:extLst>
              </p:cNvPr>
              <p:cNvSpPr txBox="1">
                <a:spLocks noRot="1" noChangeAspect="1" noMove="1" noResize="1" noEditPoints="1" noAdjustHandles="1" noChangeArrowheads="1" noChangeShapeType="1" noTextEdit="1"/>
              </p:cNvSpPr>
              <p:nvPr/>
            </p:nvSpPr>
            <p:spPr>
              <a:xfrm>
                <a:off x="312821" y="3234543"/>
                <a:ext cx="3814010" cy="369332"/>
              </a:xfrm>
              <a:prstGeom prst="rect">
                <a:avLst/>
              </a:prstGeom>
              <a:blipFill>
                <a:blip r:embed="rId3"/>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BBBF8D8-DC3B-82AC-2284-70BF9A19C535}"/>
                  </a:ext>
                </a:extLst>
              </p:cNvPr>
              <p:cNvSpPr txBox="1"/>
              <p:nvPr/>
            </p:nvSpPr>
            <p:spPr>
              <a:xfrm>
                <a:off x="312821" y="3773730"/>
                <a:ext cx="4138863" cy="369332"/>
              </a:xfrm>
              <a:prstGeom prst="rect">
                <a:avLst/>
              </a:prstGeom>
              <a:noFill/>
            </p:spPr>
            <p:txBody>
              <a:bodyPr wrap="square" rtlCol="0">
                <a:spAutoFit/>
              </a:bodyPr>
              <a:lstStyle/>
              <a:p>
                <a14:m>
                  <m:oMath xmlns:m="http://schemas.openxmlformats.org/officeDocument/2006/math">
                    <m:sSub>
                      <m:sSubPr>
                        <m:ctrlPr>
                          <a:rPr lang="en-US" i="1" smtClean="0">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𝑋</m:t>
                        </m:r>
                      </m:e>
                      <m:sub>
                        <m:r>
                          <m:rPr>
                            <m:nor/>
                          </m:rPr>
                          <a:rPr lang="en-US" dirty="0">
                            <a:solidFill>
                              <a:srgbClr val="92D050"/>
                            </a:solidFill>
                          </a:rPr>
                          <m:t>n</m:t>
                        </m:r>
                      </m:sub>
                    </m:sSub>
                  </m:oMath>
                </a14:m>
                <a:r>
                  <a:rPr lang="en-US" dirty="0">
                    <a:solidFill>
                      <a:srgbClr val="92D050"/>
                    </a:solidFill>
                  </a:rPr>
                  <a:t> </a:t>
                </a:r>
                <a:r>
                  <a:rPr lang="en-US" dirty="0"/>
                  <a:t>is </a:t>
                </a:r>
                <a:r>
                  <a:rPr lang="en-US" dirty="0">
                    <a:solidFill>
                      <a:srgbClr val="92D050"/>
                    </a:solidFill>
                  </a:rPr>
                  <a:t>Resonance</a:t>
                </a:r>
                <a:r>
                  <a:rPr lang="en-US" dirty="0"/>
                  <a:t>, what we want to be high</a:t>
                </a:r>
              </a:p>
            </p:txBody>
          </p:sp>
        </mc:Choice>
        <mc:Fallback xmlns="">
          <p:sp>
            <p:nvSpPr>
              <p:cNvPr id="10" name="TextBox 9">
                <a:extLst>
                  <a:ext uri="{FF2B5EF4-FFF2-40B4-BE49-F238E27FC236}">
                    <a16:creationId xmlns:a16="http://schemas.microsoft.com/office/drawing/2014/main" id="{BBBBF8D8-DC3B-82AC-2284-70BF9A19C535}"/>
                  </a:ext>
                </a:extLst>
              </p:cNvPr>
              <p:cNvSpPr txBox="1">
                <a:spLocks noRot="1" noChangeAspect="1" noMove="1" noResize="1" noEditPoints="1" noAdjustHandles="1" noChangeArrowheads="1" noChangeShapeType="1" noTextEdit="1"/>
              </p:cNvSpPr>
              <p:nvPr/>
            </p:nvSpPr>
            <p:spPr>
              <a:xfrm>
                <a:off x="312821" y="3773730"/>
                <a:ext cx="4138863" cy="369332"/>
              </a:xfrm>
              <a:prstGeom prst="rect">
                <a:avLst/>
              </a:prstGeom>
              <a:blipFill>
                <a:blip r:embed="rId4"/>
                <a:stretch>
                  <a:fillRect t="-8197" r="-295"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F8C68CE-9AC1-60E8-F487-581F4E242E33}"/>
                  </a:ext>
                </a:extLst>
              </p:cNvPr>
              <p:cNvSpPr txBox="1"/>
              <p:nvPr/>
            </p:nvSpPr>
            <p:spPr>
              <a:xfrm>
                <a:off x="312821" y="4183479"/>
                <a:ext cx="3814010" cy="387094"/>
              </a:xfrm>
              <a:prstGeom prst="rect">
                <a:avLst/>
              </a:prstGeom>
              <a:noFill/>
            </p:spPr>
            <p:txBody>
              <a:bodyPr wrap="square" rtlCol="0">
                <a:spAutoFit/>
              </a:bodyPr>
              <a:lstStyle/>
              <a:p>
                <a14:m>
                  <m:oMath xmlns:m="http://schemas.openxmlformats.org/officeDocument/2006/math">
                    <m:sSub>
                      <m:sSubPr>
                        <m:ctrlPr>
                          <a:rPr lang="en-US" i="1" smtClean="0">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𝑀</m:t>
                        </m:r>
                      </m:e>
                      <m:sub>
                        <m:r>
                          <m:rPr>
                            <m:nor/>
                          </m:rPr>
                          <a:rPr lang="en-US" dirty="0">
                            <a:solidFill>
                              <a:srgbClr val="FFC000"/>
                            </a:solidFill>
                          </a:rPr>
                          <m:t>0</m:t>
                        </m:r>
                      </m:sub>
                    </m:sSub>
                    <m:r>
                      <a:rPr lang="en-US" i="1" dirty="0">
                        <a:solidFill>
                          <a:srgbClr val="FFC000"/>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the initial team “mass” or size​</a:t>
                </a:r>
                <a:endParaRPr lang="en-US" dirty="0"/>
              </a:p>
            </p:txBody>
          </p:sp>
        </mc:Choice>
        <mc:Fallback xmlns="">
          <p:sp>
            <p:nvSpPr>
              <p:cNvPr id="11" name="TextBox 10">
                <a:extLst>
                  <a:ext uri="{FF2B5EF4-FFF2-40B4-BE49-F238E27FC236}">
                    <a16:creationId xmlns:a16="http://schemas.microsoft.com/office/drawing/2014/main" id="{DF8C68CE-9AC1-60E8-F487-581F4E242E33}"/>
                  </a:ext>
                </a:extLst>
              </p:cNvPr>
              <p:cNvSpPr txBox="1">
                <a:spLocks noRot="1" noChangeAspect="1" noMove="1" noResize="1" noEditPoints="1" noAdjustHandles="1" noChangeArrowheads="1" noChangeShapeType="1" noTextEdit="1"/>
              </p:cNvSpPr>
              <p:nvPr/>
            </p:nvSpPr>
            <p:spPr>
              <a:xfrm>
                <a:off x="312821" y="4183479"/>
                <a:ext cx="3814010" cy="387094"/>
              </a:xfrm>
              <a:prstGeom prst="rect">
                <a:avLst/>
              </a:prstGeom>
              <a:blipFill>
                <a:blip r:embed="rId5"/>
                <a:stretch>
                  <a:fillRect t="-7813" b="-187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E5FEAAA-D16F-95BB-1C92-D418841750AE}"/>
                  </a:ext>
                </a:extLst>
              </p:cNvPr>
              <p:cNvSpPr txBox="1"/>
              <p:nvPr/>
            </p:nvSpPr>
            <p:spPr>
              <a:xfrm>
                <a:off x="312821" y="4610990"/>
                <a:ext cx="6460958" cy="369332"/>
              </a:xfrm>
              <a:prstGeom prst="rect">
                <a:avLst/>
              </a:prstGeom>
              <a:noFill/>
            </p:spPr>
            <p:txBody>
              <a:bodyPr wrap="square" rtlCol="0">
                <a:spAutoFit/>
              </a:bodyPr>
              <a:lstStyle/>
              <a:p>
                <a14:m>
                  <m:oMath xmlns:m="http://schemas.openxmlformats.org/officeDocument/2006/math">
                    <m:sSup>
                      <m:sSupPr>
                        <m:ctrlPr>
                          <a:rPr lang="en-US" i="1" dirty="0" smtClean="0">
                            <a:solidFill>
                              <a:srgbClr val="FF66FF"/>
                            </a:solidFill>
                            <a:latin typeface="Cambria Math" panose="02040503050406030204" pitchFamily="18" charset="0"/>
                          </a:rPr>
                        </m:ctrlPr>
                      </m:sSupPr>
                      <m:e>
                        <m:r>
                          <a:rPr lang="en-US" i="1" dirty="0">
                            <a:solidFill>
                              <a:srgbClr val="FF66FF"/>
                            </a:solidFill>
                            <a:latin typeface="Cambria Math" panose="02040503050406030204" pitchFamily="18" charset="0"/>
                          </a:rPr>
                          <m:t>(0.9927)</m:t>
                        </m:r>
                      </m:e>
                      <m:sup>
                        <m:r>
                          <a:rPr lang="en-US" i="1" dirty="0">
                            <a:solidFill>
                              <a:srgbClr val="FF66FF"/>
                            </a:solidFill>
                            <a:latin typeface="Cambria Math" panose="02040503050406030204" pitchFamily="18" charset="0"/>
                          </a:rPr>
                          <m:t>𝑛</m:t>
                        </m:r>
                      </m:sup>
                    </m:sSup>
                    <m:r>
                      <a:rPr lang="en-US" b="0" i="0" dirty="0" smtClean="0">
                        <a:solidFill>
                          <a:srgbClr val="FF66FF"/>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t>a resonance decay factor found in fractal systems</a:t>
                </a:r>
                <a:r>
                  <a:rPr lang="en-US" sz="1800" dirty="0"/>
                  <a:t>​</a:t>
                </a:r>
                <a:endParaRPr lang="en-US" dirty="0"/>
              </a:p>
            </p:txBody>
          </p:sp>
        </mc:Choice>
        <mc:Fallback xmlns="">
          <p:sp>
            <p:nvSpPr>
              <p:cNvPr id="12" name="TextBox 11">
                <a:extLst>
                  <a:ext uri="{FF2B5EF4-FFF2-40B4-BE49-F238E27FC236}">
                    <a16:creationId xmlns:a16="http://schemas.microsoft.com/office/drawing/2014/main" id="{DE5FEAAA-D16F-95BB-1C92-D418841750AE}"/>
                  </a:ext>
                </a:extLst>
              </p:cNvPr>
              <p:cNvSpPr txBox="1">
                <a:spLocks noRot="1" noChangeAspect="1" noMove="1" noResize="1" noEditPoints="1" noAdjustHandles="1" noChangeArrowheads="1" noChangeShapeType="1" noTextEdit="1"/>
              </p:cNvSpPr>
              <p:nvPr/>
            </p:nvSpPr>
            <p:spPr>
              <a:xfrm>
                <a:off x="312821" y="4610990"/>
                <a:ext cx="6460958" cy="369332"/>
              </a:xfrm>
              <a:prstGeom prst="rect">
                <a:avLst/>
              </a:prstGeom>
              <a:blipFill>
                <a:blip r:embed="rId6"/>
                <a:stretch>
                  <a:fillRect l="-283"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4EDA53D-D9BB-3E7E-44B4-B36A8316EF83}"/>
                  </a:ext>
                </a:extLst>
              </p:cNvPr>
              <p:cNvSpPr txBox="1"/>
              <p:nvPr/>
            </p:nvSpPr>
            <p:spPr>
              <a:xfrm>
                <a:off x="312821" y="5020739"/>
                <a:ext cx="6460958" cy="369332"/>
              </a:xfrm>
              <a:prstGeom prst="rect">
                <a:avLst/>
              </a:prstGeom>
              <a:noFill/>
            </p:spPr>
            <p:txBody>
              <a:bodyPr wrap="square" rtlCol="0">
                <a:spAutoFit/>
              </a:bodyPr>
              <a:lstStyle/>
              <a:p>
                <a14:m>
                  <m:oMath xmlns:m="http://schemas.openxmlformats.org/officeDocument/2006/math">
                    <m:r>
                      <m:rPr>
                        <m:nor/>
                      </m:rPr>
                      <a:rPr lang="en-US" dirty="0" smtClean="0">
                        <a:solidFill>
                          <a:srgbClr val="FF3300"/>
                        </a:solidFill>
                      </a:rPr>
                      <m:t>k</m:t>
                    </m:r>
                    <m:r>
                      <a:rPr lang="en-US" b="0" i="0" dirty="0" smtClean="0">
                        <a:solidFill>
                          <a:srgbClr val="FF3300"/>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t>an alignment constant that represents how “tuned in” a team is</a:t>
                </a:r>
                <a:r>
                  <a:rPr lang="en-US" sz="1800" dirty="0"/>
                  <a:t>​</a:t>
                </a:r>
                <a:endParaRPr lang="en-US" dirty="0"/>
              </a:p>
            </p:txBody>
          </p:sp>
        </mc:Choice>
        <mc:Fallback xmlns="">
          <p:sp>
            <p:nvSpPr>
              <p:cNvPr id="17" name="TextBox 16">
                <a:extLst>
                  <a:ext uri="{FF2B5EF4-FFF2-40B4-BE49-F238E27FC236}">
                    <a16:creationId xmlns:a16="http://schemas.microsoft.com/office/drawing/2014/main" id="{F4EDA53D-D9BB-3E7E-44B4-B36A8316EF83}"/>
                  </a:ext>
                </a:extLst>
              </p:cNvPr>
              <p:cNvSpPr txBox="1">
                <a:spLocks noRot="1" noChangeAspect="1" noMove="1" noResize="1" noEditPoints="1" noAdjustHandles="1" noChangeArrowheads="1" noChangeShapeType="1" noTextEdit="1"/>
              </p:cNvSpPr>
              <p:nvPr/>
            </p:nvSpPr>
            <p:spPr>
              <a:xfrm>
                <a:off x="312821" y="5020739"/>
                <a:ext cx="6460958" cy="369332"/>
              </a:xfrm>
              <a:prstGeom prst="rect">
                <a:avLst/>
              </a:prstGeom>
              <a:blipFill>
                <a:blip r:embed="rId7"/>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F921D5E-3AE3-61AB-CE1D-DF21CC2E55FE}"/>
                  </a:ext>
                </a:extLst>
              </p:cNvPr>
              <p:cNvSpPr txBox="1"/>
              <p:nvPr/>
            </p:nvSpPr>
            <p:spPr>
              <a:xfrm>
                <a:off x="312821" y="5430488"/>
                <a:ext cx="6460958" cy="369332"/>
              </a:xfrm>
              <a:prstGeom prst="rect">
                <a:avLst/>
              </a:prstGeom>
              <a:noFill/>
            </p:spPr>
            <p:txBody>
              <a:bodyPr wrap="square" rtlCol="0">
                <a:spAutoFit/>
              </a:bodyPr>
              <a:lstStyle/>
              <a:p>
                <a14:m>
                  <m:oMath xmlns:m="http://schemas.openxmlformats.org/officeDocument/2006/math">
                    <m:r>
                      <m:rPr>
                        <m:nor/>
                      </m:rPr>
                      <a:rPr lang="el-GR" dirty="0" smtClean="0">
                        <a:solidFill>
                          <a:srgbClr val="FFFF00"/>
                        </a:solidFill>
                      </a:rPr>
                      <m:t>α</m:t>
                    </m:r>
                    <m:r>
                      <a:rPr lang="en-US" b="0" i="0" dirty="0" smtClean="0">
                        <a:solidFill>
                          <a:srgbClr val="FFFF00"/>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t>a scaling factor that represents a team’s flexibility</a:t>
                </a:r>
                <a:r>
                  <a:rPr lang="en-US" sz="1800" dirty="0"/>
                  <a:t>​</a:t>
                </a:r>
                <a:endParaRPr lang="en-US" dirty="0"/>
              </a:p>
            </p:txBody>
          </p:sp>
        </mc:Choice>
        <mc:Fallback xmlns="">
          <p:sp>
            <p:nvSpPr>
              <p:cNvPr id="18" name="TextBox 17">
                <a:extLst>
                  <a:ext uri="{FF2B5EF4-FFF2-40B4-BE49-F238E27FC236}">
                    <a16:creationId xmlns:a16="http://schemas.microsoft.com/office/drawing/2014/main" id="{9F921D5E-3AE3-61AB-CE1D-DF21CC2E55FE}"/>
                  </a:ext>
                </a:extLst>
              </p:cNvPr>
              <p:cNvSpPr txBox="1">
                <a:spLocks noRot="1" noChangeAspect="1" noMove="1" noResize="1" noEditPoints="1" noAdjustHandles="1" noChangeArrowheads="1" noChangeShapeType="1" noTextEdit="1"/>
              </p:cNvSpPr>
              <p:nvPr/>
            </p:nvSpPr>
            <p:spPr>
              <a:xfrm>
                <a:off x="312821" y="5430488"/>
                <a:ext cx="6460958" cy="369332"/>
              </a:xfrm>
              <a:prstGeom prst="rect">
                <a:avLst/>
              </a:prstGeom>
              <a:blipFill>
                <a:blip r:embed="rId8"/>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B007107-69E6-4EED-BEEE-0DB2B16AAF95}"/>
                  </a:ext>
                </a:extLst>
              </p:cNvPr>
              <p:cNvSpPr txBox="1"/>
              <p:nvPr/>
            </p:nvSpPr>
            <p:spPr>
              <a:xfrm>
                <a:off x="312820" y="5840237"/>
                <a:ext cx="9757611" cy="752194"/>
              </a:xfrm>
              <a:prstGeom prst="rect">
                <a:avLst/>
              </a:prstGeom>
              <a:noFill/>
            </p:spPr>
            <p:txBody>
              <a:bodyPr wrap="square" rtlCol="0">
                <a:spAutoFit/>
              </a:bodyPr>
              <a:lstStyle/>
              <a:p>
                <a14:m>
                  <m:oMath xmlns:m="http://schemas.openxmlformats.org/officeDocument/2006/math">
                    <m:f>
                      <m:fPr>
                        <m:ctrlPr>
                          <a:rPr lang="en-US" i="1">
                            <a:solidFill>
                              <a:srgbClr val="00CCFF"/>
                            </a:solidFill>
                            <a:latin typeface="Cambria Math" panose="02040503050406030204" pitchFamily="18" charset="0"/>
                          </a:rPr>
                        </m:ctrlPr>
                      </m:fPr>
                      <m:num>
                        <m:r>
                          <m:rPr>
                            <m:nor/>
                          </m:rPr>
                          <a:rPr lang="en-US" dirty="0">
                            <a:solidFill>
                              <a:srgbClr val="00CCFF"/>
                            </a:solidFill>
                          </a:rPr>
                          <m:t>sin</m:t>
                        </m:r>
                        <m:r>
                          <m:rPr>
                            <m:nor/>
                          </m:rPr>
                          <a:rPr lang="en-US" dirty="0">
                            <a:solidFill>
                              <a:srgbClr val="00CCFF"/>
                            </a:solidFill>
                          </a:rPr>
                          <m:t>(</m:t>
                        </m:r>
                        <m:f>
                          <m:fPr>
                            <m:ctrlPr>
                              <a:rPr lang="en-US" i="1">
                                <a:solidFill>
                                  <a:srgbClr val="00CCFF"/>
                                </a:solidFill>
                                <a:latin typeface="Cambria Math" panose="02040503050406030204" pitchFamily="18" charset="0"/>
                              </a:rPr>
                            </m:ctrlPr>
                          </m:fPr>
                          <m:num>
                            <m:r>
                              <m:rPr>
                                <m:nor/>
                              </m:rPr>
                              <a:rPr lang="el-GR" dirty="0">
                                <a:solidFill>
                                  <a:srgbClr val="00CCFF"/>
                                </a:solidFill>
                              </a:rPr>
                              <m:t>π</m:t>
                            </m:r>
                            <m:sSub>
                              <m:sSubPr>
                                <m:ctrlPr>
                                  <a:rPr lang="en-US" i="1">
                                    <a:solidFill>
                                      <a:srgbClr val="00CCFF"/>
                                    </a:solidFill>
                                    <a:latin typeface="Cambria Math" panose="02040503050406030204" pitchFamily="18" charset="0"/>
                                  </a:rPr>
                                </m:ctrlPr>
                              </m:sSubPr>
                              <m:e>
                                <m:r>
                                  <a:rPr lang="en-US" i="1">
                                    <a:solidFill>
                                      <a:srgbClr val="00CCFF"/>
                                    </a:solidFill>
                                    <a:latin typeface="Cambria Math" panose="02040503050406030204" pitchFamily="18" charset="0"/>
                                  </a:rPr>
                                  <m:t>𝑟</m:t>
                                </m:r>
                              </m:e>
                              <m:sub>
                                <m:r>
                                  <m:rPr>
                                    <m:nor/>
                                  </m:rPr>
                                  <a:rPr lang="en-US" dirty="0">
                                    <a:solidFill>
                                      <a:srgbClr val="00CCFF"/>
                                    </a:solidFill>
                                  </a:rPr>
                                  <m:t>n</m:t>
                                </m:r>
                              </m:sub>
                            </m:sSub>
                          </m:num>
                          <m:den>
                            <m:sSub>
                              <m:sSubPr>
                                <m:ctrlPr>
                                  <a:rPr lang="en-US" i="1">
                                    <a:solidFill>
                                      <a:srgbClr val="00CCFF"/>
                                    </a:solidFill>
                                    <a:latin typeface="Cambria Math" panose="02040503050406030204" pitchFamily="18" charset="0"/>
                                  </a:rPr>
                                </m:ctrlPr>
                              </m:sSubPr>
                              <m:e>
                                <m:r>
                                  <a:rPr lang="en-US" i="1">
                                    <a:solidFill>
                                      <a:srgbClr val="00CCFF"/>
                                    </a:solidFill>
                                    <a:latin typeface="Cambria Math" panose="02040503050406030204" pitchFamily="18" charset="0"/>
                                  </a:rPr>
                                  <m:t>𝑟</m:t>
                                </m:r>
                              </m:e>
                              <m:sub>
                                <m:r>
                                  <m:rPr>
                                    <m:nor/>
                                  </m:rPr>
                                  <a:rPr lang="en-US" dirty="0">
                                    <a:solidFill>
                                      <a:srgbClr val="00CCFF"/>
                                    </a:solidFill>
                                  </a:rPr>
                                  <m:t>0</m:t>
                                </m:r>
                              </m:sub>
                            </m:sSub>
                          </m:den>
                        </m:f>
                        <m:r>
                          <m:rPr>
                            <m:nor/>
                          </m:rPr>
                          <a:rPr lang="en-US" dirty="0">
                            <a:solidFill>
                              <a:srgbClr val="00CCFF"/>
                            </a:solidFill>
                          </a:rPr>
                          <m:t>​)</m:t>
                        </m:r>
                      </m:num>
                      <m:den>
                        <m:r>
                          <m:rPr>
                            <m:nor/>
                          </m:rPr>
                          <a:rPr lang="el-GR" dirty="0">
                            <a:solidFill>
                              <a:srgbClr val="00CCFF"/>
                            </a:solidFill>
                          </a:rPr>
                          <m:t>π</m:t>
                        </m:r>
                      </m:den>
                    </m:f>
                    <m:r>
                      <m:rPr>
                        <m:sty m:val="p"/>
                      </m:rPr>
                      <a:rPr lang="en-US" b="0" i="0" dirty="0" smtClean="0">
                        <a:latin typeface="Cambria Math" panose="02040503050406030204" pitchFamily="18" charset="0"/>
                      </a:rPr>
                      <m:t>i</m:t>
                    </m:r>
                  </m:oMath>
                </a14:m>
                <a:r>
                  <a:rPr lang="en-US" sz="1800" dirty="0"/>
                  <a:t>s </a:t>
                </a:r>
                <a:r>
                  <a:rPr lang="en-US" dirty="0"/>
                  <a:t>a sine term to capture the nature of the business ups and downs to model against a cycle</a:t>
                </a:r>
                <a:r>
                  <a:rPr lang="en-US" sz="1800" dirty="0"/>
                  <a:t>​</a:t>
                </a:r>
                <a:endParaRPr lang="en-US" dirty="0"/>
              </a:p>
            </p:txBody>
          </p:sp>
        </mc:Choice>
        <mc:Fallback xmlns="">
          <p:sp>
            <p:nvSpPr>
              <p:cNvPr id="20" name="TextBox 19">
                <a:extLst>
                  <a:ext uri="{FF2B5EF4-FFF2-40B4-BE49-F238E27FC236}">
                    <a16:creationId xmlns:a16="http://schemas.microsoft.com/office/drawing/2014/main" id="{EB007107-69E6-4EED-BEEE-0DB2B16AAF95}"/>
                  </a:ext>
                </a:extLst>
              </p:cNvPr>
              <p:cNvSpPr txBox="1">
                <a:spLocks noRot="1" noChangeAspect="1" noMove="1" noResize="1" noEditPoints="1" noAdjustHandles="1" noChangeArrowheads="1" noChangeShapeType="1" noTextEdit="1"/>
              </p:cNvSpPr>
              <p:nvPr/>
            </p:nvSpPr>
            <p:spPr>
              <a:xfrm>
                <a:off x="312820" y="5840237"/>
                <a:ext cx="9757611" cy="752194"/>
              </a:xfrm>
              <a:prstGeom prst="rect">
                <a:avLst/>
              </a:prstGeom>
              <a:blipFill>
                <a:blip r:embed="rId9"/>
                <a:stretch>
                  <a:fillRect b="-4065"/>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40538E98-F954-D675-DE14-48098BBF37F9}"/>
              </a:ext>
            </a:extLst>
          </p:cNvPr>
          <p:cNvSpPr txBox="1"/>
          <p:nvPr/>
        </p:nvSpPr>
        <p:spPr>
          <a:xfrm>
            <a:off x="7026442" y="152996"/>
            <a:ext cx="5165558" cy="2031325"/>
          </a:xfrm>
          <a:prstGeom prst="rect">
            <a:avLst/>
          </a:prstGeom>
          <a:noFill/>
        </p:spPr>
        <p:txBody>
          <a:bodyPr wrap="square" rtlCol="0">
            <a:spAutoFit/>
          </a:bodyPr>
          <a:lstStyle/>
          <a:p>
            <a:r>
              <a:rPr lang="en-US" b="1" dirty="0"/>
              <a:t>Why 0.9927?</a:t>
            </a:r>
            <a:br>
              <a:rPr lang="en-US" dirty="0"/>
            </a:br>
            <a:r>
              <a:rPr lang="en-US" dirty="0"/>
              <a:t>In fractal systems, not all steps are equal. Through modeling, we found that 0.9927 reflects the </a:t>
            </a:r>
            <a:r>
              <a:rPr lang="en-US" b="1" dirty="0"/>
              <a:t>optimal decay factor</a:t>
            </a:r>
            <a:r>
              <a:rPr lang="en-US" dirty="0"/>
              <a:t> — the amount of signal or performance naturally preserved as you move from core strength to outer teams. It’s the “cost of distance” in a resonant org.</a:t>
            </a:r>
          </a:p>
        </p:txBody>
      </p:sp>
      <p:sp>
        <p:nvSpPr>
          <p:cNvPr id="22" name="TextBox 21">
            <a:extLst>
              <a:ext uri="{FF2B5EF4-FFF2-40B4-BE49-F238E27FC236}">
                <a16:creationId xmlns:a16="http://schemas.microsoft.com/office/drawing/2014/main" id="{1EF4E452-4E33-C6A7-BA9C-CC77029C8CD3}"/>
              </a:ext>
            </a:extLst>
          </p:cNvPr>
          <p:cNvSpPr txBox="1"/>
          <p:nvPr/>
        </p:nvSpPr>
        <p:spPr>
          <a:xfrm>
            <a:off x="7026442" y="2184321"/>
            <a:ext cx="5165558" cy="1200329"/>
          </a:xfrm>
          <a:prstGeom prst="rect">
            <a:avLst/>
          </a:prstGeom>
          <a:noFill/>
        </p:spPr>
        <p:txBody>
          <a:bodyPr wrap="square" rtlCol="0">
            <a:spAutoFit/>
          </a:bodyPr>
          <a:lstStyle/>
          <a:p>
            <a:r>
              <a:rPr lang="en-US" dirty="0"/>
              <a:t>This constant models how much energy we can optimally preserve when expanding in a fractal system, how much each step outwards from our best team our worst is likely to be and much more!</a:t>
            </a:r>
          </a:p>
        </p:txBody>
      </p:sp>
      <p:sp>
        <p:nvSpPr>
          <p:cNvPr id="23" name="TextBox 22">
            <a:extLst>
              <a:ext uri="{FF2B5EF4-FFF2-40B4-BE49-F238E27FC236}">
                <a16:creationId xmlns:a16="http://schemas.microsoft.com/office/drawing/2014/main" id="{1B4D3C64-9B40-0BA5-47CF-D589A4FBD1F8}"/>
              </a:ext>
            </a:extLst>
          </p:cNvPr>
          <p:cNvSpPr txBox="1"/>
          <p:nvPr/>
        </p:nvSpPr>
        <p:spPr>
          <a:xfrm>
            <a:off x="150394" y="1436186"/>
            <a:ext cx="6214311" cy="1077218"/>
          </a:xfrm>
          <a:prstGeom prst="rect">
            <a:avLst/>
          </a:prstGeom>
          <a:noFill/>
        </p:spPr>
        <p:txBody>
          <a:bodyPr wrap="square" rtlCol="0">
            <a:spAutoFit/>
          </a:bodyPr>
          <a:lstStyle/>
          <a:p>
            <a:r>
              <a:rPr lang="en-US" sz="3200" dirty="0"/>
              <a:t>Resonance Formula: Predicting Team Performance Cycles</a:t>
            </a:r>
          </a:p>
        </p:txBody>
      </p:sp>
    </p:spTree>
    <p:extLst>
      <p:ext uri="{BB962C8B-B14F-4D97-AF65-F5344CB8AC3E}">
        <p14:creationId xmlns:p14="http://schemas.microsoft.com/office/powerpoint/2010/main" val="1747331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B4FE8-D415-D845-F2A6-9A701C22F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821D2-02CB-B3A6-F42C-342CE5270F7B}"/>
              </a:ext>
            </a:extLst>
          </p:cNvPr>
          <p:cNvSpPr>
            <a:spLocks noGrp="1"/>
          </p:cNvSpPr>
          <p:nvPr>
            <p:ph type="ctrTitle"/>
          </p:nvPr>
        </p:nvSpPr>
        <p:spPr>
          <a:xfrm>
            <a:off x="144378" y="152996"/>
            <a:ext cx="3320717" cy="1501653"/>
          </a:xfrm>
        </p:spPr>
        <p:txBody>
          <a:bodyPr>
            <a:noAutofit/>
          </a:bodyPr>
          <a:lstStyle/>
          <a:p>
            <a:pPr algn="l"/>
            <a:r>
              <a:rPr lang="en-US" sz="11500" dirty="0">
                <a:solidFill>
                  <a:srgbClr val="00B0F0"/>
                </a:solidFill>
              </a:rPr>
              <a:t>Math</a:t>
            </a:r>
          </a:p>
        </p:txBody>
      </p:sp>
      <p:sp>
        <p:nvSpPr>
          <p:cNvPr id="19" name="Title 1">
            <a:extLst>
              <a:ext uri="{FF2B5EF4-FFF2-40B4-BE49-F238E27FC236}">
                <a16:creationId xmlns:a16="http://schemas.microsoft.com/office/drawing/2014/main" id="{20990A4B-794A-E03C-C44C-5D42BA1A3099}"/>
              </a:ext>
            </a:extLst>
          </p:cNvPr>
          <p:cNvSpPr txBox="1">
            <a:spLocks/>
          </p:cNvSpPr>
          <p:nvPr/>
        </p:nvSpPr>
        <p:spPr>
          <a:xfrm>
            <a:off x="970547" y="2713428"/>
            <a:ext cx="7138738" cy="34259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t> </a:t>
            </a:r>
            <a:endParaRPr lang="en-US" sz="413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838779-4C32-AADC-9E81-E9929F9D2CAB}"/>
                  </a:ext>
                </a:extLst>
              </p:cNvPr>
              <p:cNvSpPr txBox="1"/>
              <p:nvPr/>
            </p:nvSpPr>
            <p:spPr>
              <a:xfrm>
                <a:off x="162424" y="2640636"/>
                <a:ext cx="4692316" cy="759888"/>
              </a:xfrm>
              <a:prstGeom prst="rect">
                <a:avLst/>
              </a:prstGeom>
              <a:noFill/>
            </p:spPr>
            <p:txBody>
              <a:bodyPr wrap="square" rtlCol="0">
                <a:spAutoFit/>
              </a:bodyPr>
              <a:lstStyle/>
              <a:p>
                <a:r>
                  <a:rPr lang="fr-FR" dirty="0">
                    <a:solidFill>
                      <a:srgbClr val="00B0F0"/>
                    </a:solidFill>
                  </a:rPr>
                  <a:t>T(a)</a:t>
                </a:r>
                <a:r>
                  <a:rPr lang="fr-FR" dirty="0"/>
                  <a:t> = </a:t>
                </a:r>
                <a14:m>
                  <m:oMath xmlns:m="http://schemas.openxmlformats.org/officeDocument/2006/math">
                    <m:f>
                      <m:fPr>
                        <m:ctrlPr>
                          <a:rPr lang="fr-FR" i="1" dirty="0" smtClean="0">
                            <a:latin typeface="Cambria Math" panose="02040503050406030204" pitchFamily="18" charset="0"/>
                          </a:rPr>
                        </m:ctrlPr>
                      </m:fPr>
                      <m:num>
                        <m:sSub>
                          <m:sSubPr>
                            <m:ctrlPr>
                              <a:rPr lang="fr-FR" i="1" smtClean="0">
                                <a:solidFill>
                                  <a:srgbClr val="FF3300"/>
                                </a:solidFill>
                                <a:latin typeface="Cambria Math" panose="02040503050406030204" pitchFamily="18" charset="0"/>
                                <a:ea typeface="Cambria Math" panose="02040503050406030204" pitchFamily="18" charset="0"/>
                              </a:rPr>
                            </m:ctrlPr>
                          </m:sSubPr>
                          <m:e>
                            <m:r>
                              <a:rPr lang="fr-FR" i="1">
                                <a:solidFill>
                                  <a:srgbClr val="FF3300"/>
                                </a:solidFill>
                                <a:latin typeface="Cambria Math" panose="02040503050406030204" pitchFamily="18" charset="0"/>
                                <a:ea typeface="Cambria Math" panose="02040503050406030204" pitchFamily="18" charset="0"/>
                              </a:rPr>
                              <m:t>∫</m:t>
                            </m:r>
                          </m:e>
                          <m:sub>
                            <m:r>
                              <a:rPr lang="en-US" i="1">
                                <a:solidFill>
                                  <a:srgbClr val="FF3300"/>
                                </a:solidFill>
                                <a:latin typeface="Cambria Math" panose="02040503050406030204" pitchFamily="18" charset="0"/>
                                <a:ea typeface="Cambria Math" panose="02040503050406030204" pitchFamily="18" charset="0"/>
                              </a:rPr>
                              <m:t>𝑉</m:t>
                            </m:r>
                          </m:sub>
                        </m:sSub>
                        <m:r>
                          <m:rPr>
                            <m:nor/>
                          </m:rPr>
                          <a:rPr lang="fr-FR" dirty="0">
                            <a:solidFill>
                              <a:srgbClr val="FF3300"/>
                            </a:solidFill>
                          </a:rPr>
                          <m:t> </m:t>
                        </m:r>
                        <m:sSup>
                          <m:sSupPr>
                            <m:ctrlPr>
                              <a:rPr lang="fr-FR" i="1">
                                <a:latin typeface="Cambria Math" panose="02040503050406030204" pitchFamily="18" charset="0"/>
                              </a:rPr>
                            </m:ctrlPr>
                          </m:sSupPr>
                          <m:e>
                            <m:r>
                              <m:rPr>
                                <m:nor/>
                              </m:rPr>
                              <a:rPr lang="fr-FR" dirty="0" smtClean="0">
                                <a:solidFill>
                                  <a:srgbClr val="92D050"/>
                                </a:solidFill>
                              </a:rPr>
                              <m:t>ρ</m:t>
                            </m:r>
                            <m:r>
                              <m:rPr>
                                <m:nor/>
                              </m:rPr>
                              <a:rPr lang="fr-FR" dirty="0" smtClean="0">
                                <a:solidFill>
                                  <a:srgbClr val="92D050"/>
                                </a:solidFill>
                              </a:rPr>
                              <m:t>(</m:t>
                            </m:r>
                            <m:r>
                              <m:rPr>
                                <m:nor/>
                              </m:rPr>
                              <a:rPr lang="fr-FR" dirty="0" smtClean="0">
                                <a:solidFill>
                                  <a:srgbClr val="92D050"/>
                                </a:solidFill>
                              </a:rPr>
                              <m:t>x</m:t>
                            </m:r>
                            <m:r>
                              <m:rPr>
                                <m:nor/>
                              </m:rPr>
                              <a:rPr lang="fr-FR" dirty="0" smtClean="0">
                                <a:solidFill>
                                  <a:srgbClr val="92D050"/>
                                </a:solidFill>
                              </a:rPr>
                              <m:t>,</m:t>
                            </m:r>
                            <m:r>
                              <m:rPr>
                                <m:nor/>
                              </m:rPr>
                              <a:rPr lang="fr-FR" dirty="0" smtClean="0">
                                <a:solidFill>
                                  <a:srgbClr val="92D050"/>
                                </a:solidFill>
                              </a:rPr>
                              <m:t>t</m:t>
                            </m:r>
                            <m:r>
                              <m:rPr>
                                <m:nor/>
                              </m:rPr>
                              <a:rPr lang="fr-FR" dirty="0" smtClean="0">
                                <a:solidFill>
                                  <a:srgbClr val="92D050"/>
                                </a:solidFill>
                              </a:rPr>
                              <m:t>)</m:t>
                            </m:r>
                            <m:r>
                              <m:rPr>
                                <m:nor/>
                              </m:rPr>
                              <a:rPr lang="fr-FR" dirty="0" smtClean="0">
                                <a:solidFill>
                                  <a:srgbClr val="FF66FF"/>
                                </a:solidFill>
                              </a:rPr>
                              <m:t>e</m:t>
                            </m:r>
                          </m:e>
                          <m:sup>
                            <m:r>
                              <m:rPr>
                                <m:nor/>
                              </m:rPr>
                              <a:rPr lang="fr-FR" dirty="0" smtClean="0">
                                <a:solidFill>
                                  <a:srgbClr val="FFFF00"/>
                                </a:solidFill>
                              </a:rPr>
                              <m:t>−</m:t>
                            </m:r>
                            <m:r>
                              <m:rPr>
                                <m:nor/>
                              </m:rPr>
                              <a:rPr lang="fr-FR" dirty="0" smtClean="0">
                                <a:solidFill>
                                  <a:srgbClr val="FFFF00"/>
                                </a:solidFill>
                              </a:rPr>
                              <m:t>S</m:t>
                            </m:r>
                            <m:r>
                              <m:rPr>
                                <m:nor/>
                              </m:rPr>
                              <a:rPr lang="fr-FR" dirty="0" smtClean="0">
                                <a:solidFill>
                                  <a:srgbClr val="FFFF00"/>
                                </a:solidFill>
                              </a:rPr>
                              <m:t>(</m:t>
                            </m:r>
                            <m:r>
                              <m:rPr>
                                <m:nor/>
                              </m:rPr>
                              <a:rPr lang="fr-FR" dirty="0" smtClean="0">
                                <a:solidFill>
                                  <a:srgbClr val="FFFF00"/>
                                </a:solidFill>
                              </a:rPr>
                              <m:t>x</m:t>
                            </m:r>
                            <m:r>
                              <m:rPr>
                                <m:nor/>
                              </m:rPr>
                              <a:rPr lang="fr-FR" dirty="0" smtClean="0">
                                <a:solidFill>
                                  <a:srgbClr val="FFFF00"/>
                                </a:solidFill>
                              </a:rPr>
                              <m:t>,</m:t>
                            </m:r>
                            <m:r>
                              <m:rPr>
                                <m:nor/>
                              </m:rPr>
                              <a:rPr lang="fr-FR" dirty="0" smtClean="0">
                                <a:solidFill>
                                  <a:srgbClr val="FFFF00"/>
                                </a:solidFill>
                              </a:rPr>
                              <m:t>t</m:t>
                            </m:r>
                            <m:r>
                              <m:rPr>
                                <m:nor/>
                              </m:rPr>
                              <a:rPr lang="fr-FR" dirty="0" smtClean="0">
                                <a:solidFill>
                                  <a:srgbClr val="FFFF00"/>
                                </a:solidFill>
                              </a:rPr>
                              <m:t>)</m:t>
                            </m:r>
                            <m:r>
                              <m:rPr>
                                <m:nor/>
                              </m:rPr>
                              <a:rPr lang="en-US" b="0" i="0" dirty="0" smtClean="0"/>
                              <m:t> </m:t>
                            </m:r>
                          </m:sup>
                        </m:sSup>
                        <m:r>
                          <m:rPr>
                            <m:nor/>
                          </m:rPr>
                          <a:rPr lang="fr-FR" dirty="0" smtClean="0">
                            <a:solidFill>
                              <a:srgbClr val="FF3300"/>
                            </a:solidFill>
                          </a:rPr>
                          <m:t>dV</m:t>
                        </m:r>
                      </m:num>
                      <m:den>
                        <m:sSub>
                          <m:sSubPr>
                            <m:ctrlPr>
                              <a:rPr lang="fr-FR" i="1" smtClean="0">
                                <a:solidFill>
                                  <a:srgbClr val="FF3300"/>
                                </a:solidFill>
                                <a:latin typeface="Cambria Math" panose="02040503050406030204" pitchFamily="18" charset="0"/>
                                <a:ea typeface="Cambria Math" panose="02040503050406030204" pitchFamily="18" charset="0"/>
                              </a:rPr>
                            </m:ctrlPr>
                          </m:sSubPr>
                          <m:e>
                            <m:r>
                              <a:rPr lang="fr-FR" i="1">
                                <a:solidFill>
                                  <a:srgbClr val="FF3300"/>
                                </a:solidFill>
                                <a:latin typeface="Cambria Math" panose="02040503050406030204" pitchFamily="18" charset="0"/>
                                <a:ea typeface="Cambria Math" panose="02040503050406030204" pitchFamily="18" charset="0"/>
                              </a:rPr>
                              <m:t>∫</m:t>
                            </m:r>
                          </m:e>
                          <m:sub>
                            <m:r>
                              <a:rPr lang="en-US" i="1">
                                <a:solidFill>
                                  <a:srgbClr val="FF3300"/>
                                </a:solidFill>
                                <a:latin typeface="Cambria Math" panose="02040503050406030204" pitchFamily="18" charset="0"/>
                                <a:ea typeface="Cambria Math" panose="02040503050406030204" pitchFamily="18" charset="0"/>
                              </a:rPr>
                              <m:t>𝑉</m:t>
                            </m:r>
                          </m:sub>
                        </m:sSub>
                        <m:r>
                          <m:rPr>
                            <m:nor/>
                          </m:rPr>
                          <a:rPr lang="fr-FR" dirty="0">
                            <a:solidFill>
                              <a:srgbClr val="FF3300"/>
                            </a:solidFill>
                          </a:rPr>
                          <m:t> </m:t>
                        </m:r>
                        <m:sSup>
                          <m:sSupPr>
                            <m:ctrlPr>
                              <a:rPr lang="fr-FR" i="1">
                                <a:latin typeface="Cambria Math" panose="02040503050406030204" pitchFamily="18" charset="0"/>
                              </a:rPr>
                            </m:ctrlPr>
                          </m:sSupPr>
                          <m:e>
                            <m:r>
                              <m:rPr>
                                <m:nor/>
                              </m:rPr>
                              <a:rPr lang="fr-FR" dirty="0" smtClean="0">
                                <a:solidFill>
                                  <a:srgbClr val="FF66FF"/>
                                </a:solidFill>
                              </a:rPr>
                              <m:t>e</m:t>
                            </m:r>
                          </m:e>
                          <m:sup>
                            <m:r>
                              <m:rPr>
                                <m:nor/>
                              </m:rPr>
                              <a:rPr lang="fr-FR" dirty="0" smtClean="0">
                                <a:solidFill>
                                  <a:srgbClr val="FFFF00"/>
                                </a:solidFill>
                              </a:rPr>
                              <m:t>−</m:t>
                            </m:r>
                            <m:r>
                              <m:rPr>
                                <m:nor/>
                              </m:rPr>
                              <a:rPr lang="fr-FR" dirty="0" smtClean="0">
                                <a:solidFill>
                                  <a:srgbClr val="FFFF00"/>
                                </a:solidFill>
                              </a:rPr>
                              <m:t>S</m:t>
                            </m:r>
                            <m:r>
                              <m:rPr>
                                <m:nor/>
                              </m:rPr>
                              <a:rPr lang="fr-FR" dirty="0" smtClean="0">
                                <a:solidFill>
                                  <a:srgbClr val="FFFF00"/>
                                </a:solidFill>
                              </a:rPr>
                              <m:t>(</m:t>
                            </m:r>
                            <m:r>
                              <m:rPr>
                                <m:nor/>
                              </m:rPr>
                              <a:rPr lang="fr-FR" dirty="0" smtClean="0">
                                <a:solidFill>
                                  <a:srgbClr val="FFFF00"/>
                                </a:solidFill>
                              </a:rPr>
                              <m:t>x</m:t>
                            </m:r>
                            <m:r>
                              <m:rPr>
                                <m:nor/>
                              </m:rPr>
                              <a:rPr lang="fr-FR" dirty="0" smtClean="0">
                                <a:solidFill>
                                  <a:srgbClr val="FFFF00"/>
                                </a:solidFill>
                              </a:rPr>
                              <m:t>,</m:t>
                            </m:r>
                            <m:r>
                              <m:rPr>
                                <m:nor/>
                              </m:rPr>
                              <a:rPr lang="fr-FR" dirty="0" smtClean="0">
                                <a:solidFill>
                                  <a:srgbClr val="FFFF00"/>
                                </a:solidFill>
                              </a:rPr>
                              <m:t>t</m:t>
                            </m:r>
                            <m:r>
                              <m:rPr>
                                <m:nor/>
                              </m:rPr>
                              <a:rPr lang="fr-FR" dirty="0" smtClean="0">
                                <a:solidFill>
                                  <a:srgbClr val="FFFF00"/>
                                </a:solidFill>
                              </a:rPr>
                              <m:t>)</m:t>
                            </m:r>
                          </m:sup>
                        </m:sSup>
                        <m:r>
                          <m:rPr>
                            <m:nor/>
                          </m:rPr>
                          <a:rPr lang="fr-FR" dirty="0"/>
                          <m:t> </m:t>
                        </m:r>
                        <m:r>
                          <m:rPr>
                            <m:nor/>
                          </m:rPr>
                          <a:rPr lang="fr-FR" dirty="0" smtClean="0">
                            <a:solidFill>
                              <a:srgbClr val="FF3300"/>
                            </a:solidFill>
                          </a:rPr>
                          <m:t>dV</m:t>
                        </m:r>
                      </m:den>
                    </m:f>
                  </m:oMath>
                </a14:m>
                <a:r>
                  <a:rPr lang="en-US" sz="1800" dirty="0"/>
                  <a:t>​</a:t>
                </a:r>
                <a:endParaRPr lang="en-US" dirty="0"/>
              </a:p>
            </p:txBody>
          </p:sp>
        </mc:Choice>
        <mc:Fallback xmlns="">
          <p:sp>
            <p:nvSpPr>
              <p:cNvPr id="5" name="TextBox 4">
                <a:extLst>
                  <a:ext uri="{FF2B5EF4-FFF2-40B4-BE49-F238E27FC236}">
                    <a16:creationId xmlns:a16="http://schemas.microsoft.com/office/drawing/2014/main" id="{F1838779-4C32-AADC-9E81-E9929F9D2CAB}"/>
                  </a:ext>
                </a:extLst>
              </p:cNvPr>
              <p:cNvSpPr txBox="1">
                <a:spLocks noRot="1" noChangeAspect="1" noMove="1" noResize="1" noEditPoints="1" noAdjustHandles="1" noChangeArrowheads="1" noChangeShapeType="1" noTextEdit="1"/>
              </p:cNvSpPr>
              <p:nvPr/>
            </p:nvSpPr>
            <p:spPr>
              <a:xfrm>
                <a:off x="162424" y="2640636"/>
                <a:ext cx="4692316" cy="759888"/>
              </a:xfrm>
              <a:prstGeom prst="rect">
                <a:avLst/>
              </a:prstGeom>
              <a:blipFill>
                <a:blip r:embed="rId2"/>
                <a:stretch>
                  <a:fillRect l="-11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F4DDFF4-AFB4-EE49-D253-E10BE66723BE}"/>
                  </a:ext>
                </a:extLst>
              </p:cNvPr>
              <p:cNvSpPr txBox="1"/>
              <p:nvPr/>
            </p:nvSpPr>
            <p:spPr>
              <a:xfrm>
                <a:off x="144378" y="3334771"/>
                <a:ext cx="381401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𝐴𝑑h𝑒𝑟𝑒𝑛𝑐𝑒</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𝐺𝑜𝑎𝑙</m:t>
                    </m:r>
                    <m:r>
                      <a:rPr lang="en-US" b="0" i="1" smtClean="0">
                        <a:latin typeface="Cambria Math" panose="02040503050406030204" pitchFamily="18" charset="0"/>
                      </a:rPr>
                      <m:t> </m:t>
                    </m:r>
                  </m:oMath>
                </a14:m>
                <a:r>
                  <a:rPr lang="en-US" dirty="0"/>
                  <a:t>= </a:t>
                </a:r>
                <a14:m>
                  <m:oMath xmlns:m="http://schemas.openxmlformats.org/officeDocument/2006/math">
                    <m:r>
                      <a:rPr lang="en-US" b="0" i="1" smtClean="0">
                        <a:latin typeface="Cambria Math" panose="02040503050406030204" pitchFamily="18" charset="0"/>
                      </a:rPr>
                      <m:t>𝐻𝑜𝑤</m:t>
                    </m:r>
                    <m:r>
                      <a:rPr lang="en-US" b="0" i="1" smtClean="0">
                        <a:latin typeface="Cambria Math" panose="02040503050406030204" pitchFamily="18" charset="0"/>
                      </a:rPr>
                      <m:t> </m:t>
                    </m:r>
                    <m:r>
                      <a:rPr lang="en-US" b="0" i="1" smtClean="0">
                        <a:latin typeface="Cambria Math" panose="02040503050406030204" pitchFamily="18" charset="0"/>
                      </a:rPr>
                      <m:t>𝑤𝑒</m:t>
                    </m:r>
                    <m:r>
                      <a:rPr lang="en-US" b="0" i="1" smtClean="0">
                        <a:latin typeface="Cambria Math" panose="02040503050406030204" pitchFamily="18" charset="0"/>
                      </a:rPr>
                      <m:t> </m:t>
                    </m:r>
                    <m:r>
                      <a:rPr lang="en-US" b="0" i="1" smtClean="0">
                        <a:latin typeface="Cambria Math" panose="02040503050406030204" pitchFamily="18" charset="0"/>
                      </a:rPr>
                      <m:t>𝑔𝑒𝑡</m:t>
                    </m:r>
                    <m:r>
                      <a:rPr lang="en-US" b="0" i="1" smtClean="0">
                        <a:latin typeface="Cambria Math" panose="02040503050406030204" pitchFamily="18" charset="0"/>
                      </a:rPr>
                      <m:t> </m:t>
                    </m:r>
                    <m:r>
                      <a:rPr lang="en-US" b="0" i="1" smtClean="0">
                        <a:latin typeface="Cambria Math" panose="02040503050406030204" pitchFamily="18" charset="0"/>
                      </a:rPr>
                      <m:t>𝑖𝑡</m:t>
                    </m:r>
                  </m:oMath>
                </a14:m>
                <a:endParaRPr lang="en-US" dirty="0"/>
              </a:p>
            </p:txBody>
          </p:sp>
        </mc:Choice>
        <mc:Fallback xmlns="">
          <p:sp>
            <p:nvSpPr>
              <p:cNvPr id="8" name="TextBox 7">
                <a:extLst>
                  <a:ext uri="{FF2B5EF4-FFF2-40B4-BE49-F238E27FC236}">
                    <a16:creationId xmlns:a16="http://schemas.microsoft.com/office/drawing/2014/main" id="{2F4DDFF4-AFB4-EE49-D253-E10BE66723BE}"/>
                  </a:ext>
                </a:extLst>
              </p:cNvPr>
              <p:cNvSpPr txBox="1">
                <a:spLocks noRot="1" noChangeAspect="1" noMove="1" noResize="1" noEditPoints="1" noAdjustHandles="1" noChangeArrowheads="1" noChangeShapeType="1" noTextEdit="1"/>
              </p:cNvSpPr>
              <p:nvPr/>
            </p:nvSpPr>
            <p:spPr>
              <a:xfrm>
                <a:off x="144378" y="3334771"/>
                <a:ext cx="3814010" cy="369332"/>
              </a:xfrm>
              <a:prstGeom prst="rect">
                <a:avLst/>
              </a:prstGeom>
              <a:blipFill>
                <a:blip r:embed="rId3"/>
                <a:stretch>
                  <a:fillRect t="-8197" b="-24590"/>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7DD42C09-50A4-91E2-28E7-31EEFD58C0B5}"/>
              </a:ext>
            </a:extLst>
          </p:cNvPr>
          <p:cNvSpPr txBox="1"/>
          <p:nvPr/>
        </p:nvSpPr>
        <p:spPr>
          <a:xfrm>
            <a:off x="144378" y="3823592"/>
            <a:ext cx="5486400" cy="369332"/>
          </a:xfrm>
          <a:prstGeom prst="rect">
            <a:avLst/>
          </a:prstGeom>
          <a:noFill/>
        </p:spPr>
        <p:txBody>
          <a:bodyPr wrap="square" rtlCol="0">
            <a:spAutoFit/>
          </a:bodyPr>
          <a:lstStyle/>
          <a:p>
            <a:r>
              <a:rPr lang="fr-FR" dirty="0">
                <a:solidFill>
                  <a:srgbClr val="00B0F0"/>
                </a:solidFill>
              </a:rPr>
              <a:t>T(a)</a:t>
            </a:r>
            <a:r>
              <a:rPr lang="fr-FR" dirty="0"/>
              <a:t> </a:t>
            </a:r>
            <a:r>
              <a:rPr lang="en-US" dirty="0"/>
              <a:t>is </a:t>
            </a:r>
            <a:r>
              <a:rPr lang="en-US" dirty="0">
                <a:solidFill>
                  <a:srgbClr val="00B0F0"/>
                </a:solidFill>
              </a:rPr>
              <a:t>Time-Adherence</a:t>
            </a:r>
            <a:r>
              <a:rPr lang="en-US" dirty="0"/>
              <a:t>, what we want to be high</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55F39C0-3164-FCD3-3B6E-DA5A57B51D6D}"/>
                  </a:ext>
                </a:extLst>
              </p:cNvPr>
              <p:cNvSpPr txBox="1"/>
              <p:nvPr/>
            </p:nvSpPr>
            <p:spPr>
              <a:xfrm>
                <a:off x="144378" y="4233341"/>
                <a:ext cx="7543800" cy="413703"/>
              </a:xfrm>
              <a:prstGeom prst="rect">
                <a:avLst/>
              </a:prstGeom>
              <a:noFill/>
            </p:spPr>
            <p:txBody>
              <a:bodyPr wrap="square" rtlCol="0">
                <a:spAutoFit/>
              </a:bodyPr>
              <a:lstStyle/>
              <a:p>
                <a14:m>
                  <m:oMath xmlns:m="http://schemas.openxmlformats.org/officeDocument/2006/math">
                    <m:sSub>
                      <m:sSubPr>
                        <m:ctrlPr>
                          <a:rPr lang="fr-FR" i="1" smtClean="0">
                            <a:solidFill>
                              <a:srgbClr val="FF3300"/>
                            </a:solidFill>
                            <a:latin typeface="Cambria Math" panose="02040503050406030204" pitchFamily="18" charset="0"/>
                            <a:ea typeface="Cambria Math" panose="02040503050406030204" pitchFamily="18" charset="0"/>
                          </a:rPr>
                        </m:ctrlPr>
                      </m:sSubPr>
                      <m:e>
                        <m:r>
                          <a:rPr lang="fr-FR" i="1">
                            <a:solidFill>
                              <a:srgbClr val="FF3300"/>
                            </a:solidFill>
                            <a:latin typeface="Cambria Math" panose="02040503050406030204" pitchFamily="18" charset="0"/>
                            <a:ea typeface="Cambria Math" panose="02040503050406030204" pitchFamily="18" charset="0"/>
                          </a:rPr>
                          <m:t>∫</m:t>
                        </m:r>
                      </m:e>
                      <m:sub>
                        <m:r>
                          <a:rPr lang="en-US" i="1">
                            <a:solidFill>
                              <a:srgbClr val="FF3300"/>
                            </a:solidFill>
                            <a:latin typeface="Cambria Math" panose="02040503050406030204" pitchFamily="18" charset="0"/>
                            <a:ea typeface="Cambria Math" panose="02040503050406030204" pitchFamily="18" charset="0"/>
                          </a:rPr>
                          <m:t>𝑉</m:t>
                        </m:r>
                      </m:sub>
                    </m:sSub>
                    <m:r>
                      <a:rPr lang="en-US" b="0" i="0" smtClean="0">
                        <a:solidFill>
                          <a:srgbClr val="FF3300"/>
                        </a:solidFill>
                        <a:latin typeface="Cambria Math" panose="02040503050406030204" pitchFamily="18" charset="0"/>
                        <a:ea typeface="Cambria Math" panose="02040503050406030204" pitchFamily="18" charset="0"/>
                      </a:rPr>
                      <m:t> … </m:t>
                    </m:r>
                    <m:r>
                      <m:rPr>
                        <m:sty m:val="p"/>
                      </m:rPr>
                      <a:rPr lang="en-US" b="0" i="0" smtClean="0">
                        <a:solidFill>
                          <a:srgbClr val="FF3300"/>
                        </a:solidFill>
                        <a:latin typeface="Cambria Math" panose="02040503050406030204" pitchFamily="18" charset="0"/>
                        <a:ea typeface="Cambria Math" panose="02040503050406030204" pitchFamily="18" charset="0"/>
                      </a:rPr>
                      <m:t>dV</m:t>
                    </m:r>
                    <m:r>
                      <a:rPr lang="en-US" b="0" i="0" smtClean="0">
                        <a:solidFill>
                          <a:srgbClr val="FF3300"/>
                        </a:solidFill>
                        <a:latin typeface="Cambria Math" panose="02040503050406030204" pitchFamily="18" charset="0"/>
                        <a:ea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the </a:t>
                </a:r>
                <a:r>
                  <a:rPr lang="en-US" sz="1800" dirty="0">
                    <a:solidFill>
                      <a:srgbClr val="FF3300"/>
                    </a:solidFill>
                  </a:rPr>
                  <a:t>Measurement Frame</a:t>
                </a:r>
                <a:r>
                  <a:rPr lang="en-US" sz="1800" dirty="0"/>
                  <a:t>, and we’re measuring the </a:t>
                </a:r>
                <a:r>
                  <a:rPr lang="en-US" sz="1800" dirty="0">
                    <a:solidFill>
                      <a:srgbClr val="FFC000"/>
                    </a:solidFill>
                  </a:rPr>
                  <a:t>Pilot Document</a:t>
                </a:r>
                <a:r>
                  <a:rPr lang="en-US" sz="1800" dirty="0"/>
                  <a:t>​</a:t>
                </a:r>
                <a:endParaRPr lang="en-US" dirty="0"/>
              </a:p>
            </p:txBody>
          </p:sp>
        </mc:Choice>
        <mc:Fallback xmlns="">
          <p:sp>
            <p:nvSpPr>
              <p:cNvPr id="11" name="TextBox 10">
                <a:extLst>
                  <a:ext uri="{FF2B5EF4-FFF2-40B4-BE49-F238E27FC236}">
                    <a16:creationId xmlns:a16="http://schemas.microsoft.com/office/drawing/2014/main" id="{455F39C0-3164-FCD3-3B6E-DA5A57B51D6D}"/>
                  </a:ext>
                </a:extLst>
              </p:cNvPr>
              <p:cNvSpPr txBox="1">
                <a:spLocks noRot="1" noChangeAspect="1" noMove="1" noResize="1" noEditPoints="1" noAdjustHandles="1" noChangeArrowheads="1" noChangeShapeType="1" noTextEdit="1"/>
              </p:cNvSpPr>
              <p:nvPr/>
            </p:nvSpPr>
            <p:spPr>
              <a:xfrm>
                <a:off x="144378" y="4233341"/>
                <a:ext cx="7543800" cy="413703"/>
              </a:xfrm>
              <a:prstGeom prst="rect">
                <a:avLst/>
              </a:prstGeom>
              <a:blipFill>
                <a:blip r:embed="rId4"/>
                <a:stretch>
                  <a:fillRect l="-485" t="-4412"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A27D82F-EAAD-CD18-1311-09C33B584DA8}"/>
                  </a:ext>
                </a:extLst>
              </p:cNvPr>
              <p:cNvSpPr txBox="1"/>
              <p:nvPr/>
            </p:nvSpPr>
            <p:spPr>
              <a:xfrm>
                <a:off x="144378" y="4660852"/>
                <a:ext cx="6460958" cy="369332"/>
              </a:xfrm>
              <a:prstGeom prst="rect">
                <a:avLst/>
              </a:prstGeom>
              <a:noFill/>
            </p:spPr>
            <p:txBody>
              <a:bodyPr wrap="square" rtlCol="0">
                <a:spAutoFit/>
              </a:bodyPr>
              <a:lstStyle/>
              <a:p>
                <a14:m>
                  <m:oMath xmlns:m="http://schemas.openxmlformats.org/officeDocument/2006/math">
                    <m:r>
                      <m:rPr>
                        <m:nor/>
                      </m:rPr>
                      <a:rPr lang="fr-FR" dirty="0" smtClean="0">
                        <a:solidFill>
                          <a:srgbClr val="92D050"/>
                        </a:solidFill>
                      </a:rPr>
                      <m:t>ρ</m:t>
                    </m:r>
                    <m:r>
                      <m:rPr>
                        <m:nor/>
                      </m:rPr>
                      <a:rPr lang="fr-FR" dirty="0" smtClean="0">
                        <a:solidFill>
                          <a:srgbClr val="92D050"/>
                        </a:solidFill>
                      </a:rPr>
                      <m:t>(</m:t>
                    </m:r>
                    <m:r>
                      <m:rPr>
                        <m:nor/>
                      </m:rPr>
                      <a:rPr lang="fr-FR" dirty="0" smtClean="0">
                        <a:solidFill>
                          <a:srgbClr val="92D050"/>
                        </a:solidFill>
                      </a:rPr>
                      <m:t>x</m:t>
                    </m:r>
                    <m:r>
                      <m:rPr>
                        <m:nor/>
                      </m:rPr>
                      <a:rPr lang="fr-FR" dirty="0" smtClean="0">
                        <a:solidFill>
                          <a:srgbClr val="92D050"/>
                        </a:solidFill>
                      </a:rPr>
                      <m:t>,</m:t>
                    </m:r>
                    <m:r>
                      <m:rPr>
                        <m:nor/>
                      </m:rPr>
                      <a:rPr lang="fr-FR" dirty="0" smtClean="0">
                        <a:solidFill>
                          <a:srgbClr val="92D050"/>
                        </a:solidFill>
                      </a:rPr>
                      <m:t>t</m:t>
                    </m:r>
                    <m:r>
                      <m:rPr>
                        <m:nor/>
                      </m:rPr>
                      <a:rPr lang="fr-FR" dirty="0" smtClean="0">
                        <a:solidFill>
                          <a:srgbClr val="92D050"/>
                        </a:solidFill>
                      </a:rPr>
                      <m:t>)</m:t>
                    </m:r>
                    <m:r>
                      <m:rPr>
                        <m:nor/>
                      </m:rPr>
                      <a:rPr lang="fr-FR" dirty="0" smtClean="0">
                        <a:solidFill>
                          <a:srgbClr val="92D050"/>
                        </a:solidFill>
                      </a:rPr>
                      <m:t>e</m:t>
                    </m:r>
                    <m:r>
                      <a:rPr lang="en-US" b="0" i="0" dirty="0" smtClean="0">
                        <a:solidFill>
                          <a:srgbClr val="92D050"/>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t>the team performance at a given time and place</a:t>
                </a:r>
              </a:p>
            </p:txBody>
          </p:sp>
        </mc:Choice>
        <mc:Fallback xmlns="">
          <p:sp>
            <p:nvSpPr>
              <p:cNvPr id="12" name="TextBox 11">
                <a:extLst>
                  <a:ext uri="{FF2B5EF4-FFF2-40B4-BE49-F238E27FC236}">
                    <a16:creationId xmlns:a16="http://schemas.microsoft.com/office/drawing/2014/main" id="{CA27D82F-EAAD-CD18-1311-09C33B584DA8}"/>
                  </a:ext>
                </a:extLst>
              </p:cNvPr>
              <p:cNvSpPr txBox="1">
                <a:spLocks noRot="1" noChangeAspect="1" noMove="1" noResize="1" noEditPoints="1" noAdjustHandles="1" noChangeArrowheads="1" noChangeShapeType="1" noTextEdit="1"/>
              </p:cNvSpPr>
              <p:nvPr/>
            </p:nvSpPr>
            <p:spPr>
              <a:xfrm>
                <a:off x="144378" y="4660852"/>
                <a:ext cx="6460958" cy="369332"/>
              </a:xfrm>
              <a:prstGeom prst="rect">
                <a:avLst/>
              </a:prstGeom>
              <a:blipFill>
                <a:blip r:embed="rId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27C9464-1490-7337-BD9E-6167088A3F67}"/>
                  </a:ext>
                </a:extLst>
              </p:cNvPr>
              <p:cNvSpPr txBox="1"/>
              <p:nvPr/>
            </p:nvSpPr>
            <p:spPr>
              <a:xfrm>
                <a:off x="144378" y="5070601"/>
                <a:ext cx="6460958" cy="369332"/>
              </a:xfrm>
              <a:prstGeom prst="rect">
                <a:avLst/>
              </a:prstGeom>
              <a:noFill/>
            </p:spPr>
            <p:txBody>
              <a:bodyPr wrap="square" rtlCol="0">
                <a:spAutoFit/>
              </a:bodyPr>
              <a:lstStyle/>
              <a:p>
                <a14:m>
                  <m:oMath xmlns:m="http://schemas.openxmlformats.org/officeDocument/2006/math">
                    <m:r>
                      <m:rPr>
                        <m:nor/>
                      </m:rPr>
                      <a:rPr lang="en-US" b="0" i="0" dirty="0" smtClean="0">
                        <a:solidFill>
                          <a:srgbClr val="FF66FF"/>
                        </a:solidFill>
                      </a:rPr>
                      <m:t>e</m:t>
                    </m:r>
                    <m:r>
                      <a:rPr lang="en-US" b="0" i="0" dirty="0" smtClean="0">
                        <a:solidFill>
                          <a:srgbClr val="FF66FF"/>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solidFill>
                      <a:srgbClr val="FF66FF"/>
                    </a:solidFill>
                  </a:rPr>
                  <a:t>Entropy</a:t>
                </a:r>
                <a:r>
                  <a:rPr lang="en-US" dirty="0"/>
                  <a:t> ( we do not want this, more entropy = more decay)</a:t>
                </a:r>
                <a:r>
                  <a:rPr lang="en-US" sz="1800" dirty="0"/>
                  <a:t>​</a:t>
                </a:r>
                <a:endParaRPr lang="en-US" dirty="0"/>
              </a:p>
            </p:txBody>
          </p:sp>
        </mc:Choice>
        <mc:Fallback xmlns="">
          <p:sp>
            <p:nvSpPr>
              <p:cNvPr id="17" name="TextBox 16">
                <a:extLst>
                  <a:ext uri="{FF2B5EF4-FFF2-40B4-BE49-F238E27FC236}">
                    <a16:creationId xmlns:a16="http://schemas.microsoft.com/office/drawing/2014/main" id="{327C9464-1490-7337-BD9E-6167088A3F67}"/>
                  </a:ext>
                </a:extLst>
              </p:cNvPr>
              <p:cNvSpPr txBox="1">
                <a:spLocks noRot="1" noChangeAspect="1" noMove="1" noResize="1" noEditPoints="1" noAdjustHandles="1" noChangeArrowheads="1" noChangeShapeType="1" noTextEdit="1"/>
              </p:cNvSpPr>
              <p:nvPr/>
            </p:nvSpPr>
            <p:spPr>
              <a:xfrm>
                <a:off x="144378" y="5070601"/>
                <a:ext cx="6460958" cy="369332"/>
              </a:xfrm>
              <a:prstGeom prst="rect">
                <a:avLst/>
              </a:prstGeom>
              <a:blipFill>
                <a:blip r:embed="rId6"/>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BDD6D3D-4304-5E06-21A5-320021E7419F}"/>
                  </a:ext>
                </a:extLst>
              </p:cNvPr>
              <p:cNvSpPr txBox="1"/>
              <p:nvPr/>
            </p:nvSpPr>
            <p:spPr>
              <a:xfrm>
                <a:off x="144378" y="5480350"/>
                <a:ext cx="6460958" cy="369332"/>
              </a:xfrm>
              <a:prstGeom prst="rect">
                <a:avLst/>
              </a:prstGeom>
              <a:noFill/>
            </p:spPr>
            <p:txBody>
              <a:bodyPr wrap="square" rtlCol="0">
                <a:spAutoFit/>
              </a:bodyPr>
              <a:lstStyle/>
              <a:p>
                <a14:m>
                  <m:oMath xmlns:m="http://schemas.openxmlformats.org/officeDocument/2006/math">
                    <m:r>
                      <m:rPr>
                        <m:nor/>
                      </m:rPr>
                      <a:rPr lang="fr-FR" dirty="0" smtClean="0">
                        <a:solidFill>
                          <a:srgbClr val="FFFF00"/>
                        </a:solidFill>
                      </a:rPr>
                      <m:t>−</m:t>
                    </m:r>
                    <m:r>
                      <m:rPr>
                        <m:nor/>
                      </m:rPr>
                      <a:rPr lang="fr-FR" dirty="0" smtClean="0">
                        <a:solidFill>
                          <a:srgbClr val="FFFF00"/>
                        </a:solidFill>
                      </a:rPr>
                      <m:t>S</m:t>
                    </m:r>
                    <m:r>
                      <m:rPr>
                        <m:nor/>
                      </m:rPr>
                      <a:rPr lang="fr-FR" dirty="0" smtClean="0">
                        <a:solidFill>
                          <a:srgbClr val="FFFF00"/>
                        </a:solidFill>
                      </a:rPr>
                      <m:t>(</m:t>
                    </m:r>
                    <m:r>
                      <m:rPr>
                        <m:nor/>
                      </m:rPr>
                      <a:rPr lang="fr-FR" dirty="0" smtClean="0">
                        <a:solidFill>
                          <a:srgbClr val="FFFF00"/>
                        </a:solidFill>
                      </a:rPr>
                      <m:t>x</m:t>
                    </m:r>
                    <m:r>
                      <m:rPr>
                        <m:nor/>
                      </m:rPr>
                      <a:rPr lang="fr-FR" dirty="0" smtClean="0">
                        <a:solidFill>
                          <a:srgbClr val="FFFF00"/>
                        </a:solidFill>
                      </a:rPr>
                      <m:t>,</m:t>
                    </m:r>
                    <m:r>
                      <m:rPr>
                        <m:nor/>
                      </m:rPr>
                      <a:rPr lang="fr-FR" dirty="0" smtClean="0">
                        <a:solidFill>
                          <a:srgbClr val="FFFF00"/>
                        </a:solidFill>
                      </a:rPr>
                      <m:t>t</m:t>
                    </m:r>
                    <m:r>
                      <m:rPr>
                        <m:nor/>
                      </m:rPr>
                      <a:rPr lang="fr-FR" dirty="0" smtClean="0">
                        <a:solidFill>
                          <a:srgbClr val="FFFF00"/>
                        </a:solidFill>
                      </a:rPr>
                      <m:t>)</m:t>
                    </m:r>
                    <m:r>
                      <a:rPr lang="en-US" b="0" i="0" dirty="0" smtClean="0">
                        <a:solidFill>
                          <a:srgbClr val="FFFF00"/>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t>the measurement of </a:t>
                </a:r>
                <a:r>
                  <a:rPr lang="en-US" dirty="0">
                    <a:solidFill>
                      <a:srgbClr val="FF66FF"/>
                    </a:solidFill>
                  </a:rPr>
                  <a:t>Entropy</a:t>
                </a:r>
                <a:r>
                  <a:rPr lang="en-US" dirty="0"/>
                  <a:t> at a given time and place</a:t>
                </a:r>
              </a:p>
            </p:txBody>
          </p:sp>
        </mc:Choice>
        <mc:Fallback xmlns="">
          <p:sp>
            <p:nvSpPr>
              <p:cNvPr id="18" name="TextBox 17">
                <a:extLst>
                  <a:ext uri="{FF2B5EF4-FFF2-40B4-BE49-F238E27FC236}">
                    <a16:creationId xmlns:a16="http://schemas.microsoft.com/office/drawing/2014/main" id="{DBDD6D3D-4304-5E06-21A5-320021E7419F}"/>
                  </a:ext>
                </a:extLst>
              </p:cNvPr>
              <p:cNvSpPr txBox="1">
                <a:spLocks noRot="1" noChangeAspect="1" noMove="1" noResize="1" noEditPoints="1" noAdjustHandles="1" noChangeArrowheads="1" noChangeShapeType="1" noTextEdit="1"/>
              </p:cNvSpPr>
              <p:nvPr/>
            </p:nvSpPr>
            <p:spPr>
              <a:xfrm>
                <a:off x="144378" y="5480350"/>
                <a:ext cx="6460958" cy="369332"/>
              </a:xfrm>
              <a:prstGeom prst="rect">
                <a:avLst/>
              </a:prstGeom>
              <a:blipFill>
                <a:blip r:embed="rId7"/>
                <a:stretch>
                  <a:fillRect t="-8197" b="-24590"/>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A9A2F960-28F0-0F72-FB0D-C40B4CBBEB08}"/>
              </a:ext>
            </a:extLst>
          </p:cNvPr>
          <p:cNvSpPr txBox="1"/>
          <p:nvPr/>
        </p:nvSpPr>
        <p:spPr>
          <a:xfrm>
            <a:off x="7026442" y="152996"/>
            <a:ext cx="5165558" cy="923330"/>
          </a:xfrm>
          <a:prstGeom prst="rect">
            <a:avLst/>
          </a:prstGeom>
          <a:noFill/>
        </p:spPr>
        <p:txBody>
          <a:bodyPr wrap="square" rtlCol="0">
            <a:spAutoFit/>
          </a:bodyPr>
          <a:lstStyle/>
          <a:p>
            <a:r>
              <a:rPr lang="en-US" dirty="0"/>
              <a:t>Time-Adherence describes Effectiveness. How much of what is happening are you capturing? That’s what Time-Adherence answers.</a:t>
            </a:r>
          </a:p>
        </p:txBody>
      </p:sp>
      <p:sp>
        <p:nvSpPr>
          <p:cNvPr id="22" name="TextBox 21">
            <a:extLst>
              <a:ext uri="{FF2B5EF4-FFF2-40B4-BE49-F238E27FC236}">
                <a16:creationId xmlns:a16="http://schemas.microsoft.com/office/drawing/2014/main" id="{43A75035-590F-7ED0-CB0C-A66C97559E82}"/>
              </a:ext>
            </a:extLst>
          </p:cNvPr>
          <p:cNvSpPr txBox="1"/>
          <p:nvPr/>
        </p:nvSpPr>
        <p:spPr>
          <a:xfrm>
            <a:off x="7026442" y="1192984"/>
            <a:ext cx="5165558" cy="1200329"/>
          </a:xfrm>
          <a:prstGeom prst="rect">
            <a:avLst/>
          </a:prstGeom>
          <a:noFill/>
        </p:spPr>
        <p:txBody>
          <a:bodyPr wrap="square" rtlCol="0">
            <a:spAutoFit/>
          </a:bodyPr>
          <a:lstStyle/>
          <a:p>
            <a:r>
              <a:rPr lang="en-US" dirty="0"/>
              <a:t>Timing is a force-multiplier. This system measures things like “friction” in a workplace sense and instead of bogging down in them using them for real transformation.</a:t>
            </a:r>
          </a:p>
        </p:txBody>
      </p:sp>
      <p:sp>
        <p:nvSpPr>
          <p:cNvPr id="3" name="TextBox 2">
            <a:extLst>
              <a:ext uri="{FF2B5EF4-FFF2-40B4-BE49-F238E27FC236}">
                <a16:creationId xmlns:a16="http://schemas.microsoft.com/office/drawing/2014/main" id="{720158B1-904E-95BF-CD90-C0B496FA9845}"/>
              </a:ext>
            </a:extLst>
          </p:cNvPr>
          <p:cNvSpPr txBox="1"/>
          <p:nvPr/>
        </p:nvSpPr>
        <p:spPr>
          <a:xfrm>
            <a:off x="150394" y="1436186"/>
            <a:ext cx="6876048" cy="1077218"/>
          </a:xfrm>
          <a:prstGeom prst="rect">
            <a:avLst/>
          </a:prstGeom>
          <a:noFill/>
        </p:spPr>
        <p:txBody>
          <a:bodyPr wrap="square" rtlCol="0">
            <a:spAutoFit/>
          </a:bodyPr>
          <a:lstStyle/>
          <a:p>
            <a:r>
              <a:rPr lang="en-US" sz="3200" dirty="0"/>
              <a:t>Time-Adherence: Measuring Resonant Effectiveness</a:t>
            </a:r>
          </a:p>
        </p:txBody>
      </p:sp>
    </p:spTree>
    <p:extLst>
      <p:ext uri="{BB962C8B-B14F-4D97-AF65-F5344CB8AC3E}">
        <p14:creationId xmlns:p14="http://schemas.microsoft.com/office/powerpoint/2010/main" val="2940774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06FC3-10F8-71BC-C76D-2E5FAE655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EC88D-C0C3-72BF-FFD8-98DB07858C7B}"/>
              </a:ext>
            </a:extLst>
          </p:cNvPr>
          <p:cNvSpPr>
            <a:spLocks noGrp="1"/>
          </p:cNvSpPr>
          <p:nvPr>
            <p:ph type="ctrTitle"/>
          </p:nvPr>
        </p:nvSpPr>
        <p:spPr>
          <a:xfrm>
            <a:off x="144378" y="152996"/>
            <a:ext cx="3320717" cy="1501653"/>
          </a:xfrm>
        </p:spPr>
        <p:txBody>
          <a:bodyPr>
            <a:noAutofit/>
          </a:bodyPr>
          <a:lstStyle/>
          <a:p>
            <a:pPr algn="l"/>
            <a:r>
              <a:rPr lang="en-US" sz="11500" dirty="0">
                <a:solidFill>
                  <a:srgbClr val="00B0F0"/>
                </a:solidFill>
              </a:rPr>
              <a:t>Math</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46ABD32-A95F-8BA0-613C-86E053725E4A}"/>
                  </a:ext>
                </a:extLst>
              </p:cNvPr>
              <p:cNvSpPr txBox="1"/>
              <p:nvPr/>
            </p:nvSpPr>
            <p:spPr>
              <a:xfrm>
                <a:off x="6014" y="2813998"/>
                <a:ext cx="4692316" cy="477567"/>
              </a:xfrm>
              <a:prstGeom prst="rect">
                <a:avLst/>
              </a:prstGeom>
              <a:noFill/>
            </p:spPr>
            <p:txBody>
              <a:bodyPr wrap="square" rtlCol="0">
                <a:spAutoFit/>
              </a:bodyPr>
              <a:lstStyle/>
              <a:p>
                <a14:m>
                  <m:oMath xmlns:m="http://schemas.openxmlformats.org/officeDocument/2006/math">
                    <m:f>
                      <m:fPr>
                        <m:ctrlPr>
                          <a:rPr lang="en-US" sz="1400" i="1" smtClean="0">
                            <a:solidFill>
                              <a:srgbClr val="FF3300"/>
                            </a:solidFill>
                            <a:latin typeface="Cambria Math" panose="02040503050406030204" pitchFamily="18" charset="0"/>
                          </a:rPr>
                        </m:ctrlPr>
                      </m:fPr>
                      <m:num>
                        <m:sSub>
                          <m:sSubPr>
                            <m:ctrlPr>
                              <a:rPr lang="en-US" sz="1400" i="1">
                                <a:solidFill>
                                  <a:srgbClr val="FF3300"/>
                                </a:solidFill>
                                <a:latin typeface="Cambria Math" panose="02040503050406030204" pitchFamily="18" charset="0"/>
                              </a:rPr>
                            </m:ctrlPr>
                          </m:sSubPr>
                          <m:e>
                            <m:r>
                              <m:rPr>
                                <m:nor/>
                              </m:rPr>
                              <a:rPr lang="en-US" sz="1400" dirty="0">
                                <a:solidFill>
                                  <a:srgbClr val="FF3300"/>
                                </a:solidFill>
                              </a:rPr>
                              <m:t>dA</m:t>
                            </m:r>
                          </m:e>
                          <m:sub>
                            <m:r>
                              <m:rPr>
                                <m:nor/>
                              </m:rPr>
                              <a:rPr lang="en-US" sz="1400" dirty="0">
                                <a:solidFill>
                                  <a:srgbClr val="FF3300"/>
                                </a:solidFill>
                              </a:rPr>
                              <m:t>Frame</m:t>
                            </m:r>
                          </m:sub>
                        </m:sSub>
                      </m:num>
                      <m:den>
                        <m:r>
                          <m:rPr>
                            <m:nor/>
                          </m:rPr>
                          <a:rPr lang="en-US" sz="1400" dirty="0">
                            <a:solidFill>
                              <a:srgbClr val="FF3300"/>
                            </a:solidFill>
                          </a:rPr>
                          <m:t>dt</m:t>
                        </m:r>
                      </m:den>
                    </m:f>
                  </m:oMath>
                </a14:m>
                <a:r>
                  <a:rPr lang="en-US" dirty="0">
                    <a:solidFill>
                      <a:srgbClr val="FF3300"/>
                    </a:solidFill>
                  </a:rPr>
                  <a:t> </a:t>
                </a:r>
                <a:r>
                  <a:rPr lang="fr-FR" dirty="0"/>
                  <a:t>=</a:t>
                </a:r>
                <a:r>
                  <a:rPr lang="fr-FR" dirty="0">
                    <a:solidFill>
                      <a:srgbClr val="FF66FF"/>
                    </a:solidFill>
                  </a:rPr>
                  <a:t>−λ[1−</a:t>
                </a:r>
                <a:r>
                  <a:rPr lang="en-US" dirty="0">
                    <a:solidFill>
                      <a:srgbClr val="FF66FF"/>
                    </a:solidFill>
                  </a:rPr>
                  <a:t> </a:t>
                </a:r>
                <a14:m>
                  <m:oMath xmlns:m="http://schemas.openxmlformats.org/officeDocument/2006/math">
                    <m:sSub>
                      <m:sSubPr>
                        <m:ctrlPr>
                          <a:rPr lang="en-US" sz="1400" i="1">
                            <a:solidFill>
                              <a:srgbClr val="FF66FF"/>
                            </a:solidFill>
                            <a:latin typeface="Cambria Math" panose="02040503050406030204" pitchFamily="18" charset="0"/>
                          </a:rPr>
                        </m:ctrlPr>
                      </m:sSubPr>
                      <m:e>
                        <m:r>
                          <m:rPr>
                            <m:nor/>
                          </m:rPr>
                          <a:rPr lang="en-US" sz="1400" dirty="0">
                            <a:solidFill>
                              <a:srgbClr val="FF66FF"/>
                            </a:solidFill>
                          </a:rPr>
                          <m:t>A</m:t>
                        </m:r>
                      </m:e>
                      <m:sub>
                        <m:r>
                          <m:rPr>
                            <m:nor/>
                          </m:rPr>
                          <a:rPr lang="en-US" sz="1400" dirty="0">
                            <a:solidFill>
                              <a:srgbClr val="FF66FF"/>
                            </a:solidFill>
                          </a:rPr>
                          <m:t>Frame</m:t>
                        </m:r>
                      </m:sub>
                    </m:sSub>
                  </m:oMath>
                </a14:m>
                <a:r>
                  <a:rPr lang="fr-FR" dirty="0">
                    <a:solidFill>
                      <a:srgbClr val="FF66FF"/>
                    </a:solidFill>
                  </a:rPr>
                  <a:t>(t)]</a:t>
                </a:r>
                <a:r>
                  <a:rPr lang="fr-FR" dirty="0"/>
                  <a:t>+</a:t>
                </a:r>
                <a:r>
                  <a:rPr lang="fr-FR" dirty="0">
                    <a:solidFill>
                      <a:srgbClr val="92D050"/>
                    </a:solidFill>
                  </a:rPr>
                  <a:t>µ∆P(t)</a:t>
                </a:r>
                <a:r>
                  <a:rPr lang="en-US" sz="1800" dirty="0">
                    <a:solidFill>
                      <a:srgbClr val="92D050"/>
                    </a:solidFill>
                  </a:rPr>
                  <a:t>​</a:t>
                </a:r>
                <a:endParaRPr lang="en-US" dirty="0">
                  <a:solidFill>
                    <a:srgbClr val="92D050"/>
                  </a:solidFill>
                </a:endParaRPr>
              </a:p>
            </p:txBody>
          </p:sp>
        </mc:Choice>
        <mc:Fallback xmlns="">
          <p:sp>
            <p:nvSpPr>
              <p:cNvPr id="5" name="TextBox 4">
                <a:extLst>
                  <a:ext uri="{FF2B5EF4-FFF2-40B4-BE49-F238E27FC236}">
                    <a16:creationId xmlns:a16="http://schemas.microsoft.com/office/drawing/2014/main" id="{046ABD32-A95F-8BA0-613C-86E053725E4A}"/>
                  </a:ext>
                </a:extLst>
              </p:cNvPr>
              <p:cNvSpPr txBox="1">
                <a:spLocks noRot="1" noChangeAspect="1" noMove="1" noResize="1" noEditPoints="1" noAdjustHandles="1" noChangeArrowheads="1" noChangeShapeType="1" noTextEdit="1"/>
              </p:cNvSpPr>
              <p:nvPr/>
            </p:nvSpPr>
            <p:spPr>
              <a:xfrm>
                <a:off x="6014" y="2813998"/>
                <a:ext cx="4692316" cy="477567"/>
              </a:xfrm>
              <a:prstGeom prst="rect">
                <a:avLst/>
              </a:prstGeom>
              <a:blipFill>
                <a:blip r:embed="rId2"/>
                <a:stretch>
                  <a:fillRect b="-128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0EA6E7B-0812-31C3-32C1-8DB606A3A587}"/>
                  </a:ext>
                </a:extLst>
              </p:cNvPr>
              <p:cNvSpPr txBox="1"/>
              <p:nvPr/>
            </p:nvSpPr>
            <p:spPr>
              <a:xfrm>
                <a:off x="6014" y="3284905"/>
                <a:ext cx="438551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𝐴𝑙𝑖𝑔𝑛𝑚𝑒𝑛𝑡</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𝐷𝑖𝑟𝑒𝑐𝑡𝑖𝑜𝑛</m:t>
                    </m:r>
                    <m:r>
                      <a:rPr lang="en-US" b="0" i="1" smtClean="0">
                        <a:latin typeface="Cambria Math" panose="02040503050406030204" pitchFamily="18" charset="0"/>
                      </a:rPr>
                      <m:t> </m:t>
                    </m:r>
                  </m:oMath>
                </a14:m>
                <a:r>
                  <a:rPr lang="en-US" dirty="0"/>
                  <a:t>= </a:t>
                </a:r>
                <a14:m>
                  <m:oMath xmlns:m="http://schemas.openxmlformats.org/officeDocument/2006/math">
                    <m:r>
                      <a:rPr lang="en-US" b="0" i="1" smtClean="0">
                        <a:latin typeface="Cambria Math" panose="02040503050406030204" pitchFamily="18" charset="0"/>
                      </a:rPr>
                      <m:t>𝐻𝑜𝑤</m:t>
                    </m:r>
                    <m:r>
                      <a:rPr lang="en-US" b="0" i="1" smtClean="0">
                        <a:latin typeface="Cambria Math" panose="02040503050406030204" pitchFamily="18" charset="0"/>
                      </a:rPr>
                      <m:t> </m:t>
                    </m:r>
                    <m:r>
                      <a:rPr lang="en-US" b="0" i="1" smtClean="0">
                        <a:latin typeface="Cambria Math" panose="02040503050406030204" pitchFamily="18" charset="0"/>
                      </a:rPr>
                      <m:t>𝑤𝑒</m:t>
                    </m:r>
                    <m:r>
                      <a:rPr lang="en-US" b="0" i="1" smtClean="0">
                        <a:latin typeface="Cambria Math" panose="02040503050406030204" pitchFamily="18" charset="0"/>
                      </a:rPr>
                      <m:t> </m:t>
                    </m:r>
                    <m:r>
                      <a:rPr lang="en-US" b="0" i="1" smtClean="0">
                        <a:latin typeface="Cambria Math" panose="02040503050406030204" pitchFamily="18" charset="0"/>
                      </a:rPr>
                      <m:t>𝑔𝑒𝑡</m:t>
                    </m:r>
                    <m:r>
                      <a:rPr lang="en-US" b="0" i="1" smtClean="0">
                        <a:latin typeface="Cambria Math" panose="02040503050406030204" pitchFamily="18" charset="0"/>
                      </a:rPr>
                      <m:t> </m:t>
                    </m:r>
                    <m:r>
                      <a:rPr lang="en-US" b="0" i="1" smtClean="0">
                        <a:latin typeface="Cambria Math" panose="02040503050406030204" pitchFamily="18" charset="0"/>
                      </a:rPr>
                      <m:t>𝑖𝑡</m:t>
                    </m:r>
                  </m:oMath>
                </a14:m>
                <a:endParaRPr lang="en-US" dirty="0"/>
              </a:p>
            </p:txBody>
          </p:sp>
        </mc:Choice>
        <mc:Fallback xmlns="">
          <p:sp>
            <p:nvSpPr>
              <p:cNvPr id="8" name="TextBox 7">
                <a:extLst>
                  <a:ext uri="{FF2B5EF4-FFF2-40B4-BE49-F238E27FC236}">
                    <a16:creationId xmlns:a16="http://schemas.microsoft.com/office/drawing/2014/main" id="{20EA6E7B-0812-31C3-32C1-8DB606A3A587}"/>
                  </a:ext>
                </a:extLst>
              </p:cNvPr>
              <p:cNvSpPr txBox="1">
                <a:spLocks noRot="1" noChangeAspect="1" noMove="1" noResize="1" noEditPoints="1" noAdjustHandles="1" noChangeArrowheads="1" noChangeShapeType="1" noTextEdit="1"/>
              </p:cNvSpPr>
              <p:nvPr/>
            </p:nvSpPr>
            <p:spPr>
              <a:xfrm>
                <a:off x="6014" y="3284905"/>
                <a:ext cx="4385510" cy="369332"/>
              </a:xfrm>
              <a:prstGeom prst="rect">
                <a:avLst/>
              </a:prstGeom>
              <a:blipFill>
                <a:blip r:embed="rId3"/>
                <a:stretch>
                  <a:fillRect l="-417"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2987D4-C086-76B6-FEFA-78F3E6B5998B}"/>
                  </a:ext>
                </a:extLst>
              </p:cNvPr>
              <p:cNvSpPr txBox="1"/>
              <p:nvPr/>
            </p:nvSpPr>
            <p:spPr>
              <a:xfrm>
                <a:off x="6014" y="3661158"/>
                <a:ext cx="6136106" cy="587790"/>
              </a:xfrm>
              <a:prstGeom prst="rect">
                <a:avLst/>
              </a:prstGeom>
              <a:noFill/>
            </p:spPr>
            <p:txBody>
              <a:bodyPr wrap="square" rtlCol="0">
                <a:spAutoFit/>
              </a:bodyPr>
              <a:lstStyle/>
              <a:p>
                <a14:m>
                  <m:oMath xmlns:m="http://schemas.openxmlformats.org/officeDocument/2006/math">
                    <m:f>
                      <m:fPr>
                        <m:ctrlPr>
                          <a:rPr lang="en-US" sz="1800" i="1" smtClean="0">
                            <a:solidFill>
                              <a:srgbClr val="FF3300"/>
                            </a:solidFill>
                            <a:latin typeface="Cambria Math" panose="02040503050406030204" pitchFamily="18" charset="0"/>
                          </a:rPr>
                        </m:ctrlPr>
                      </m:fPr>
                      <m:num>
                        <m:sSub>
                          <m:sSubPr>
                            <m:ctrlPr>
                              <a:rPr lang="en-US" sz="1800" i="1">
                                <a:solidFill>
                                  <a:srgbClr val="FF3300"/>
                                </a:solidFill>
                                <a:latin typeface="Cambria Math" panose="02040503050406030204" pitchFamily="18" charset="0"/>
                              </a:rPr>
                            </m:ctrlPr>
                          </m:sSubPr>
                          <m:e>
                            <m:r>
                              <m:rPr>
                                <m:nor/>
                              </m:rPr>
                              <a:rPr lang="en-US" sz="1800" dirty="0">
                                <a:solidFill>
                                  <a:srgbClr val="FF3300"/>
                                </a:solidFill>
                              </a:rPr>
                              <m:t>dA</m:t>
                            </m:r>
                          </m:e>
                          <m:sub>
                            <m:r>
                              <m:rPr>
                                <m:nor/>
                              </m:rPr>
                              <a:rPr lang="en-US" sz="1800" dirty="0">
                                <a:solidFill>
                                  <a:srgbClr val="FF3300"/>
                                </a:solidFill>
                              </a:rPr>
                              <m:t>Frame</m:t>
                            </m:r>
                          </m:sub>
                        </m:sSub>
                      </m:num>
                      <m:den>
                        <m:r>
                          <m:rPr>
                            <m:nor/>
                          </m:rPr>
                          <a:rPr lang="en-US" sz="1800" dirty="0">
                            <a:solidFill>
                              <a:srgbClr val="FF3300"/>
                            </a:solidFill>
                          </a:rPr>
                          <m:t>dt</m:t>
                        </m:r>
                      </m:den>
                    </m:f>
                  </m:oMath>
                </a14:m>
                <a:r>
                  <a:rPr lang="en-US" dirty="0">
                    <a:solidFill>
                      <a:srgbClr val="FF3300"/>
                    </a:solidFill>
                  </a:rPr>
                  <a:t> </a:t>
                </a:r>
                <a:r>
                  <a:rPr lang="en-US" dirty="0"/>
                  <a:t>is the</a:t>
                </a:r>
                <a:r>
                  <a:rPr lang="en-US" dirty="0">
                    <a:solidFill>
                      <a:srgbClr val="FF3300"/>
                    </a:solidFill>
                  </a:rPr>
                  <a:t> Measurement Frame</a:t>
                </a:r>
                <a:r>
                  <a:rPr lang="en-US" dirty="0"/>
                  <a:t>, the </a:t>
                </a:r>
                <a:r>
                  <a:rPr lang="en-US" dirty="0">
                    <a:solidFill>
                      <a:srgbClr val="FFC000"/>
                    </a:solidFill>
                  </a:rPr>
                  <a:t>Pilot Document</a:t>
                </a:r>
              </a:p>
            </p:txBody>
          </p:sp>
        </mc:Choice>
        <mc:Fallback xmlns="">
          <p:sp>
            <p:nvSpPr>
              <p:cNvPr id="10" name="TextBox 9">
                <a:extLst>
                  <a:ext uri="{FF2B5EF4-FFF2-40B4-BE49-F238E27FC236}">
                    <a16:creationId xmlns:a16="http://schemas.microsoft.com/office/drawing/2014/main" id="{0F2987D4-C086-76B6-FEFA-78F3E6B5998B}"/>
                  </a:ext>
                </a:extLst>
              </p:cNvPr>
              <p:cNvSpPr txBox="1">
                <a:spLocks noRot="1" noChangeAspect="1" noMove="1" noResize="1" noEditPoints="1" noAdjustHandles="1" noChangeArrowheads="1" noChangeShapeType="1" noTextEdit="1"/>
              </p:cNvSpPr>
              <p:nvPr/>
            </p:nvSpPr>
            <p:spPr>
              <a:xfrm>
                <a:off x="6014" y="3661158"/>
                <a:ext cx="6136106" cy="587790"/>
              </a:xfrm>
              <a:prstGeom prst="rect">
                <a:avLst/>
              </a:prstGeom>
              <a:blipFill>
                <a:blip r:embed="rId4"/>
                <a:stretch>
                  <a:fillRect b="-5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F20C4D9-0649-8B35-49E0-6C65460E9653}"/>
                  </a:ext>
                </a:extLst>
              </p:cNvPr>
              <p:cNvSpPr txBox="1"/>
              <p:nvPr/>
            </p:nvSpPr>
            <p:spPr>
              <a:xfrm>
                <a:off x="6014" y="4447120"/>
                <a:ext cx="8446168" cy="369332"/>
              </a:xfrm>
              <a:prstGeom prst="rect">
                <a:avLst/>
              </a:prstGeom>
              <a:noFill/>
            </p:spPr>
            <p:txBody>
              <a:bodyPr wrap="square" rtlCol="0">
                <a:spAutoFit/>
              </a:bodyPr>
              <a:lstStyle/>
              <a:p>
                <a14:m>
                  <m:oMath xmlns:m="http://schemas.openxmlformats.org/officeDocument/2006/math">
                    <m:r>
                      <m:rPr>
                        <m:nor/>
                      </m:rPr>
                      <a:rPr lang="fr-FR" dirty="0" smtClean="0">
                        <a:solidFill>
                          <a:srgbClr val="FF66FF"/>
                        </a:solidFill>
                      </a:rPr>
                      <m:t>−</m:t>
                    </m:r>
                    <m:r>
                      <m:rPr>
                        <m:nor/>
                      </m:rPr>
                      <a:rPr lang="fr-FR" dirty="0" smtClean="0">
                        <a:solidFill>
                          <a:srgbClr val="FF66FF"/>
                        </a:solidFill>
                      </a:rPr>
                      <m:t>λ</m:t>
                    </m:r>
                    <m:r>
                      <m:rPr>
                        <m:nor/>
                      </m:rPr>
                      <a:rPr lang="fr-FR" dirty="0" smtClean="0">
                        <a:solidFill>
                          <a:srgbClr val="FF66FF"/>
                        </a:solidFill>
                      </a:rPr>
                      <m:t>[1−</m:t>
                    </m:r>
                    <m:r>
                      <m:rPr>
                        <m:nor/>
                      </m:rPr>
                      <a:rPr lang="en-US" dirty="0" smtClean="0">
                        <a:solidFill>
                          <a:srgbClr val="FF66FF"/>
                        </a:solidFill>
                      </a:rPr>
                      <m:t> </m:t>
                    </m:r>
                    <m:sSub>
                      <m:sSubPr>
                        <m:ctrlPr>
                          <a:rPr lang="en-US" sz="1400" i="1">
                            <a:solidFill>
                              <a:srgbClr val="FF66FF"/>
                            </a:solidFill>
                            <a:latin typeface="Cambria Math" panose="02040503050406030204" pitchFamily="18" charset="0"/>
                          </a:rPr>
                        </m:ctrlPr>
                      </m:sSubPr>
                      <m:e>
                        <m:r>
                          <m:rPr>
                            <m:nor/>
                          </m:rPr>
                          <a:rPr lang="en-US" sz="1400" dirty="0">
                            <a:solidFill>
                              <a:srgbClr val="FF66FF"/>
                            </a:solidFill>
                          </a:rPr>
                          <m:t>A</m:t>
                        </m:r>
                      </m:e>
                      <m:sub>
                        <m:r>
                          <m:rPr>
                            <m:nor/>
                          </m:rPr>
                          <a:rPr lang="en-US" sz="1400" dirty="0">
                            <a:solidFill>
                              <a:srgbClr val="FF66FF"/>
                            </a:solidFill>
                          </a:rPr>
                          <m:t>Frame</m:t>
                        </m:r>
                      </m:sub>
                    </m:sSub>
                    <m:r>
                      <m:rPr>
                        <m:nor/>
                      </m:rPr>
                      <a:rPr lang="fr-FR" dirty="0">
                        <a:solidFill>
                          <a:srgbClr val="FF66FF"/>
                        </a:solidFill>
                      </a:rPr>
                      <m:t>(</m:t>
                    </m:r>
                    <m:r>
                      <m:rPr>
                        <m:nor/>
                      </m:rPr>
                      <a:rPr lang="fr-FR" dirty="0">
                        <a:solidFill>
                          <a:srgbClr val="FF66FF"/>
                        </a:solidFill>
                      </a:rPr>
                      <m:t>t</m:t>
                    </m:r>
                    <m:r>
                      <m:rPr>
                        <m:nor/>
                      </m:rPr>
                      <a:rPr lang="fr-FR" dirty="0">
                        <a:solidFill>
                          <a:srgbClr val="FF66FF"/>
                        </a:solidFill>
                      </a:rPr>
                      <m:t>)]</m:t>
                    </m:r>
                    <m:r>
                      <a:rPr lang="en-US" b="0" i="0" dirty="0" smtClean="0">
                        <a:solidFill>
                          <a:srgbClr val="FF66FF"/>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solidFill>
                      <a:srgbClr val="FF66FF"/>
                    </a:solidFill>
                  </a:rPr>
                  <a:t>Decay Pressure</a:t>
                </a:r>
                <a:r>
                  <a:rPr lang="en-US" dirty="0"/>
                  <a:t>, or how fast a team’s performance falls if left alone</a:t>
                </a:r>
              </a:p>
            </p:txBody>
          </p:sp>
        </mc:Choice>
        <mc:Fallback xmlns="">
          <p:sp>
            <p:nvSpPr>
              <p:cNvPr id="12" name="TextBox 11">
                <a:extLst>
                  <a:ext uri="{FF2B5EF4-FFF2-40B4-BE49-F238E27FC236}">
                    <a16:creationId xmlns:a16="http://schemas.microsoft.com/office/drawing/2014/main" id="{BF20C4D9-0649-8B35-49E0-6C65460E9653}"/>
                  </a:ext>
                </a:extLst>
              </p:cNvPr>
              <p:cNvSpPr txBox="1">
                <a:spLocks noRot="1" noChangeAspect="1" noMove="1" noResize="1" noEditPoints="1" noAdjustHandles="1" noChangeArrowheads="1" noChangeShapeType="1" noTextEdit="1"/>
              </p:cNvSpPr>
              <p:nvPr/>
            </p:nvSpPr>
            <p:spPr>
              <a:xfrm>
                <a:off x="6014" y="4447120"/>
                <a:ext cx="8446168" cy="369332"/>
              </a:xfrm>
              <a:prstGeom prst="rect">
                <a:avLst/>
              </a:prstGeom>
              <a:blipFill>
                <a:blip r:embed="rId5"/>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10CBD45-F7C6-C404-C6BB-4D1263FA55BA}"/>
                  </a:ext>
                </a:extLst>
              </p:cNvPr>
              <p:cNvSpPr txBox="1"/>
              <p:nvPr/>
            </p:nvSpPr>
            <p:spPr>
              <a:xfrm>
                <a:off x="6015" y="5086208"/>
                <a:ext cx="8566484" cy="369332"/>
              </a:xfrm>
              <a:prstGeom prst="rect">
                <a:avLst/>
              </a:prstGeom>
              <a:noFill/>
            </p:spPr>
            <p:txBody>
              <a:bodyPr wrap="square" rtlCol="0">
                <a:spAutoFit/>
              </a:bodyPr>
              <a:lstStyle/>
              <a:p>
                <a14:m>
                  <m:oMath xmlns:m="http://schemas.openxmlformats.org/officeDocument/2006/math">
                    <m:r>
                      <m:rPr>
                        <m:nor/>
                      </m:rPr>
                      <a:rPr lang="fr-FR" dirty="0" smtClean="0">
                        <a:solidFill>
                          <a:srgbClr val="92D050"/>
                        </a:solidFill>
                      </a:rPr>
                      <m:t>µ∆</m:t>
                    </m:r>
                    <m:r>
                      <m:rPr>
                        <m:nor/>
                      </m:rPr>
                      <a:rPr lang="fr-FR" dirty="0" smtClean="0">
                        <a:solidFill>
                          <a:srgbClr val="92D050"/>
                        </a:solidFill>
                      </a:rPr>
                      <m:t>P</m:t>
                    </m:r>
                    <m:r>
                      <m:rPr>
                        <m:nor/>
                      </m:rPr>
                      <a:rPr lang="fr-FR" dirty="0" smtClean="0">
                        <a:solidFill>
                          <a:srgbClr val="92D050"/>
                        </a:solidFill>
                      </a:rPr>
                      <m:t>(</m:t>
                    </m:r>
                    <m:r>
                      <m:rPr>
                        <m:nor/>
                      </m:rPr>
                      <a:rPr lang="fr-FR" dirty="0" smtClean="0">
                        <a:solidFill>
                          <a:srgbClr val="92D050"/>
                        </a:solidFill>
                      </a:rPr>
                      <m:t>t</m:t>
                    </m:r>
                    <m:r>
                      <m:rPr>
                        <m:nor/>
                      </m:rPr>
                      <a:rPr lang="fr-FR" dirty="0" smtClean="0">
                        <a:solidFill>
                          <a:srgbClr val="92D050"/>
                        </a:solidFill>
                      </a:rPr>
                      <m:t>)</m:t>
                    </m:r>
                    <m:r>
                      <a:rPr lang="en-US" b="0" i="0" dirty="0" smtClean="0">
                        <a:solidFill>
                          <a:srgbClr val="92D050"/>
                        </a:solidFill>
                        <a:latin typeface="Cambria Math" panose="02040503050406030204" pitchFamily="18" charset="0"/>
                      </a:rPr>
                      <m:t> </m:t>
                    </m:r>
                    <m:r>
                      <m:rPr>
                        <m:sty m:val="p"/>
                      </m:rPr>
                      <a:rPr lang="en-US" b="0" i="0" dirty="0" smtClean="0">
                        <a:latin typeface="Cambria Math" panose="02040503050406030204" pitchFamily="18" charset="0"/>
                      </a:rPr>
                      <m:t>i</m:t>
                    </m:r>
                  </m:oMath>
                </a14:m>
                <a:r>
                  <a:rPr lang="en-US" sz="1800" dirty="0"/>
                  <a:t>s </a:t>
                </a:r>
                <a:r>
                  <a:rPr lang="en-US" dirty="0">
                    <a:solidFill>
                      <a:srgbClr val="92D050"/>
                    </a:solidFill>
                  </a:rPr>
                  <a:t>Correction Effort</a:t>
                </a:r>
                <a:r>
                  <a:rPr lang="en-US" dirty="0"/>
                  <a:t>, or how responsive a team is to coaching or training</a:t>
                </a:r>
              </a:p>
            </p:txBody>
          </p:sp>
        </mc:Choice>
        <mc:Fallback xmlns="">
          <p:sp>
            <p:nvSpPr>
              <p:cNvPr id="17" name="TextBox 16">
                <a:extLst>
                  <a:ext uri="{FF2B5EF4-FFF2-40B4-BE49-F238E27FC236}">
                    <a16:creationId xmlns:a16="http://schemas.microsoft.com/office/drawing/2014/main" id="{310CBD45-F7C6-C404-C6BB-4D1263FA55BA}"/>
                  </a:ext>
                </a:extLst>
              </p:cNvPr>
              <p:cNvSpPr txBox="1">
                <a:spLocks noRot="1" noChangeAspect="1" noMove="1" noResize="1" noEditPoints="1" noAdjustHandles="1" noChangeArrowheads="1" noChangeShapeType="1" noTextEdit="1"/>
              </p:cNvSpPr>
              <p:nvPr/>
            </p:nvSpPr>
            <p:spPr>
              <a:xfrm>
                <a:off x="6015" y="5086208"/>
                <a:ext cx="8566484" cy="369332"/>
              </a:xfrm>
              <a:prstGeom prst="rect">
                <a:avLst/>
              </a:prstGeom>
              <a:blipFill>
                <a:blip r:embed="rId6"/>
                <a:stretch>
                  <a:fillRect l="-214" t="-8197" b="-24590"/>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C9DCE7E2-1B24-E26F-AA4E-DAB54502B931}"/>
              </a:ext>
            </a:extLst>
          </p:cNvPr>
          <p:cNvSpPr txBox="1"/>
          <p:nvPr/>
        </p:nvSpPr>
        <p:spPr>
          <a:xfrm>
            <a:off x="7026442" y="152996"/>
            <a:ext cx="5165558" cy="1200329"/>
          </a:xfrm>
          <a:prstGeom prst="rect">
            <a:avLst/>
          </a:prstGeom>
          <a:noFill/>
        </p:spPr>
        <p:txBody>
          <a:bodyPr wrap="square" rtlCol="0">
            <a:spAutoFit/>
          </a:bodyPr>
          <a:lstStyle/>
          <a:p>
            <a:r>
              <a:rPr lang="en-US" dirty="0"/>
              <a:t>Framing in this context arises from fractal management principles, and allows us to frame any collection of employees working together in math terms</a:t>
            </a:r>
          </a:p>
        </p:txBody>
      </p:sp>
      <p:sp>
        <p:nvSpPr>
          <p:cNvPr id="22" name="TextBox 21">
            <a:extLst>
              <a:ext uri="{FF2B5EF4-FFF2-40B4-BE49-F238E27FC236}">
                <a16:creationId xmlns:a16="http://schemas.microsoft.com/office/drawing/2014/main" id="{597905DD-5F96-C926-29BE-B52135118A57}"/>
              </a:ext>
            </a:extLst>
          </p:cNvPr>
          <p:cNvSpPr txBox="1"/>
          <p:nvPr/>
        </p:nvSpPr>
        <p:spPr>
          <a:xfrm>
            <a:off x="7026442" y="1402460"/>
            <a:ext cx="5165558" cy="923330"/>
          </a:xfrm>
          <a:prstGeom prst="rect">
            <a:avLst/>
          </a:prstGeom>
          <a:noFill/>
        </p:spPr>
        <p:txBody>
          <a:bodyPr wrap="square" rtlCol="0">
            <a:spAutoFit/>
          </a:bodyPr>
          <a:lstStyle/>
          <a:p>
            <a:r>
              <a:rPr lang="en-US" dirty="0"/>
              <a:t>Aligning the frames to motion within a performance and monetization space naturalizes the equations to what we’re after</a:t>
            </a:r>
          </a:p>
        </p:txBody>
      </p:sp>
      <p:sp>
        <p:nvSpPr>
          <p:cNvPr id="3" name="TextBox 2">
            <a:extLst>
              <a:ext uri="{FF2B5EF4-FFF2-40B4-BE49-F238E27FC236}">
                <a16:creationId xmlns:a16="http://schemas.microsoft.com/office/drawing/2014/main" id="{46FA1D14-A426-A2A6-825C-3A3118C25BF6}"/>
              </a:ext>
            </a:extLst>
          </p:cNvPr>
          <p:cNvSpPr txBox="1"/>
          <p:nvPr/>
        </p:nvSpPr>
        <p:spPr>
          <a:xfrm>
            <a:off x="150394" y="1436186"/>
            <a:ext cx="6876048" cy="1077218"/>
          </a:xfrm>
          <a:prstGeom prst="rect">
            <a:avLst/>
          </a:prstGeom>
          <a:noFill/>
        </p:spPr>
        <p:txBody>
          <a:bodyPr wrap="square" rtlCol="0">
            <a:spAutoFit/>
          </a:bodyPr>
          <a:lstStyle/>
          <a:p>
            <a:r>
              <a:rPr lang="en-US" sz="3200" dirty="0"/>
              <a:t>Framing Formula: Aligning Teams to Motion</a:t>
            </a:r>
          </a:p>
        </p:txBody>
      </p:sp>
    </p:spTree>
    <p:extLst>
      <p:ext uri="{BB962C8B-B14F-4D97-AF65-F5344CB8AC3E}">
        <p14:creationId xmlns:p14="http://schemas.microsoft.com/office/powerpoint/2010/main" val="3047011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6D577-D392-D707-E637-FB84E98D3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08841-6170-8123-2BB5-9DB6518F1F9F}"/>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Structure</a:t>
            </a:r>
          </a:p>
        </p:txBody>
      </p:sp>
      <p:sp>
        <p:nvSpPr>
          <p:cNvPr id="3" name="TextBox 2">
            <a:extLst>
              <a:ext uri="{FF2B5EF4-FFF2-40B4-BE49-F238E27FC236}">
                <a16:creationId xmlns:a16="http://schemas.microsoft.com/office/drawing/2014/main" id="{F7011E7D-4242-8C19-6EDA-C3E22AA2E83B}"/>
              </a:ext>
            </a:extLst>
          </p:cNvPr>
          <p:cNvSpPr txBox="1"/>
          <p:nvPr/>
        </p:nvSpPr>
        <p:spPr>
          <a:xfrm>
            <a:off x="144378" y="1450306"/>
            <a:ext cx="5165558" cy="646331"/>
          </a:xfrm>
          <a:prstGeom prst="rect">
            <a:avLst/>
          </a:prstGeom>
          <a:noFill/>
        </p:spPr>
        <p:txBody>
          <a:bodyPr wrap="square" rtlCol="0">
            <a:spAutoFit/>
          </a:bodyPr>
          <a:lstStyle/>
          <a:p>
            <a:r>
              <a:rPr lang="en-US" dirty="0"/>
              <a:t>We now define what a </a:t>
            </a:r>
            <a:r>
              <a:rPr lang="en-US" dirty="0">
                <a:solidFill>
                  <a:srgbClr val="FF3300"/>
                </a:solidFill>
              </a:rPr>
              <a:t>Frame</a:t>
            </a:r>
            <a:r>
              <a:rPr lang="en-US" dirty="0"/>
              <a:t> is, what a </a:t>
            </a:r>
            <a:r>
              <a:rPr lang="en-US" dirty="0">
                <a:solidFill>
                  <a:srgbClr val="FFC000"/>
                </a:solidFill>
              </a:rPr>
              <a:t>Nodule</a:t>
            </a:r>
            <a:r>
              <a:rPr lang="en-US" dirty="0"/>
              <a:t> is and how each </a:t>
            </a:r>
            <a:r>
              <a:rPr lang="en-US" dirty="0">
                <a:solidFill>
                  <a:srgbClr val="FFC000"/>
                </a:solidFill>
              </a:rPr>
              <a:t>Nodule</a:t>
            </a:r>
            <a:r>
              <a:rPr lang="en-US" dirty="0"/>
              <a:t> type works:</a:t>
            </a:r>
          </a:p>
        </p:txBody>
      </p:sp>
      <p:sp>
        <p:nvSpPr>
          <p:cNvPr id="4" name="TextBox 3">
            <a:extLst>
              <a:ext uri="{FF2B5EF4-FFF2-40B4-BE49-F238E27FC236}">
                <a16:creationId xmlns:a16="http://schemas.microsoft.com/office/drawing/2014/main" id="{67BB0A6E-6EB9-A094-3D22-17262BF2E823}"/>
              </a:ext>
            </a:extLst>
          </p:cNvPr>
          <p:cNvSpPr txBox="1"/>
          <p:nvPr/>
        </p:nvSpPr>
        <p:spPr>
          <a:xfrm>
            <a:off x="0" y="6211669"/>
            <a:ext cx="5165558" cy="646331"/>
          </a:xfrm>
          <a:prstGeom prst="rect">
            <a:avLst/>
          </a:prstGeom>
          <a:noFill/>
        </p:spPr>
        <p:txBody>
          <a:bodyPr wrap="square" rtlCol="0">
            <a:spAutoFit/>
          </a:bodyPr>
          <a:lstStyle/>
          <a:p>
            <a:r>
              <a:rPr lang="en-US" dirty="0"/>
              <a:t>As a note, all meetings described in the framework are biweekly, meaning once every other week.</a:t>
            </a:r>
          </a:p>
        </p:txBody>
      </p:sp>
      <p:sp>
        <p:nvSpPr>
          <p:cNvPr id="6" name="TextBox 5">
            <a:extLst>
              <a:ext uri="{FF2B5EF4-FFF2-40B4-BE49-F238E27FC236}">
                <a16:creationId xmlns:a16="http://schemas.microsoft.com/office/drawing/2014/main" id="{A4465BB6-7FB6-138E-E512-9AA2DEA41710}"/>
              </a:ext>
            </a:extLst>
          </p:cNvPr>
          <p:cNvSpPr txBox="1"/>
          <p:nvPr/>
        </p:nvSpPr>
        <p:spPr>
          <a:xfrm>
            <a:off x="144378" y="2096637"/>
            <a:ext cx="4138863" cy="584775"/>
          </a:xfrm>
          <a:prstGeom prst="rect">
            <a:avLst/>
          </a:prstGeom>
          <a:noFill/>
        </p:spPr>
        <p:txBody>
          <a:bodyPr wrap="square" rtlCol="0">
            <a:spAutoFit/>
          </a:bodyPr>
          <a:lstStyle/>
          <a:p>
            <a:r>
              <a:rPr lang="en-US" sz="3200" dirty="0"/>
              <a:t>Interface </a:t>
            </a:r>
            <a:r>
              <a:rPr lang="en-US" sz="3200" dirty="0">
                <a:solidFill>
                  <a:srgbClr val="FFC000"/>
                </a:solidFill>
              </a:rPr>
              <a:t>Nodule</a:t>
            </a:r>
          </a:p>
        </p:txBody>
      </p:sp>
      <p:sp>
        <p:nvSpPr>
          <p:cNvPr id="7" name="TextBox 6">
            <a:extLst>
              <a:ext uri="{FF2B5EF4-FFF2-40B4-BE49-F238E27FC236}">
                <a16:creationId xmlns:a16="http://schemas.microsoft.com/office/drawing/2014/main" id="{ACF080B2-3DC6-1582-8EF8-D7079F1E0BB1}"/>
              </a:ext>
            </a:extLst>
          </p:cNvPr>
          <p:cNvSpPr txBox="1"/>
          <p:nvPr/>
        </p:nvSpPr>
        <p:spPr>
          <a:xfrm>
            <a:off x="144378" y="2681412"/>
            <a:ext cx="4138863" cy="584775"/>
          </a:xfrm>
          <a:prstGeom prst="rect">
            <a:avLst/>
          </a:prstGeom>
          <a:noFill/>
        </p:spPr>
        <p:txBody>
          <a:bodyPr wrap="square" rtlCol="0">
            <a:spAutoFit/>
          </a:bodyPr>
          <a:lstStyle/>
          <a:p>
            <a:r>
              <a:rPr lang="en-US" sz="3200" dirty="0"/>
              <a:t>Feedback </a:t>
            </a:r>
            <a:r>
              <a:rPr lang="en-US" sz="3200" dirty="0">
                <a:solidFill>
                  <a:srgbClr val="FFC000"/>
                </a:solidFill>
              </a:rPr>
              <a:t>Nodule</a:t>
            </a:r>
          </a:p>
        </p:txBody>
      </p:sp>
      <p:sp>
        <p:nvSpPr>
          <p:cNvPr id="9" name="TextBox 8">
            <a:extLst>
              <a:ext uri="{FF2B5EF4-FFF2-40B4-BE49-F238E27FC236}">
                <a16:creationId xmlns:a16="http://schemas.microsoft.com/office/drawing/2014/main" id="{E177FA34-98AD-5417-AE91-7056417BEE45}"/>
              </a:ext>
            </a:extLst>
          </p:cNvPr>
          <p:cNvSpPr txBox="1"/>
          <p:nvPr/>
        </p:nvSpPr>
        <p:spPr>
          <a:xfrm>
            <a:off x="144378" y="3266187"/>
            <a:ext cx="4138863" cy="584775"/>
          </a:xfrm>
          <a:prstGeom prst="rect">
            <a:avLst/>
          </a:prstGeom>
          <a:noFill/>
        </p:spPr>
        <p:txBody>
          <a:bodyPr wrap="square" rtlCol="0">
            <a:spAutoFit/>
          </a:bodyPr>
          <a:lstStyle/>
          <a:p>
            <a:r>
              <a:rPr lang="en-US" sz="3200" dirty="0"/>
              <a:t>Support </a:t>
            </a:r>
            <a:r>
              <a:rPr lang="en-US" sz="3200" dirty="0">
                <a:solidFill>
                  <a:srgbClr val="FFC000"/>
                </a:solidFill>
              </a:rPr>
              <a:t>Nodules </a:t>
            </a:r>
            <a:r>
              <a:rPr lang="en-US" sz="3200" dirty="0"/>
              <a:t>(x1-2)</a:t>
            </a:r>
          </a:p>
        </p:txBody>
      </p:sp>
      <p:sp>
        <p:nvSpPr>
          <p:cNvPr id="13" name="TextBox 12">
            <a:extLst>
              <a:ext uri="{FF2B5EF4-FFF2-40B4-BE49-F238E27FC236}">
                <a16:creationId xmlns:a16="http://schemas.microsoft.com/office/drawing/2014/main" id="{138768D8-C1F8-61BA-8036-853EC0FFC10E}"/>
              </a:ext>
            </a:extLst>
          </p:cNvPr>
          <p:cNvSpPr txBox="1"/>
          <p:nvPr/>
        </p:nvSpPr>
        <p:spPr>
          <a:xfrm>
            <a:off x="144377" y="3850962"/>
            <a:ext cx="4138863" cy="584775"/>
          </a:xfrm>
          <a:prstGeom prst="rect">
            <a:avLst/>
          </a:prstGeom>
          <a:noFill/>
        </p:spPr>
        <p:txBody>
          <a:bodyPr wrap="square" rtlCol="0">
            <a:spAutoFit/>
          </a:bodyPr>
          <a:lstStyle/>
          <a:p>
            <a:r>
              <a:rPr lang="en-US" sz="3200" dirty="0"/>
              <a:t>Core </a:t>
            </a:r>
            <a:r>
              <a:rPr lang="en-US" sz="3200" dirty="0">
                <a:solidFill>
                  <a:srgbClr val="FFC000"/>
                </a:solidFill>
              </a:rPr>
              <a:t>Nodules </a:t>
            </a:r>
            <a:r>
              <a:rPr lang="en-US" sz="3200" dirty="0"/>
              <a:t>(x3)</a:t>
            </a:r>
          </a:p>
        </p:txBody>
      </p:sp>
    </p:spTree>
    <p:extLst>
      <p:ext uri="{BB962C8B-B14F-4D97-AF65-F5344CB8AC3E}">
        <p14:creationId xmlns:p14="http://schemas.microsoft.com/office/powerpoint/2010/main" val="925232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8C00-8BF5-332E-6FE4-8524CC4EA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9C15E-D4EA-67A1-E04A-75C7B96AD419}"/>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Structure</a:t>
            </a:r>
          </a:p>
        </p:txBody>
      </p:sp>
      <p:sp>
        <p:nvSpPr>
          <p:cNvPr id="10" name="TextBox 9">
            <a:extLst>
              <a:ext uri="{FF2B5EF4-FFF2-40B4-BE49-F238E27FC236}">
                <a16:creationId xmlns:a16="http://schemas.microsoft.com/office/drawing/2014/main" id="{F9BCFFA1-BC14-E48D-D7BD-B66EA03B848D}"/>
              </a:ext>
            </a:extLst>
          </p:cNvPr>
          <p:cNvSpPr txBox="1"/>
          <p:nvPr/>
        </p:nvSpPr>
        <p:spPr>
          <a:xfrm>
            <a:off x="150394" y="1436186"/>
            <a:ext cx="4138863" cy="584775"/>
          </a:xfrm>
          <a:prstGeom prst="rect">
            <a:avLst/>
          </a:prstGeom>
          <a:noFill/>
        </p:spPr>
        <p:txBody>
          <a:bodyPr wrap="square" rtlCol="0">
            <a:spAutoFit/>
          </a:bodyPr>
          <a:lstStyle/>
          <a:p>
            <a:r>
              <a:rPr lang="en-US" sz="3200" dirty="0">
                <a:solidFill>
                  <a:srgbClr val="EE0000"/>
                </a:solidFill>
              </a:rPr>
              <a:t>Frames</a:t>
            </a:r>
            <a:r>
              <a:rPr lang="en-US" sz="3200" dirty="0"/>
              <a:t> &amp; </a:t>
            </a:r>
            <a:r>
              <a:rPr lang="en-US" sz="3200" dirty="0">
                <a:solidFill>
                  <a:srgbClr val="FFC000"/>
                </a:solidFill>
              </a:rPr>
              <a:t>Nodules</a:t>
            </a:r>
          </a:p>
        </p:txBody>
      </p:sp>
      <p:sp>
        <p:nvSpPr>
          <p:cNvPr id="21" name="TextBox 20">
            <a:extLst>
              <a:ext uri="{FF2B5EF4-FFF2-40B4-BE49-F238E27FC236}">
                <a16:creationId xmlns:a16="http://schemas.microsoft.com/office/drawing/2014/main" id="{0F76203B-95C0-E98E-365C-A873F82F8EED}"/>
              </a:ext>
            </a:extLst>
          </p:cNvPr>
          <p:cNvSpPr txBox="1"/>
          <p:nvPr/>
        </p:nvSpPr>
        <p:spPr>
          <a:xfrm>
            <a:off x="144378" y="2109862"/>
            <a:ext cx="5951622" cy="923330"/>
          </a:xfrm>
          <a:prstGeom prst="rect">
            <a:avLst/>
          </a:prstGeom>
          <a:noFill/>
        </p:spPr>
        <p:txBody>
          <a:bodyPr wrap="square" rtlCol="0">
            <a:spAutoFit/>
          </a:bodyPr>
          <a:lstStyle/>
          <a:p>
            <a:r>
              <a:rPr lang="en-US" dirty="0">
                <a:solidFill>
                  <a:srgbClr val="FFC000"/>
                </a:solidFill>
              </a:rPr>
              <a:t>Nodules</a:t>
            </a:r>
            <a:r>
              <a:rPr lang="en-US" dirty="0"/>
              <a:t> are individuals, reporting tools that act autonomously and anything else that contributes information to the system such as automatic agents, etc.</a:t>
            </a:r>
          </a:p>
        </p:txBody>
      </p:sp>
      <p:sp>
        <p:nvSpPr>
          <p:cNvPr id="3" name="TextBox 2">
            <a:extLst>
              <a:ext uri="{FF2B5EF4-FFF2-40B4-BE49-F238E27FC236}">
                <a16:creationId xmlns:a16="http://schemas.microsoft.com/office/drawing/2014/main" id="{60939B82-0A22-BC20-B8B5-0385230DF40A}"/>
              </a:ext>
            </a:extLst>
          </p:cNvPr>
          <p:cNvSpPr txBox="1"/>
          <p:nvPr/>
        </p:nvSpPr>
        <p:spPr>
          <a:xfrm>
            <a:off x="144378" y="3304151"/>
            <a:ext cx="5951622" cy="1200329"/>
          </a:xfrm>
          <a:prstGeom prst="rect">
            <a:avLst/>
          </a:prstGeom>
          <a:noFill/>
        </p:spPr>
        <p:txBody>
          <a:bodyPr wrap="square" rtlCol="0">
            <a:spAutoFit/>
          </a:bodyPr>
          <a:lstStyle/>
          <a:p>
            <a:r>
              <a:rPr lang="en-US" dirty="0">
                <a:solidFill>
                  <a:srgbClr val="FF3300"/>
                </a:solidFill>
              </a:rPr>
              <a:t>Frames</a:t>
            </a:r>
            <a:r>
              <a:rPr lang="en-US" dirty="0"/>
              <a:t> are groups of </a:t>
            </a:r>
            <a:r>
              <a:rPr lang="en-US" dirty="0">
                <a:solidFill>
                  <a:srgbClr val="FFC000"/>
                </a:solidFill>
              </a:rPr>
              <a:t>nodules</a:t>
            </a:r>
            <a:r>
              <a:rPr lang="en-US" dirty="0"/>
              <a:t>. Think about holding an empty physical </a:t>
            </a:r>
            <a:r>
              <a:rPr lang="en-US" dirty="0">
                <a:solidFill>
                  <a:srgbClr val="FF3300"/>
                </a:solidFill>
              </a:rPr>
              <a:t>frame</a:t>
            </a:r>
            <a:r>
              <a:rPr lang="en-US" dirty="0"/>
              <a:t> and pointing it at a crowd. The “</a:t>
            </a:r>
            <a:r>
              <a:rPr lang="en-US" dirty="0">
                <a:solidFill>
                  <a:srgbClr val="FFC000"/>
                </a:solidFill>
              </a:rPr>
              <a:t>nodules</a:t>
            </a:r>
            <a:r>
              <a:rPr lang="en-US" dirty="0"/>
              <a:t>” in the physical </a:t>
            </a:r>
            <a:r>
              <a:rPr lang="en-US" dirty="0">
                <a:solidFill>
                  <a:srgbClr val="FF3300"/>
                </a:solidFill>
              </a:rPr>
              <a:t>frame</a:t>
            </a:r>
            <a:r>
              <a:rPr lang="en-US" dirty="0"/>
              <a:t> are literally </a:t>
            </a:r>
            <a:r>
              <a:rPr lang="en-US" dirty="0">
                <a:solidFill>
                  <a:srgbClr val="FF3300"/>
                </a:solidFill>
              </a:rPr>
              <a:t>framed</a:t>
            </a:r>
            <a:r>
              <a:rPr lang="en-US" dirty="0"/>
              <a:t> just like their performance might be in this context.</a:t>
            </a:r>
          </a:p>
        </p:txBody>
      </p:sp>
      <p:sp>
        <p:nvSpPr>
          <p:cNvPr id="4" name="TextBox 3">
            <a:extLst>
              <a:ext uri="{FF2B5EF4-FFF2-40B4-BE49-F238E27FC236}">
                <a16:creationId xmlns:a16="http://schemas.microsoft.com/office/drawing/2014/main" id="{501A4FC1-0CBA-416F-937B-F3CB19357805}"/>
              </a:ext>
            </a:extLst>
          </p:cNvPr>
          <p:cNvSpPr txBox="1"/>
          <p:nvPr/>
        </p:nvSpPr>
        <p:spPr>
          <a:xfrm>
            <a:off x="144378" y="4775439"/>
            <a:ext cx="5951622" cy="646331"/>
          </a:xfrm>
          <a:prstGeom prst="rect">
            <a:avLst/>
          </a:prstGeom>
          <a:noFill/>
        </p:spPr>
        <p:txBody>
          <a:bodyPr wrap="square" rtlCol="0">
            <a:spAutoFit/>
          </a:bodyPr>
          <a:lstStyle/>
          <a:p>
            <a:r>
              <a:rPr lang="en-US" dirty="0"/>
              <a:t>Interlinked groups of </a:t>
            </a:r>
            <a:r>
              <a:rPr lang="en-US" dirty="0">
                <a:solidFill>
                  <a:srgbClr val="FFC000"/>
                </a:solidFill>
              </a:rPr>
              <a:t>nodules</a:t>
            </a:r>
            <a:r>
              <a:rPr lang="en-US" dirty="0"/>
              <a:t> aligned by </a:t>
            </a:r>
            <a:r>
              <a:rPr lang="en-US" dirty="0">
                <a:solidFill>
                  <a:srgbClr val="FF3300"/>
                </a:solidFill>
              </a:rPr>
              <a:t>frames</a:t>
            </a:r>
            <a:r>
              <a:rPr lang="en-US" dirty="0"/>
              <a:t> are simply organizations, just like they are now.</a:t>
            </a:r>
          </a:p>
        </p:txBody>
      </p:sp>
      <p:sp>
        <p:nvSpPr>
          <p:cNvPr id="5" name="TextBox 4">
            <a:extLst>
              <a:ext uri="{FF2B5EF4-FFF2-40B4-BE49-F238E27FC236}">
                <a16:creationId xmlns:a16="http://schemas.microsoft.com/office/drawing/2014/main" id="{369562D1-514D-53C6-3AE8-68BDEB92DB42}"/>
              </a:ext>
            </a:extLst>
          </p:cNvPr>
          <p:cNvSpPr txBox="1"/>
          <p:nvPr/>
        </p:nvSpPr>
        <p:spPr>
          <a:xfrm>
            <a:off x="144378" y="5692729"/>
            <a:ext cx="5951622" cy="646331"/>
          </a:xfrm>
          <a:prstGeom prst="rect">
            <a:avLst/>
          </a:prstGeom>
          <a:noFill/>
        </p:spPr>
        <p:txBody>
          <a:bodyPr wrap="square" rtlCol="0">
            <a:spAutoFit/>
          </a:bodyPr>
          <a:lstStyle/>
          <a:p>
            <a:r>
              <a:rPr lang="en-US" dirty="0"/>
              <a:t>I’ve identified 7 as the correct number of individuals to have in a </a:t>
            </a:r>
            <a:r>
              <a:rPr lang="en-US" dirty="0">
                <a:solidFill>
                  <a:srgbClr val="FF3300"/>
                </a:solidFill>
              </a:rPr>
              <a:t>Frame</a:t>
            </a:r>
            <a:r>
              <a:rPr lang="en-US" dirty="0"/>
              <a:t> via mathematical regression.</a:t>
            </a:r>
          </a:p>
        </p:txBody>
      </p:sp>
    </p:spTree>
    <p:extLst>
      <p:ext uri="{BB962C8B-B14F-4D97-AF65-F5344CB8AC3E}">
        <p14:creationId xmlns:p14="http://schemas.microsoft.com/office/powerpoint/2010/main" val="394754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18D01-9F06-2CA6-4007-D8CAC9AD2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C3ADB-5055-7A0F-0D0F-6C76E4ACCF23}"/>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Structure</a:t>
            </a:r>
          </a:p>
        </p:txBody>
      </p:sp>
      <p:sp>
        <p:nvSpPr>
          <p:cNvPr id="10" name="TextBox 9">
            <a:extLst>
              <a:ext uri="{FF2B5EF4-FFF2-40B4-BE49-F238E27FC236}">
                <a16:creationId xmlns:a16="http://schemas.microsoft.com/office/drawing/2014/main" id="{4EC990DE-4731-8518-8FC0-17F8BFE9845D}"/>
              </a:ext>
            </a:extLst>
          </p:cNvPr>
          <p:cNvSpPr txBox="1"/>
          <p:nvPr/>
        </p:nvSpPr>
        <p:spPr>
          <a:xfrm>
            <a:off x="150394" y="1436186"/>
            <a:ext cx="4138863" cy="584775"/>
          </a:xfrm>
          <a:prstGeom prst="rect">
            <a:avLst/>
          </a:prstGeom>
          <a:noFill/>
        </p:spPr>
        <p:txBody>
          <a:bodyPr wrap="square" rtlCol="0">
            <a:spAutoFit/>
          </a:bodyPr>
          <a:lstStyle/>
          <a:p>
            <a:r>
              <a:rPr lang="en-US" sz="3200" dirty="0"/>
              <a:t>Interface </a:t>
            </a:r>
            <a:r>
              <a:rPr lang="en-US" sz="3200" dirty="0">
                <a:solidFill>
                  <a:srgbClr val="FFC000"/>
                </a:solidFill>
              </a:rPr>
              <a:t>Nodule</a:t>
            </a:r>
          </a:p>
        </p:txBody>
      </p:sp>
      <p:sp>
        <p:nvSpPr>
          <p:cNvPr id="21" name="TextBox 20">
            <a:extLst>
              <a:ext uri="{FF2B5EF4-FFF2-40B4-BE49-F238E27FC236}">
                <a16:creationId xmlns:a16="http://schemas.microsoft.com/office/drawing/2014/main" id="{CED72BFE-F889-93EF-E22B-27A74C440F05}"/>
              </a:ext>
            </a:extLst>
          </p:cNvPr>
          <p:cNvSpPr txBox="1"/>
          <p:nvPr/>
        </p:nvSpPr>
        <p:spPr>
          <a:xfrm>
            <a:off x="144378" y="2550382"/>
            <a:ext cx="5951622" cy="369332"/>
          </a:xfrm>
          <a:prstGeom prst="rect">
            <a:avLst/>
          </a:prstGeom>
          <a:noFill/>
        </p:spPr>
        <p:txBody>
          <a:bodyPr wrap="square" rtlCol="0">
            <a:spAutoFit/>
          </a:bodyPr>
          <a:lstStyle/>
          <a:p>
            <a:r>
              <a:rPr lang="en-US" dirty="0"/>
              <a:t>We liken this to a “manager” but does not need to hold title.</a:t>
            </a:r>
          </a:p>
        </p:txBody>
      </p:sp>
      <p:sp>
        <p:nvSpPr>
          <p:cNvPr id="3" name="TextBox 2">
            <a:extLst>
              <a:ext uri="{FF2B5EF4-FFF2-40B4-BE49-F238E27FC236}">
                <a16:creationId xmlns:a16="http://schemas.microsoft.com/office/drawing/2014/main" id="{CA53353F-7691-6D02-EF5A-C056448D30D5}"/>
              </a:ext>
            </a:extLst>
          </p:cNvPr>
          <p:cNvSpPr txBox="1"/>
          <p:nvPr/>
        </p:nvSpPr>
        <p:spPr>
          <a:xfrm>
            <a:off x="144378" y="3135633"/>
            <a:ext cx="5951622" cy="1200329"/>
          </a:xfrm>
          <a:prstGeom prst="rect">
            <a:avLst/>
          </a:prstGeom>
          <a:noFill/>
        </p:spPr>
        <p:txBody>
          <a:bodyPr wrap="square" rtlCol="0">
            <a:spAutoFit/>
          </a:bodyPr>
          <a:lstStyle/>
          <a:p>
            <a:r>
              <a:rPr lang="en-US" dirty="0"/>
              <a:t>This </a:t>
            </a:r>
            <a:r>
              <a:rPr lang="en-US" dirty="0">
                <a:solidFill>
                  <a:srgbClr val="FFC000"/>
                </a:solidFill>
              </a:rPr>
              <a:t>Nodule</a:t>
            </a:r>
            <a:r>
              <a:rPr lang="en-US" dirty="0"/>
              <a:t> links the </a:t>
            </a:r>
            <a:r>
              <a:rPr lang="en-US" dirty="0">
                <a:solidFill>
                  <a:srgbClr val="FF3300"/>
                </a:solidFill>
              </a:rPr>
              <a:t>Frame</a:t>
            </a:r>
            <a:r>
              <a:rPr lang="en-US" dirty="0"/>
              <a:t> with the organization at large. This might mean doing things like coordinating with operations leaders for incentives, making announcements and doing performance callouts.</a:t>
            </a:r>
          </a:p>
        </p:txBody>
      </p:sp>
      <p:sp>
        <p:nvSpPr>
          <p:cNvPr id="4" name="TextBox 3">
            <a:extLst>
              <a:ext uri="{FF2B5EF4-FFF2-40B4-BE49-F238E27FC236}">
                <a16:creationId xmlns:a16="http://schemas.microsoft.com/office/drawing/2014/main" id="{9BDE7FAC-3DDF-45AA-2992-050C0CDC8728}"/>
              </a:ext>
            </a:extLst>
          </p:cNvPr>
          <p:cNvSpPr txBox="1"/>
          <p:nvPr/>
        </p:nvSpPr>
        <p:spPr>
          <a:xfrm>
            <a:off x="144378" y="4504806"/>
            <a:ext cx="5951622" cy="646331"/>
          </a:xfrm>
          <a:prstGeom prst="rect">
            <a:avLst/>
          </a:prstGeom>
          <a:noFill/>
        </p:spPr>
        <p:txBody>
          <a:bodyPr wrap="square" rtlCol="0">
            <a:spAutoFit/>
          </a:bodyPr>
          <a:lstStyle/>
          <a:p>
            <a:r>
              <a:rPr lang="en-US" dirty="0"/>
              <a:t>This is called the “signal bridge” and gives a clear and consistent messaging platform for </a:t>
            </a:r>
            <a:r>
              <a:rPr lang="en-US" dirty="0">
                <a:solidFill>
                  <a:srgbClr val="FF3300"/>
                </a:solidFill>
              </a:rPr>
              <a:t>Frames</a:t>
            </a:r>
            <a:r>
              <a:rPr lang="en-US" dirty="0"/>
              <a:t> to follow.</a:t>
            </a:r>
          </a:p>
        </p:txBody>
      </p:sp>
      <p:sp>
        <p:nvSpPr>
          <p:cNvPr id="6" name="TextBox 5">
            <a:extLst>
              <a:ext uri="{FF2B5EF4-FFF2-40B4-BE49-F238E27FC236}">
                <a16:creationId xmlns:a16="http://schemas.microsoft.com/office/drawing/2014/main" id="{8DCC95C5-FB24-2778-4695-F077BE0EE9E8}"/>
              </a:ext>
            </a:extLst>
          </p:cNvPr>
          <p:cNvSpPr txBox="1"/>
          <p:nvPr/>
        </p:nvSpPr>
        <p:spPr>
          <a:xfrm>
            <a:off x="144378" y="5319982"/>
            <a:ext cx="5951622" cy="1200329"/>
          </a:xfrm>
          <a:prstGeom prst="rect">
            <a:avLst/>
          </a:prstGeom>
          <a:noFill/>
        </p:spPr>
        <p:txBody>
          <a:bodyPr wrap="square" rtlCol="0">
            <a:spAutoFit/>
          </a:bodyPr>
          <a:lstStyle/>
          <a:p>
            <a:r>
              <a:rPr lang="en-US" dirty="0"/>
              <a:t>Interface </a:t>
            </a:r>
            <a:r>
              <a:rPr lang="en-US" dirty="0">
                <a:solidFill>
                  <a:srgbClr val="FFC000"/>
                </a:solidFill>
              </a:rPr>
              <a:t>Nodules</a:t>
            </a:r>
            <a:r>
              <a:rPr lang="en-US" dirty="0"/>
              <a:t> earn their positions by driving good performance from their </a:t>
            </a:r>
            <a:r>
              <a:rPr lang="en-US" dirty="0">
                <a:solidFill>
                  <a:srgbClr val="FF3300"/>
                </a:solidFill>
              </a:rPr>
              <a:t>Frames</a:t>
            </a:r>
            <a:r>
              <a:rPr lang="en-US" dirty="0"/>
              <a:t>. This could be driving the other </a:t>
            </a:r>
            <a:r>
              <a:rPr lang="en-US" dirty="0">
                <a:solidFill>
                  <a:srgbClr val="FFC000"/>
                </a:solidFill>
              </a:rPr>
              <a:t>Nodules</a:t>
            </a:r>
            <a:r>
              <a:rPr lang="en-US" dirty="0"/>
              <a:t> via good research or contributing themselves to the performance of the </a:t>
            </a:r>
            <a:r>
              <a:rPr lang="en-US" dirty="0">
                <a:solidFill>
                  <a:srgbClr val="FF3300"/>
                </a:solidFill>
              </a:rPr>
              <a:t>Frame</a:t>
            </a:r>
            <a:r>
              <a:rPr lang="en-US" dirty="0"/>
              <a:t>.</a:t>
            </a:r>
          </a:p>
        </p:txBody>
      </p:sp>
      <p:sp>
        <p:nvSpPr>
          <p:cNvPr id="7" name="TextBox 6">
            <a:extLst>
              <a:ext uri="{FF2B5EF4-FFF2-40B4-BE49-F238E27FC236}">
                <a16:creationId xmlns:a16="http://schemas.microsoft.com/office/drawing/2014/main" id="{1A18BE66-87C0-5F18-5696-4A500F87B4B7}"/>
              </a:ext>
            </a:extLst>
          </p:cNvPr>
          <p:cNvSpPr txBox="1"/>
          <p:nvPr/>
        </p:nvSpPr>
        <p:spPr>
          <a:xfrm>
            <a:off x="7303167" y="1559296"/>
            <a:ext cx="4888833" cy="1200329"/>
          </a:xfrm>
          <a:prstGeom prst="rect">
            <a:avLst/>
          </a:prstGeom>
          <a:noFill/>
        </p:spPr>
        <p:txBody>
          <a:bodyPr wrap="square" rtlCol="0">
            <a:spAutoFit/>
          </a:bodyPr>
          <a:lstStyle/>
          <a:p>
            <a:r>
              <a:rPr lang="en-US" dirty="0"/>
              <a:t>Interface </a:t>
            </a:r>
            <a:r>
              <a:rPr lang="en-US" dirty="0">
                <a:solidFill>
                  <a:srgbClr val="FFC000"/>
                </a:solidFill>
              </a:rPr>
              <a:t>Nodules</a:t>
            </a:r>
            <a:r>
              <a:rPr lang="en-US" dirty="0"/>
              <a:t> that drive </a:t>
            </a:r>
            <a:r>
              <a:rPr lang="en-US" dirty="0">
                <a:solidFill>
                  <a:srgbClr val="FF3300"/>
                </a:solidFill>
              </a:rPr>
              <a:t>Frame</a:t>
            </a:r>
            <a:r>
              <a:rPr lang="en-US" dirty="0"/>
              <a:t> performance to the point of independence may then be promoted to “manager” and given more frames to interface.</a:t>
            </a:r>
          </a:p>
        </p:txBody>
      </p:sp>
    </p:spTree>
    <p:extLst>
      <p:ext uri="{BB962C8B-B14F-4D97-AF65-F5344CB8AC3E}">
        <p14:creationId xmlns:p14="http://schemas.microsoft.com/office/powerpoint/2010/main" val="1475376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3B288-6D8C-D3B6-B6EA-4505811D9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A6C4A3-174F-3782-90C8-79267404951A}"/>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Structure</a:t>
            </a:r>
          </a:p>
        </p:txBody>
      </p:sp>
      <p:sp>
        <p:nvSpPr>
          <p:cNvPr id="10" name="TextBox 9">
            <a:extLst>
              <a:ext uri="{FF2B5EF4-FFF2-40B4-BE49-F238E27FC236}">
                <a16:creationId xmlns:a16="http://schemas.microsoft.com/office/drawing/2014/main" id="{166FDC92-292B-A714-88F0-5F08A3C68498}"/>
              </a:ext>
            </a:extLst>
          </p:cNvPr>
          <p:cNvSpPr txBox="1"/>
          <p:nvPr/>
        </p:nvSpPr>
        <p:spPr>
          <a:xfrm>
            <a:off x="150394" y="1436186"/>
            <a:ext cx="4138863" cy="584775"/>
          </a:xfrm>
          <a:prstGeom prst="rect">
            <a:avLst/>
          </a:prstGeom>
          <a:noFill/>
        </p:spPr>
        <p:txBody>
          <a:bodyPr wrap="square" rtlCol="0">
            <a:spAutoFit/>
          </a:bodyPr>
          <a:lstStyle/>
          <a:p>
            <a:r>
              <a:rPr lang="en-US" sz="3200" dirty="0"/>
              <a:t>Feedback </a:t>
            </a:r>
            <a:r>
              <a:rPr lang="en-US" sz="3200" dirty="0">
                <a:solidFill>
                  <a:srgbClr val="FFC000"/>
                </a:solidFill>
              </a:rPr>
              <a:t>Nodule</a:t>
            </a:r>
          </a:p>
        </p:txBody>
      </p:sp>
      <p:sp>
        <p:nvSpPr>
          <p:cNvPr id="21" name="TextBox 20">
            <a:extLst>
              <a:ext uri="{FF2B5EF4-FFF2-40B4-BE49-F238E27FC236}">
                <a16:creationId xmlns:a16="http://schemas.microsoft.com/office/drawing/2014/main" id="{12DD1EC5-55E1-19C6-6E2B-A849D0628E1F}"/>
              </a:ext>
            </a:extLst>
          </p:cNvPr>
          <p:cNvSpPr txBox="1"/>
          <p:nvPr/>
        </p:nvSpPr>
        <p:spPr>
          <a:xfrm>
            <a:off x="144378" y="2550382"/>
            <a:ext cx="5951622" cy="369332"/>
          </a:xfrm>
          <a:prstGeom prst="rect">
            <a:avLst/>
          </a:prstGeom>
          <a:noFill/>
        </p:spPr>
        <p:txBody>
          <a:bodyPr wrap="square" rtlCol="0">
            <a:spAutoFit/>
          </a:bodyPr>
          <a:lstStyle/>
          <a:p>
            <a:r>
              <a:rPr lang="en-US" dirty="0"/>
              <a:t>We liken this to an “analyst” but does not need to hold title.</a:t>
            </a:r>
          </a:p>
        </p:txBody>
      </p:sp>
      <p:sp>
        <p:nvSpPr>
          <p:cNvPr id="3" name="TextBox 2">
            <a:extLst>
              <a:ext uri="{FF2B5EF4-FFF2-40B4-BE49-F238E27FC236}">
                <a16:creationId xmlns:a16="http://schemas.microsoft.com/office/drawing/2014/main" id="{1FCD4FB5-E21F-97F7-7318-D6E345929DC2}"/>
              </a:ext>
            </a:extLst>
          </p:cNvPr>
          <p:cNvSpPr txBox="1"/>
          <p:nvPr/>
        </p:nvSpPr>
        <p:spPr>
          <a:xfrm>
            <a:off x="144378" y="3135633"/>
            <a:ext cx="5951622" cy="923330"/>
          </a:xfrm>
          <a:prstGeom prst="rect">
            <a:avLst/>
          </a:prstGeom>
          <a:noFill/>
        </p:spPr>
        <p:txBody>
          <a:bodyPr wrap="square" rtlCol="0">
            <a:spAutoFit/>
          </a:bodyPr>
          <a:lstStyle/>
          <a:p>
            <a:r>
              <a:rPr lang="en-US" dirty="0"/>
              <a:t>This </a:t>
            </a:r>
            <a:r>
              <a:rPr lang="en-US" dirty="0">
                <a:solidFill>
                  <a:srgbClr val="FFC000"/>
                </a:solidFill>
              </a:rPr>
              <a:t>Nodule</a:t>
            </a:r>
            <a:r>
              <a:rPr lang="en-US" dirty="0"/>
              <a:t> links the </a:t>
            </a:r>
            <a:r>
              <a:rPr lang="en-US" dirty="0">
                <a:solidFill>
                  <a:srgbClr val="FF3300"/>
                </a:solidFill>
              </a:rPr>
              <a:t>Frame</a:t>
            </a:r>
            <a:r>
              <a:rPr lang="en-US" dirty="0"/>
              <a:t> with </a:t>
            </a:r>
            <a:r>
              <a:rPr lang="en-US" dirty="0">
                <a:solidFill>
                  <a:srgbClr val="00B0F0"/>
                </a:solidFill>
              </a:rPr>
              <a:t>Time-Adherence</a:t>
            </a:r>
            <a:r>
              <a:rPr lang="en-US" dirty="0"/>
              <a:t>. This might mean doing things like simple dashboarding, announcing metric performance and finding the weak points in the team.</a:t>
            </a:r>
          </a:p>
        </p:txBody>
      </p:sp>
      <p:sp>
        <p:nvSpPr>
          <p:cNvPr id="4" name="TextBox 3">
            <a:extLst>
              <a:ext uri="{FF2B5EF4-FFF2-40B4-BE49-F238E27FC236}">
                <a16:creationId xmlns:a16="http://schemas.microsoft.com/office/drawing/2014/main" id="{7C6CF2AF-EDB4-1E74-E522-42C1C871BCA2}"/>
              </a:ext>
            </a:extLst>
          </p:cNvPr>
          <p:cNvSpPr txBox="1"/>
          <p:nvPr/>
        </p:nvSpPr>
        <p:spPr>
          <a:xfrm>
            <a:off x="144378" y="4274882"/>
            <a:ext cx="5951622" cy="923330"/>
          </a:xfrm>
          <a:prstGeom prst="rect">
            <a:avLst/>
          </a:prstGeom>
          <a:noFill/>
        </p:spPr>
        <p:txBody>
          <a:bodyPr wrap="square" rtlCol="0">
            <a:spAutoFit/>
          </a:bodyPr>
          <a:lstStyle/>
          <a:p>
            <a:r>
              <a:rPr lang="en-US" dirty="0"/>
              <a:t>This </a:t>
            </a:r>
            <a:r>
              <a:rPr lang="en-US" dirty="0">
                <a:solidFill>
                  <a:srgbClr val="FFC000"/>
                </a:solidFill>
              </a:rPr>
              <a:t>Nodule</a:t>
            </a:r>
            <a:r>
              <a:rPr lang="en-US" dirty="0"/>
              <a:t> looks at the bigger picture of other </a:t>
            </a:r>
            <a:r>
              <a:rPr lang="en-US" dirty="0">
                <a:solidFill>
                  <a:srgbClr val="FF3300"/>
                </a:solidFill>
              </a:rPr>
              <a:t>Frames</a:t>
            </a:r>
            <a:r>
              <a:rPr lang="en-US" dirty="0"/>
              <a:t>’ Feedback </a:t>
            </a:r>
            <a:r>
              <a:rPr lang="en-US" dirty="0">
                <a:solidFill>
                  <a:srgbClr val="FFC000"/>
                </a:solidFill>
              </a:rPr>
              <a:t>Nodules</a:t>
            </a:r>
            <a:r>
              <a:rPr lang="en-US" dirty="0"/>
              <a:t> and brings those points forward during </a:t>
            </a:r>
            <a:r>
              <a:rPr lang="en-US" dirty="0">
                <a:solidFill>
                  <a:srgbClr val="FF3300"/>
                </a:solidFill>
              </a:rPr>
              <a:t>Frame</a:t>
            </a:r>
            <a:r>
              <a:rPr lang="en-US" dirty="0"/>
              <a:t> meetings.</a:t>
            </a:r>
          </a:p>
        </p:txBody>
      </p:sp>
      <p:sp>
        <p:nvSpPr>
          <p:cNvPr id="6" name="TextBox 5">
            <a:extLst>
              <a:ext uri="{FF2B5EF4-FFF2-40B4-BE49-F238E27FC236}">
                <a16:creationId xmlns:a16="http://schemas.microsoft.com/office/drawing/2014/main" id="{11C54746-4B61-1441-8C4F-F9F215350A44}"/>
              </a:ext>
            </a:extLst>
          </p:cNvPr>
          <p:cNvSpPr txBox="1"/>
          <p:nvPr/>
        </p:nvSpPr>
        <p:spPr>
          <a:xfrm>
            <a:off x="144378" y="5414131"/>
            <a:ext cx="5951622" cy="646331"/>
          </a:xfrm>
          <a:prstGeom prst="rect">
            <a:avLst/>
          </a:prstGeom>
          <a:noFill/>
        </p:spPr>
        <p:txBody>
          <a:bodyPr wrap="square" rtlCol="0">
            <a:spAutoFit/>
          </a:bodyPr>
          <a:lstStyle/>
          <a:p>
            <a:r>
              <a:rPr lang="en-US" dirty="0"/>
              <a:t>This </a:t>
            </a:r>
            <a:r>
              <a:rPr lang="en-US" dirty="0">
                <a:solidFill>
                  <a:srgbClr val="FFC000"/>
                </a:solidFill>
              </a:rPr>
              <a:t>Nodule</a:t>
            </a:r>
            <a:r>
              <a:rPr lang="en-US" dirty="0"/>
              <a:t> earns its place by providing insights while still contributing to performance.</a:t>
            </a:r>
          </a:p>
        </p:txBody>
      </p:sp>
      <p:sp>
        <p:nvSpPr>
          <p:cNvPr id="7" name="TextBox 6">
            <a:extLst>
              <a:ext uri="{FF2B5EF4-FFF2-40B4-BE49-F238E27FC236}">
                <a16:creationId xmlns:a16="http://schemas.microsoft.com/office/drawing/2014/main" id="{5A6F903E-F114-ADCF-A2AA-81804570FFC5}"/>
              </a:ext>
            </a:extLst>
          </p:cNvPr>
          <p:cNvSpPr txBox="1"/>
          <p:nvPr/>
        </p:nvSpPr>
        <p:spPr>
          <a:xfrm>
            <a:off x="7026441" y="1436186"/>
            <a:ext cx="4888833" cy="923330"/>
          </a:xfrm>
          <a:prstGeom prst="rect">
            <a:avLst/>
          </a:prstGeom>
          <a:noFill/>
        </p:spPr>
        <p:txBody>
          <a:bodyPr wrap="square" rtlCol="0">
            <a:spAutoFit/>
          </a:bodyPr>
          <a:lstStyle/>
          <a:p>
            <a:r>
              <a:rPr lang="en-US" dirty="0"/>
              <a:t>Feedback </a:t>
            </a:r>
            <a:r>
              <a:rPr lang="en-US" dirty="0">
                <a:solidFill>
                  <a:srgbClr val="FFC000"/>
                </a:solidFill>
              </a:rPr>
              <a:t>Nodules</a:t>
            </a:r>
            <a:r>
              <a:rPr lang="en-US" dirty="0"/>
              <a:t> that drive team performance to the point of independence may then be promoted to “analyst” and given more </a:t>
            </a:r>
            <a:r>
              <a:rPr lang="en-US" dirty="0">
                <a:solidFill>
                  <a:srgbClr val="FF3300"/>
                </a:solidFill>
              </a:rPr>
              <a:t>Frames</a:t>
            </a:r>
            <a:r>
              <a:rPr lang="en-US" dirty="0"/>
              <a:t> to feedback.</a:t>
            </a:r>
          </a:p>
        </p:txBody>
      </p:sp>
    </p:spTree>
    <p:extLst>
      <p:ext uri="{BB962C8B-B14F-4D97-AF65-F5344CB8AC3E}">
        <p14:creationId xmlns:p14="http://schemas.microsoft.com/office/powerpoint/2010/main" val="1933586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6C1C-490E-0A89-76A9-E41B9B127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2B77F-C452-B34B-BB97-CB9AF554EC0A}"/>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Structure</a:t>
            </a:r>
          </a:p>
        </p:txBody>
      </p:sp>
      <p:sp>
        <p:nvSpPr>
          <p:cNvPr id="10" name="TextBox 9">
            <a:extLst>
              <a:ext uri="{FF2B5EF4-FFF2-40B4-BE49-F238E27FC236}">
                <a16:creationId xmlns:a16="http://schemas.microsoft.com/office/drawing/2014/main" id="{3D8D5D58-A6B7-F013-F860-E08B9A31597E}"/>
              </a:ext>
            </a:extLst>
          </p:cNvPr>
          <p:cNvSpPr txBox="1"/>
          <p:nvPr/>
        </p:nvSpPr>
        <p:spPr>
          <a:xfrm>
            <a:off x="150394" y="1436186"/>
            <a:ext cx="4138863" cy="584775"/>
          </a:xfrm>
          <a:prstGeom prst="rect">
            <a:avLst/>
          </a:prstGeom>
          <a:noFill/>
        </p:spPr>
        <p:txBody>
          <a:bodyPr wrap="square" rtlCol="0">
            <a:spAutoFit/>
          </a:bodyPr>
          <a:lstStyle/>
          <a:p>
            <a:r>
              <a:rPr lang="en-US" sz="3200" dirty="0"/>
              <a:t>Support </a:t>
            </a:r>
            <a:r>
              <a:rPr lang="en-US" sz="3200" dirty="0">
                <a:solidFill>
                  <a:srgbClr val="FFC000"/>
                </a:solidFill>
              </a:rPr>
              <a:t>Nodules </a:t>
            </a:r>
            <a:r>
              <a:rPr lang="en-US" sz="3200" dirty="0"/>
              <a:t>(x1-2)</a:t>
            </a:r>
          </a:p>
        </p:txBody>
      </p:sp>
      <p:sp>
        <p:nvSpPr>
          <p:cNvPr id="21" name="TextBox 20">
            <a:extLst>
              <a:ext uri="{FF2B5EF4-FFF2-40B4-BE49-F238E27FC236}">
                <a16:creationId xmlns:a16="http://schemas.microsoft.com/office/drawing/2014/main" id="{60FF1A11-9A08-BBD3-8EB1-3DEA3DF0D5EA}"/>
              </a:ext>
            </a:extLst>
          </p:cNvPr>
          <p:cNvSpPr txBox="1"/>
          <p:nvPr/>
        </p:nvSpPr>
        <p:spPr>
          <a:xfrm>
            <a:off x="144378" y="2550382"/>
            <a:ext cx="5951622" cy="369332"/>
          </a:xfrm>
          <a:prstGeom prst="rect">
            <a:avLst/>
          </a:prstGeom>
          <a:noFill/>
        </p:spPr>
        <p:txBody>
          <a:bodyPr wrap="square" rtlCol="0">
            <a:spAutoFit/>
          </a:bodyPr>
          <a:lstStyle/>
          <a:p>
            <a:r>
              <a:rPr lang="en-US" dirty="0"/>
              <a:t>We liken this to a “specialist” but does not need to hold title.</a:t>
            </a:r>
          </a:p>
        </p:txBody>
      </p:sp>
      <p:sp>
        <p:nvSpPr>
          <p:cNvPr id="3" name="TextBox 2">
            <a:extLst>
              <a:ext uri="{FF2B5EF4-FFF2-40B4-BE49-F238E27FC236}">
                <a16:creationId xmlns:a16="http://schemas.microsoft.com/office/drawing/2014/main" id="{CFE17C1C-63EE-571E-18FB-0C0B1E847F7D}"/>
              </a:ext>
            </a:extLst>
          </p:cNvPr>
          <p:cNvSpPr txBox="1"/>
          <p:nvPr/>
        </p:nvSpPr>
        <p:spPr>
          <a:xfrm>
            <a:off x="144378" y="3135633"/>
            <a:ext cx="5951622" cy="1200329"/>
          </a:xfrm>
          <a:prstGeom prst="rect">
            <a:avLst/>
          </a:prstGeom>
          <a:noFill/>
        </p:spPr>
        <p:txBody>
          <a:bodyPr wrap="square" rtlCol="0">
            <a:spAutoFit/>
          </a:bodyPr>
          <a:lstStyle/>
          <a:p>
            <a:r>
              <a:rPr lang="en-US" dirty="0"/>
              <a:t>This </a:t>
            </a:r>
            <a:r>
              <a:rPr lang="en-US" dirty="0">
                <a:solidFill>
                  <a:srgbClr val="FFC000"/>
                </a:solidFill>
              </a:rPr>
              <a:t>Nodule</a:t>
            </a:r>
            <a:r>
              <a:rPr lang="en-US" dirty="0"/>
              <a:t> boosts the </a:t>
            </a:r>
            <a:r>
              <a:rPr lang="en-US" dirty="0">
                <a:solidFill>
                  <a:srgbClr val="FF3300"/>
                </a:solidFill>
              </a:rPr>
              <a:t>Frame</a:t>
            </a:r>
            <a:r>
              <a:rPr lang="en-US" dirty="0"/>
              <a:t> with versatility. This might mean doing things like onboarding nesting training, absorb overflow, troubleshoot simple problems, research leads and prototype automation.</a:t>
            </a:r>
          </a:p>
        </p:txBody>
      </p:sp>
      <p:sp>
        <p:nvSpPr>
          <p:cNvPr id="4" name="TextBox 3">
            <a:extLst>
              <a:ext uri="{FF2B5EF4-FFF2-40B4-BE49-F238E27FC236}">
                <a16:creationId xmlns:a16="http://schemas.microsoft.com/office/drawing/2014/main" id="{536A0DA7-25E1-D20B-0E17-5D9E03DCDA99}"/>
              </a:ext>
            </a:extLst>
          </p:cNvPr>
          <p:cNvSpPr txBox="1"/>
          <p:nvPr/>
        </p:nvSpPr>
        <p:spPr>
          <a:xfrm>
            <a:off x="144378" y="4413381"/>
            <a:ext cx="5951622" cy="646331"/>
          </a:xfrm>
          <a:prstGeom prst="rect">
            <a:avLst/>
          </a:prstGeom>
          <a:noFill/>
        </p:spPr>
        <p:txBody>
          <a:bodyPr wrap="square" rtlCol="0">
            <a:spAutoFit/>
          </a:bodyPr>
          <a:lstStyle/>
          <a:p>
            <a:r>
              <a:rPr lang="en-US" dirty="0"/>
              <a:t>This </a:t>
            </a:r>
            <a:r>
              <a:rPr lang="en-US" dirty="0">
                <a:solidFill>
                  <a:srgbClr val="FFC000"/>
                </a:solidFill>
              </a:rPr>
              <a:t>Nodule</a:t>
            </a:r>
            <a:r>
              <a:rPr lang="en-US" dirty="0"/>
              <a:t> meets with other </a:t>
            </a:r>
            <a:r>
              <a:rPr lang="en-US" dirty="0">
                <a:solidFill>
                  <a:srgbClr val="FF3300"/>
                </a:solidFill>
              </a:rPr>
              <a:t>Frames</a:t>
            </a:r>
            <a:r>
              <a:rPr lang="en-US" dirty="0"/>
              <a:t>’ Support </a:t>
            </a:r>
            <a:r>
              <a:rPr lang="en-US" dirty="0">
                <a:solidFill>
                  <a:srgbClr val="FFC000"/>
                </a:solidFill>
              </a:rPr>
              <a:t>Nodules</a:t>
            </a:r>
            <a:r>
              <a:rPr lang="en-US" dirty="0"/>
              <a:t> and bring their collected points forward during </a:t>
            </a:r>
            <a:r>
              <a:rPr lang="en-US" dirty="0">
                <a:solidFill>
                  <a:srgbClr val="FF3300"/>
                </a:solidFill>
              </a:rPr>
              <a:t>Frame</a:t>
            </a:r>
            <a:r>
              <a:rPr lang="en-US" dirty="0"/>
              <a:t> meetings.</a:t>
            </a:r>
          </a:p>
        </p:txBody>
      </p:sp>
      <p:sp>
        <p:nvSpPr>
          <p:cNvPr id="6" name="TextBox 5">
            <a:extLst>
              <a:ext uri="{FF2B5EF4-FFF2-40B4-BE49-F238E27FC236}">
                <a16:creationId xmlns:a16="http://schemas.microsoft.com/office/drawing/2014/main" id="{A12E8EC2-C9D1-01D4-853A-B5963744BDC5}"/>
              </a:ext>
            </a:extLst>
          </p:cNvPr>
          <p:cNvSpPr txBox="1"/>
          <p:nvPr/>
        </p:nvSpPr>
        <p:spPr>
          <a:xfrm>
            <a:off x="144378" y="5137132"/>
            <a:ext cx="5951622" cy="646331"/>
          </a:xfrm>
          <a:prstGeom prst="rect">
            <a:avLst/>
          </a:prstGeom>
          <a:noFill/>
        </p:spPr>
        <p:txBody>
          <a:bodyPr wrap="square" rtlCol="0">
            <a:spAutoFit/>
          </a:bodyPr>
          <a:lstStyle/>
          <a:p>
            <a:r>
              <a:rPr lang="en-US" dirty="0"/>
              <a:t>This </a:t>
            </a:r>
            <a:r>
              <a:rPr lang="en-US" dirty="0">
                <a:solidFill>
                  <a:srgbClr val="FFC000"/>
                </a:solidFill>
              </a:rPr>
              <a:t>Nodule</a:t>
            </a:r>
            <a:r>
              <a:rPr lang="en-US" dirty="0"/>
              <a:t> earns its place by easing the burden of surprising factors on team performance while still contributing.</a:t>
            </a:r>
          </a:p>
        </p:txBody>
      </p:sp>
      <p:sp>
        <p:nvSpPr>
          <p:cNvPr id="7" name="TextBox 6">
            <a:extLst>
              <a:ext uri="{FF2B5EF4-FFF2-40B4-BE49-F238E27FC236}">
                <a16:creationId xmlns:a16="http://schemas.microsoft.com/office/drawing/2014/main" id="{D34C9BAF-4A29-C13F-747F-AD7DC6407373}"/>
              </a:ext>
            </a:extLst>
          </p:cNvPr>
          <p:cNvSpPr txBox="1"/>
          <p:nvPr/>
        </p:nvSpPr>
        <p:spPr>
          <a:xfrm>
            <a:off x="7026441" y="1436186"/>
            <a:ext cx="4888833" cy="1200329"/>
          </a:xfrm>
          <a:prstGeom prst="rect">
            <a:avLst/>
          </a:prstGeom>
          <a:noFill/>
        </p:spPr>
        <p:txBody>
          <a:bodyPr wrap="square" rtlCol="0">
            <a:spAutoFit/>
          </a:bodyPr>
          <a:lstStyle/>
          <a:p>
            <a:r>
              <a:rPr lang="en-US" dirty="0"/>
              <a:t>Support </a:t>
            </a:r>
            <a:r>
              <a:rPr lang="en-US" dirty="0">
                <a:solidFill>
                  <a:srgbClr val="FFC000"/>
                </a:solidFill>
              </a:rPr>
              <a:t>Nodules</a:t>
            </a:r>
            <a:r>
              <a:rPr lang="en-US" dirty="0"/>
              <a:t> that drive efficiencies through proficiency may then be promoted to “IT, Training, Process Improvement, etc.” and given more </a:t>
            </a:r>
            <a:r>
              <a:rPr lang="en-US" dirty="0">
                <a:solidFill>
                  <a:srgbClr val="FF3300"/>
                </a:solidFill>
              </a:rPr>
              <a:t>Frames</a:t>
            </a:r>
            <a:r>
              <a:rPr lang="en-US" dirty="0"/>
              <a:t> to feedback.</a:t>
            </a:r>
          </a:p>
        </p:txBody>
      </p:sp>
    </p:spTree>
    <p:extLst>
      <p:ext uri="{BB962C8B-B14F-4D97-AF65-F5344CB8AC3E}">
        <p14:creationId xmlns:p14="http://schemas.microsoft.com/office/powerpoint/2010/main" val="563079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A82FC-9FC0-AB9B-5978-1AD111605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FA412-9683-0DCE-7291-15181958C83B}"/>
              </a:ext>
            </a:extLst>
          </p:cNvPr>
          <p:cNvSpPr>
            <a:spLocks noGrp="1"/>
          </p:cNvSpPr>
          <p:nvPr>
            <p:ph type="ctrTitle"/>
          </p:nvPr>
        </p:nvSpPr>
        <p:spPr>
          <a:xfrm>
            <a:off x="144378" y="152996"/>
            <a:ext cx="5799222" cy="1501653"/>
          </a:xfrm>
        </p:spPr>
        <p:txBody>
          <a:bodyPr>
            <a:noAutofit/>
          </a:bodyPr>
          <a:lstStyle/>
          <a:p>
            <a:pPr algn="l"/>
            <a:r>
              <a:rPr lang="en-US" sz="11500" dirty="0">
                <a:solidFill>
                  <a:srgbClr val="00B0F0"/>
                </a:solidFill>
              </a:rPr>
              <a:t>Structure</a:t>
            </a:r>
          </a:p>
        </p:txBody>
      </p:sp>
      <p:sp>
        <p:nvSpPr>
          <p:cNvPr id="10" name="TextBox 9">
            <a:extLst>
              <a:ext uri="{FF2B5EF4-FFF2-40B4-BE49-F238E27FC236}">
                <a16:creationId xmlns:a16="http://schemas.microsoft.com/office/drawing/2014/main" id="{6E466724-3C72-A195-64A8-ECA59A034013}"/>
              </a:ext>
            </a:extLst>
          </p:cNvPr>
          <p:cNvSpPr txBox="1"/>
          <p:nvPr/>
        </p:nvSpPr>
        <p:spPr>
          <a:xfrm>
            <a:off x="150394" y="1436186"/>
            <a:ext cx="4138863" cy="584775"/>
          </a:xfrm>
          <a:prstGeom prst="rect">
            <a:avLst/>
          </a:prstGeom>
          <a:noFill/>
        </p:spPr>
        <p:txBody>
          <a:bodyPr wrap="square" rtlCol="0">
            <a:spAutoFit/>
          </a:bodyPr>
          <a:lstStyle/>
          <a:p>
            <a:r>
              <a:rPr lang="en-US" sz="3200" dirty="0"/>
              <a:t>Core </a:t>
            </a:r>
            <a:r>
              <a:rPr lang="en-US" sz="3200" dirty="0">
                <a:solidFill>
                  <a:srgbClr val="FFC000"/>
                </a:solidFill>
              </a:rPr>
              <a:t>Nodules </a:t>
            </a:r>
            <a:r>
              <a:rPr lang="en-US" sz="3200" dirty="0"/>
              <a:t>(x3)</a:t>
            </a:r>
          </a:p>
        </p:txBody>
      </p:sp>
      <p:sp>
        <p:nvSpPr>
          <p:cNvPr id="21" name="TextBox 20">
            <a:extLst>
              <a:ext uri="{FF2B5EF4-FFF2-40B4-BE49-F238E27FC236}">
                <a16:creationId xmlns:a16="http://schemas.microsoft.com/office/drawing/2014/main" id="{82039A15-3DF3-829C-0DF3-25489B9C1191}"/>
              </a:ext>
            </a:extLst>
          </p:cNvPr>
          <p:cNvSpPr txBox="1"/>
          <p:nvPr/>
        </p:nvSpPr>
        <p:spPr>
          <a:xfrm>
            <a:off x="144378" y="2550382"/>
            <a:ext cx="5951622" cy="369332"/>
          </a:xfrm>
          <a:prstGeom prst="rect">
            <a:avLst/>
          </a:prstGeom>
          <a:noFill/>
        </p:spPr>
        <p:txBody>
          <a:bodyPr wrap="square" rtlCol="0">
            <a:spAutoFit/>
          </a:bodyPr>
          <a:lstStyle/>
          <a:p>
            <a:r>
              <a:rPr lang="en-US" dirty="0"/>
              <a:t>We liken this to a “representative” or “agent”.</a:t>
            </a:r>
          </a:p>
        </p:txBody>
      </p:sp>
      <p:sp>
        <p:nvSpPr>
          <p:cNvPr id="3" name="TextBox 2">
            <a:extLst>
              <a:ext uri="{FF2B5EF4-FFF2-40B4-BE49-F238E27FC236}">
                <a16:creationId xmlns:a16="http://schemas.microsoft.com/office/drawing/2014/main" id="{F34EDBE1-B574-5BE2-69A7-BC88271599CD}"/>
              </a:ext>
            </a:extLst>
          </p:cNvPr>
          <p:cNvSpPr txBox="1"/>
          <p:nvPr/>
        </p:nvSpPr>
        <p:spPr>
          <a:xfrm>
            <a:off x="144378" y="3135633"/>
            <a:ext cx="5951622" cy="923330"/>
          </a:xfrm>
          <a:prstGeom prst="rect">
            <a:avLst/>
          </a:prstGeom>
          <a:noFill/>
        </p:spPr>
        <p:txBody>
          <a:bodyPr wrap="square" rtlCol="0">
            <a:spAutoFit/>
          </a:bodyPr>
          <a:lstStyle/>
          <a:p>
            <a:r>
              <a:rPr lang="en-US" dirty="0"/>
              <a:t>This </a:t>
            </a:r>
            <a:r>
              <a:rPr lang="en-US" dirty="0">
                <a:solidFill>
                  <a:srgbClr val="FFC000"/>
                </a:solidFill>
              </a:rPr>
              <a:t>Nodule</a:t>
            </a:r>
            <a:r>
              <a:rPr lang="en-US" dirty="0"/>
              <a:t> produces for the </a:t>
            </a:r>
            <a:r>
              <a:rPr lang="en-US" dirty="0">
                <a:solidFill>
                  <a:srgbClr val="FF3300"/>
                </a:solidFill>
              </a:rPr>
              <a:t>Frame</a:t>
            </a:r>
            <a:r>
              <a:rPr lang="en-US" dirty="0"/>
              <a:t>. These are your skilled salespeople, your best care agents or your most empathetic talkers.</a:t>
            </a:r>
          </a:p>
        </p:txBody>
      </p:sp>
      <p:sp>
        <p:nvSpPr>
          <p:cNvPr id="4" name="TextBox 3">
            <a:extLst>
              <a:ext uri="{FF2B5EF4-FFF2-40B4-BE49-F238E27FC236}">
                <a16:creationId xmlns:a16="http://schemas.microsoft.com/office/drawing/2014/main" id="{9FED0684-4F91-37A6-92B8-331463C0742A}"/>
              </a:ext>
            </a:extLst>
          </p:cNvPr>
          <p:cNvSpPr txBox="1"/>
          <p:nvPr/>
        </p:nvSpPr>
        <p:spPr>
          <a:xfrm>
            <a:off x="144378" y="4274882"/>
            <a:ext cx="5951622" cy="646331"/>
          </a:xfrm>
          <a:prstGeom prst="rect">
            <a:avLst/>
          </a:prstGeom>
          <a:noFill/>
        </p:spPr>
        <p:txBody>
          <a:bodyPr wrap="square" rtlCol="0">
            <a:spAutoFit/>
          </a:bodyPr>
          <a:lstStyle/>
          <a:p>
            <a:r>
              <a:rPr lang="en-US" dirty="0"/>
              <a:t>This </a:t>
            </a:r>
            <a:r>
              <a:rPr lang="en-US" dirty="0">
                <a:solidFill>
                  <a:srgbClr val="FFC000"/>
                </a:solidFill>
              </a:rPr>
              <a:t>Nodule</a:t>
            </a:r>
            <a:r>
              <a:rPr lang="en-US" dirty="0"/>
              <a:t> meets with other </a:t>
            </a:r>
            <a:r>
              <a:rPr lang="en-US" dirty="0">
                <a:solidFill>
                  <a:srgbClr val="FF3300"/>
                </a:solidFill>
              </a:rPr>
              <a:t>Frames</a:t>
            </a:r>
            <a:r>
              <a:rPr lang="en-US" dirty="0"/>
              <a:t>’ Core </a:t>
            </a:r>
            <a:r>
              <a:rPr lang="en-US" dirty="0">
                <a:solidFill>
                  <a:srgbClr val="FFC000"/>
                </a:solidFill>
              </a:rPr>
              <a:t>Nodules</a:t>
            </a:r>
            <a:r>
              <a:rPr lang="en-US" dirty="0"/>
              <a:t> and bring their collected points forward during </a:t>
            </a:r>
            <a:r>
              <a:rPr lang="en-US" dirty="0">
                <a:solidFill>
                  <a:srgbClr val="FF3300"/>
                </a:solidFill>
              </a:rPr>
              <a:t>Frame</a:t>
            </a:r>
            <a:r>
              <a:rPr lang="en-US" dirty="0"/>
              <a:t> meetings.</a:t>
            </a:r>
          </a:p>
        </p:txBody>
      </p:sp>
      <p:sp>
        <p:nvSpPr>
          <p:cNvPr id="6" name="TextBox 5">
            <a:extLst>
              <a:ext uri="{FF2B5EF4-FFF2-40B4-BE49-F238E27FC236}">
                <a16:creationId xmlns:a16="http://schemas.microsoft.com/office/drawing/2014/main" id="{E8622F49-6B9F-538B-BFC8-23F29A40FA5B}"/>
              </a:ext>
            </a:extLst>
          </p:cNvPr>
          <p:cNvSpPr txBox="1"/>
          <p:nvPr/>
        </p:nvSpPr>
        <p:spPr>
          <a:xfrm>
            <a:off x="144378" y="5137132"/>
            <a:ext cx="5951622" cy="646331"/>
          </a:xfrm>
          <a:prstGeom prst="rect">
            <a:avLst/>
          </a:prstGeom>
          <a:noFill/>
        </p:spPr>
        <p:txBody>
          <a:bodyPr wrap="square" rtlCol="0">
            <a:spAutoFit/>
          </a:bodyPr>
          <a:lstStyle/>
          <a:p>
            <a:r>
              <a:rPr lang="en-US" dirty="0"/>
              <a:t>This </a:t>
            </a:r>
            <a:r>
              <a:rPr lang="en-US" dirty="0">
                <a:solidFill>
                  <a:srgbClr val="FFC000"/>
                </a:solidFill>
              </a:rPr>
              <a:t>Nodule</a:t>
            </a:r>
            <a:r>
              <a:rPr lang="en-US" dirty="0"/>
              <a:t> earns its place by producing directly monetizable beneficial activity.</a:t>
            </a:r>
          </a:p>
        </p:txBody>
      </p:sp>
      <p:sp>
        <p:nvSpPr>
          <p:cNvPr id="7" name="TextBox 6">
            <a:extLst>
              <a:ext uri="{FF2B5EF4-FFF2-40B4-BE49-F238E27FC236}">
                <a16:creationId xmlns:a16="http://schemas.microsoft.com/office/drawing/2014/main" id="{7E5D2844-36DB-9CA0-F444-FA367414A354}"/>
              </a:ext>
            </a:extLst>
          </p:cNvPr>
          <p:cNvSpPr txBox="1"/>
          <p:nvPr/>
        </p:nvSpPr>
        <p:spPr>
          <a:xfrm>
            <a:off x="7026441" y="1436186"/>
            <a:ext cx="4888833" cy="1477328"/>
          </a:xfrm>
          <a:prstGeom prst="rect">
            <a:avLst/>
          </a:prstGeom>
          <a:noFill/>
        </p:spPr>
        <p:txBody>
          <a:bodyPr wrap="square" rtlCol="0">
            <a:spAutoFit/>
          </a:bodyPr>
          <a:lstStyle/>
          <a:p>
            <a:r>
              <a:rPr lang="en-US" dirty="0"/>
              <a:t>Core </a:t>
            </a:r>
            <a:r>
              <a:rPr lang="en-US" dirty="0">
                <a:solidFill>
                  <a:srgbClr val="FFC000"/>
                </a:solidFill>
              </a:rPr>
              <a:t>Nodules</a:t>
            </a:r>
            <a:r>
              <a:rPr lang="en-US" dirty="0"/>
              <a:t> that drive efficiencies through direct contribution may then be promoted to “Sales Consultant, Retention Specialist, etc.” which works across clients to provide modular T2 support.</a:t>
            </a:r>
          </a:p>
        </p:txBody>
      </p:sp>
    </p:spTree>
    <p:extLst>
      <p:ext uri="{BB962C8B-B14F-4D97-AF65-F5344CB8AC3E}">
        <p14:creationId xmlns:p14="http://schemas.microsoft.com/office/powerpoint/2010/main" val="1980962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6E53F-60AD-204A-2165-158A7CD76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A68A4-035F-03D2-417B-CAC69B54ED73}"/>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Metrics</a:t>
            </a:r>
          </a:p>
        </p:txBody>
      </p:sp>
      <p:sp>
        <p:nvSpPr>
          <p:cNvPr id="6" name="TextBox 5">
            <a:extLst>
              <a:ext uri="{FF2B5EF4-FFF2-40B4-BE49-F238E27FC236}">
                <a16:creationId xmlns:a16="http://schemas.microsoft.com/office/drawing/2014/main" id="{EAF346DF-8DD5-9ACD-9BE9-A33AA227F940}"/>
              </a:ext>
            </a:extLst>
          </p:cNvPr>
          <p:cNvSpPr txBox="1"/>
          <p:nvPr/>
        </p:nvSpPr>
        <p:spPr>
          <a:xfrm>
            <a:off x="144377" y="6058673"/>
            <a:ext cx="5165558" cy="646331"/>
          </a:xfrm>
          <a:prstGeom prst="rect">
            <a:avLst/>
          </a:prstGeom>
          <a:noFill/>
        </p:spPr>
        <p:txBody>
          <a:bodyPr wrap="square" rtlCol="0">
            <a:spAutoFit/>
          </a:bodyPr>
          <a:lstStyle/>
          <a:p>
            <a:r>
              <a:rPr lang="en-US" dirty="0"/>
              <a:t>We now go through how </a:t>
            </a:r>
            <a:r>
              <a:rPr lang="en-US" dirty="0">
                <a:solidFill>
                  <a:srgbClr val="92D050"/>
                </a:solidFill>
              </a:rPr>
              <a:t>metrics</a:t>
            </a:r>
            <a:r>
              <a:rPr lang="en-US" dirty="0"/>
              <a:t> fit into the picture of the </a:t>
            </a:r>
            <a:r>
              <a:rPr lang="en-US" dirty="0">
                <a:solidFill>
                  <a:srgbClr val="FFC000"/>
                </a:solidFill>
              </a:rPr>
              <a:t>Resonant Organization </a:t>
            </a:r>
            <a:r>
              <a:rPr lang="en-US" dirty="0"/>
              <a:t>framework</a:t>
            </a:r>
            <a:endParaRPr lang="en-US" dirty="0">
              <a:solidFill>
                <a:srgbClr val="FFC000"/>
              </a:solidFill>
            </a:endParaRPr>
          </a:p>
        </p:txBody>
      </p:sp>
      <p:sp>
        <p:nvSpPr>
          <p:cNvPr id="4" name="TextBox 3">
            <a:extLst>
              <a:ext uri="{FF2B5EF4-FFF2-40B4-BE49-F238E27FC236}">
                <a16:creationId xmlns:a16="http://schemas.microsoft.com/office/drawing/2014/main" id="{FADFB24B-C470-DC9F-295A-E08EFDE79AAA}"/>
              </a:ext>
            </a:extLst>
          </p:cNvPr>
          <p:cNvSpPr txBox="1"/>
          <p:nvPr/>
        </p:nvSpPr>
        <p:spPr>
          <a:xfrm>
            <a:off x="212927" y="1339699"/>
            <a:ext cx="4428027" cy="738664"/>
          </a:xfrm>
          <a:prstGeom prst="rect">
            <a:avLst/>
          </a:prstGeom>
          <a:noFill/>
        </p:spPr>
        <p:txBody>
          <a:bodyPr wrap="square" rtlCol="0">
            <a:spAutoFit/>
          </a:bodyPr>
          <a:lstStyle/>
          <a:p>
            <a:r>
              <a:rPr lang="en-US" dirty="0"/>
              <a:t>First, I present to you what I call </a:t>
            </a:r>
            <a:r>
              <a:rPr lang="en-US" sz="2400" dirty="0">
                <a:solidFill>
                  <a:srgbClr val="00B0F0"/>
                </a:solidFill>
              </a:rPr>
              <a:t>D</a:t>
            </a:r>
            <a:r>
              <a:rPr lang="en-US" sz="2400" dirty="0">
                <a:solidFill>
                  <a:srgbClr val="92D050"/>
                </a:solidFill>
              </a:rPr>
              <a:t>D</a:t>
            </a:r>
            <a:r>
              <a:rPr lang="en-US" sz="2400" dirty="0">
                <a:solidFill>
                  <a:srgbClr val="FFC000"/>
                </a:solidFill>
              </a:rPr>
              <a:t>E</a:t>
            </a:r>
            <a:r>
              <a:rPr lang="en-US" dirty="0"/>
              <a:t> so far </a:t>
            </a:r>
          </a:p>
          <a:p>
            <a:endParaRPr lang="en-US" dirty="0"/>
          </a:p>
        </p:txBody>
      </p:sp>
      <p:pic>
        <p:nvPicPr>
          <p:cNvPr id="5" name="Graphic 4" descr="Chemicals outline">
            <a:extLst>
              <a:ext uri="{FF2B5EF4-FFF2-40B4-BE49-F238E27FC236}">
                <a16:creationId xmlns:a16="http://schemas.microsoft.com/office/drawing/2014/main" id="{2BB91306-691B-5C74-7DBB-9EB8CFA32B04}"/>
              </a:ext>
            </a:extLst>
          </p:cNvPr>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8123" y="-1324709"/>
            <a:ext cx="10421814" cy="11383107"/>
          </a:xfrm>
          <a:prstGeom prst="rect">
            <a:avLst/>
          </a:prstGeom>
        </p:spPr>
      </p:pic>
      <p:sp>
        <p:nvSpPr>
          <p:cNvPr id="12" name="TextBox 11">
            <a:extLst>
              <a:ext uri="{FF2B5EF4-FFF2-40B4-BE49-F238E27FC236}">
                <a16:creationId xmlns:a16="http://schemas.microsoft.com/office/drawing/2014/main" id="{0B4D0027-F1E4-1906-21B7-4042771AC35F}"/>
              </a:ext>
            </a:extLst>
          </p:cNvPr>
          <p:cNvSpPr txBox="1"/>
          <p:nvPr/>
        </p:nvSpPr>
        <p:spPr>
          <a:xfrm>
            <a:off x="144377" y="4933193"/>
            <a:ext cx="5165558" cy="923330"/>
          </a:xfrm>
          <a:prstGeom prst="rect">
            <a:avLst/>
          </a:prstGeom>
          <a:noFill/>
        </p:spPr>
        <p:txBody>
          <a:bodyPr wrap="square" rtlCol="0">
            <a:spAutoFit/>
          </a:bodyPr>
          <a:lstStyle/>
          <a:p>
            <a:r>
              <a:rPr lang="en-US" dirty="0"/>
              <a:t>I include information here that is summarized from another documentation, so it might be best to know what </a:t>
            </a:r>
            <a:r>
              <a:rPr lang="en-US" sz="1800" dirty="0">
                <a:solidFill>
                  <a:srgbClr val="00B0F0"/>
                </a:solidFill>
              </a:rPr>
              <a:t>D</a:t>
            </a:r>
            <a:r>
              <a:rPr lang="en-US" sz="1800" dirty="0">
                <a:solidFill>
                  <a:srgbClr val="92D050"/>
                </a:solidFill>
              </a:rPr>
              <a:t>D</a:t>
            </a:r>
            <a:r>
              <a:rPr lang="en-US" sz="1800" dirty="0">
                <a:solidFill>
                  <a:srgbClr val="FFC000"/>
                </a:solidFill>
              </a:rPr>
              <a:t>E</a:t>
            </a:r>
            <a:r>
              <a:rPr lang="en-US" dirty="0"/>
              <a:t> is if you are reading solo!</a:t>
            </a:r>
            <a:endParaRPr lang="en-US" dirty="0">
              <a:solidFill>
                <a:srgbClr val="FFC000"/>
              </a:solidFill>
            </a:endParaRPr>
          </a:p>
        </p:txBody>
      </p:sp>
      <p:sp>
        <p:nvSpPr>
          <p:cNvPr id="13" name="TextBox 12">
            <a:extLst>
              <a:ext uri="{FF2B5EF4-FFF2-40B4-BE49-F238E27FC236}">
                <a16:creationId xmlns:a16="http://schemas.microsoft.com/office/drawing/2014/main" id="{FE586147-9CE0-B3E2-79B6-4FBC3E485050}"/>
              </a:ext>
            </a:extLst>
          </p:cNvPr>
          <p:cNvSpPr txBox="1"/>
          <p:nvPr/>
        </p:nvSpPr>
        <p:spPr>
          <a:xfrm>
            <a:off x="212927" y="1744880"/>
            <a:ext cx="5978077" cy="369332"/>
          </a:xfrm>
          <a:prstGeom prst="rect">
            <a:avLst/>
          </a:prstGeom>
          <a:noFill/>
        </p:spPr>
        <p:txBody>
          <a:bodyPr wrap="square" rtlCol="0">
            <a:spAutoFit/>
          </a:bodyPr>
          <a:lstStyle/>
          <a:p>
            <a:r>
              <a:rPr lang="en-US" dirty="0"/>
              <a:t>Then we talk about Passive Compression</a:t>
            </a:r>
            <a:endParaRPr lang="en-US" dirty="0">
              <a:solidFill>
                <a:srgbClr val="00B050"/>
              </a:solidFill>
            </a:endParaRPr>
          </a:p>
        </p:txBody>
      </p:sp>
      <p:sp>
        <p:nvSpPr>
          <p:cNvPr id="14" name="TextBox 13">
            <a:extLst>
              <a:ext uri="{FF2B5EF4-FFF2-40B4-BE49-F238E27FC236}">
                <a16:creationId xmlns:a16="http://schemas.microsoft.com/office/drawing/2014/main" id="{9D0F67A2-FEA7-566A-626C-AE28E534BD17}"/>
              </a:ext>
            </a:extLst>
          </p:cNvPr>
          <p:cNvSpPr txBox="1"/>
          <p:nvPr/>
        </p:nvSpPr>
        <p:spPr>
          <a:xfrm>
            <a:off x="212926" y="2049680"/>
            <a:ext cx="5978077" cy="369332"/>
          </a:xfrm>
          <a:prstGeom prst="rect">
            <a:avLst/>
          </a:prstGeom>
          <a:noFill/>
        </p:spPr>
        <p:txBody>
          <a:bodyPr wrap="square" rtlCol="0">
            <a:spAutoFit/>
          </a:bodyPr>
          <a:lstStyle/>
          <a:p>
            <a:r>
              <a:rPr lang="en-US" dirty="0"/>
              <a:t>And finally, Data Security &amp; Ethics</a:t>
            </a:r>
            <a:endParaRPr lang="en-US" dirty="0">
              <a:solidFill>
                <a:srgbClr val="00B050"/>
              </a:solidFill>
            </a:endParaRPr>
          </a:p>
        </p:txBody>
      </p:sp>
    </p:spTree>
    <p:extLst>
      <p:ext uri="{BB962C8B-B14F-4D97-AF65-F5344CB8AC3E}">
        <p14:creationId xmlns:p14="http://schemas.microsoft.com/office/powerpoint/2010/main" val="328307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Chemicals outline">
            <a:extLst>
              <a:ext uri="{FF2B5EF4-FFF2-40B4-BE49-F238E27FC236}">
                <a16:creationId xmlns:a16="http://schemas.microsoft.com/office/drawing/2014/main" id="{41799233-57D4-DCA9-D40D-35690185DD99}"/>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8123" y="-1324709"/>
            <a:ext cx="10421814" cy="11383107"/>
          </a:xfrm>
          <a:prstGeom prst="rect">
            <a:avLst/>
          </a:prstGeom>
        </p:spPr>
      </p:pic>
      <p:sp>
        <p:nvSpPr>
          <p:cNvPr id="7" name="TextBox 6">
            <a:extLst>
              <a:ext uri="{FF2B5EF4-FFF2-40B4-BE49-F238E27FC236}">
                <a16:creationId xmlns:a16="http://schemas.microsoft.com/office/drawing/2014/main" id="{F00E33E2-17C9-EE48-6BC2-A97F81CB0E2A}"/>
              </a:ext>
            </a:extLst>
          </p:cNvPr>
          <p:cNvSpPr txBox="1"/>
          <p:nvPr/>
        </p:nvSpPr>
        <p:spPr>
          <a:xfrm>
            <a:off x="212927" y="3678969"/>
            <a:ext cx="4636476" cy="369332"/>
          </a:xfrm>
          <a:prstGeom prst="rect">
            <a:avLst/>
          </a:prstGeom>
          <a:noFill/>
        </p:spPr>
        <p:txBody>
          <a:bodyPr wrap="square" rtlCol="0">
            <a:spAutoFit/>
          </a:bodyPr>
          <a:lstStyle/>
          <a:p>
            <a:r>
              <a:rPr lang="en-US" dirty="0"/>
              <a:t>(</a:t>
            </a:r>
            <a:r>
              <a:rPr lang="en-US" dirty="0">
                <a:solidFill>
                  <a:srgbClr val="00B0F0"/>
                </a:solidFill>
              </a:rPr>
              <a:t>distributed</a:t>
            </a:r>
            <a:r>
              <a:rPr lang="en-US" dirty="0"/>
              <a:t> </a:t>
            </a:r>
            <a:r>
              <a:rPr lang="en-US" dirty="0">
                <a:solidFill>
                  <a:srgbClr val="92D050"/>
                </a:solidFill>
              </a:rPr>
              <a:t>database</a:t>
            </a:r>
            <a:r>
              <a:rPr lang="en-US" dirty="0"/>
              <a:t> </a:t>
            </a:r>
            <a:r>
              <a:rPr lang="en-US" dirty="0">
                <a:solidFill>
                  <a:srgbClr val="FFC000"/>
                </a:solidFill>
              </a:rPr>
              <a:t>ecosystems</a:t>
            </a:r>
            <a:r>
              <a:rPr lang="en-US" dirty="0"/>
              <a:t>)</a:t>
            </a:r>
          </a:p>
        </p:txBody>
      </p:sp>
      <p:sp>
        <p:nvSpPr>
          <p:cNvPr id="8" name="TextBox 7">
            <a:extLst>
              <a:ext uri="{FF2B5EF4-FFF2-40B4-BE49-F238E27FC236}">
                <a16:creationId xmlns:a16="http://schemas.microsoft.com/office/drawing/2014/main" id="{179976A8-7E24-63DD-D31C-176CC2C4A7E6}"/>
              </a:ext>
            </a:extLst>
          </p:cNvPr>
          <p:cNvSpPr txBox="1"/>
          <p:nvPr/>
        </p:nvSpPr>
        <p:spPr>
          <a:xfrm>
            <a:off x="1526680" y="3154351"/>
            <a:ext cx="4188068" cy="461665"/>
          </a:xfrm>
          <a:prstGeom prst="rect">
            <a:avLst/>
          </a:prstGeom>
          <a:noFill/>
          <a:ln>
            <a:solidFill>
              <a:srgbClr val="92D050"/>
            </a:solidFill>
          </a:ln>
        </p:spPr>
        <p:txBody>
          <a:bodyPr wrap="square" rtlCol="0">
            <a:spAutoFit/>
          </a:bodyPr>
          <a:lstStyle/>
          <a:p>
            <a:r>
              <a:rPr lang="en-US" sz="1200" dirty="0"/>
              <a:t>these are light, easy to modify, and user friendly excel databases that use raw text as a mode of data storage for massive capacity.</a:t>
            </a:r>
          </a:p>
        </p:txBody>
      </p:sp>
      <p:sp>
        <p:nvSpPr>
          <p:cNvPr id="9" name="TextBox 8">
            <a:extLst>
              <a:ext uri="{FF2B5EF4-FFF2-40B4-BE49-F238E27FC236}">
                <a16:creationId xmlns:a16="http://schemas.microsoft.com/office/drawing/2014/main" id="{DBA8DED1-D0CD-791C-A0D0-8C430F11AC11}"/>
              </a:ext>
            </a:extLst>
          </p:cNvPr>
          <p:cNvSpPr txBox="1"/>
          <p:nvPr/>
        </p:nvSpPr>
        <p:spPr>
          <a:xfrm>
            <a:off x="458381" y="2412665"/>
            <a:ext cx="4026877" cy="461665"/>
          </a:xfrm>
          <a:prstGeom prst="rect">
            <a:avLst/>
          </a:prstGeom>
          <a:noFill/>
          <a:ln>
            <a:solidFill>
              <a:srgbClr val="00B0F0"/>
            </a:solidFill>
          </a:ln>
        </p:spPr>
        <p:txBody>
          <a:bodyPr wrap="square" rtlCol="0">
            <a:spAutoFit/>
          </a:bodyPr>
          <a:lstStyle/>
          <a:p>
            <a:r>
              <a:rPr lang="en-US" sz="1200" dirty="0"/>
              <a:t>the process stores information on host machines, meaning central data pulls without central data storage.</a:t>
            </a:r>
          </a:p>
        </p:txBody>
      </p:sp>
      <p:sp>
        <p:nvSpPr>
          <p:cNvPr id="10" name="TextBox 9">
            <a:extLst>
              <a:ext uri="{FF2B5EF4-FFF2-40B4-BE49-F238E27FC236}">
                <a16:creationId xmlns:a16="http://schemas.microsoft.com/office/drawing/2014/main" id="{5FEEFE36-73AB-0564-5E9F-2E97CB3DC777}"/>
              </a:ext>
            </a:extLst>
          </p:cNvPr>
          <p:cNvSpPr txBox="1"/>
          <p:nvPr/>
        </p:nvSpPr>
        <p:spPr>
          <a:xfrm>
            <a:off x="905609" y="4405235"/>
            <a:ext cx="4026877" cy="646331"/>
          </a:xfrm>
          <a:prstGeom prst="rect">
            <a:avLst/>
          </a:prstGeom>
          <a:noFill/>
          <a:ln>
            <a:solidFill>
              <a:srgbClr val="FFC000"/>
            </a:solidFill>
          </a:ln>
        </p:spPr>
        <p:txBody>
          <a:bodyPr wrap="square" rtlCol="0">
            <a:spAutoFit/>
          </a:bodyPr>
          <a:lstStyle/>
          <a:p>
            <a:r>
              <a:rPr lang="en-US" sz="1200" dirty="0"/>
              <a:t>given a common mode of information sharing, viewing and participating that is intrinsically linked to work will cause innovation to flourish where others fail (that’s the </a:t>
            </a:r>
            <a:r>
              <a:rPr lang="en-US" sz="1200" dirty="0">
                <a:solidFill>
                  <a:srgbClr val="FFC000"/>
                </a:solidFill>
              </a:rPr>
              <a:t>hypothesis</a:t>
            </a:r>
            <a:r>
              <a:rPr lang="en-US" sz="1200" dirty="0"/>
              <a:t>)</a:t>
            </a:r>
          </a:p>
        </p:txBody>
      </p:sp>
      <p:sp>
        <p:nvSpPr>
          <p:cNvPr id="11" name="TextBox 10">
            <a:extLst>
              <a:ext uri="{FF2B5EF4-FFF2-40B4-BE49-F238E27FC236}">
                <a16:creationId xmlns:a16="http://schemas.microsoft.com/office/drawing/2014/main" id="{C3046A58-A368-59C2-2D91-8A0F385B2351}"/>
              </a:ext>
            </a:extLst>
          </p:cNvPr>
          <p:cNvSpPr txBox="1"/>
          <p:nvPr/>
        </p:nvSpPr>
        <p:spPr>
          <a:xfrm>
            <a:off x="2319339" y="6465277"/>
            <a:ext cx="764929" cy="276999"/>
          </a:xfrm>
          <a:prstGeom prst="rect">
            <a:avLst/>
          </a:prstGeom>
          <a:noFill/>
          <a:ln>
            <a:solidFill>
              <a:srgbClr val="FFC000"/>
            </a:solidFill>
          </a:ln>
        </p:spPr>
        <p:txBody>
          <a:bodyPr wrap="square" rtlCol="0">
            <a:spAutoFit/>
          </a:bodyPr>
          <a:lstStyle/>
          <a:p>
            <a:r>
              <a:rPr lang="en-US" sz="1200" dirty="0"/>
              <a:t>contests</a:t>
            </a:r>
          </a:p>
        </p:txBody>
      </p:sp>
      <p:sp>
        <p:nvSpPr>
          <p:cNvPr id="12" name="TextBox 11">
            <a:extLst>
              <a:ext uri="{FF2B5EF4-FFF2-40B4-BE49-F238E27FC236}">
                <a16:creationId xmlns:a16="http://schemas.microsoft.com/office/drawing/2014/main" id="{8DA199A6-4D69-221D-D4D0-F7DEA1D6A9E8}"/>
              </a:ext>
            </a:extLst>
          </p:cNvPr>
          <p:cNvSpPr txBox="1"/>
          <p:nvPr/>
        </p:nvSpPr>
        <p:spPr>
          <a:xfrm>
            <a:off x="760535" y="5626983"/>
            <a:ext cx="671145" cy="276999"/>
          </a:xfrm>
          <a:prstGeom prst="rect">
            <a:avLst/>
          </a:prstGeom>
          <a:noFill/>
          <a:ln>
            <a:solidFill>
              <a:srgbClr val="FFC000"/>
            </a:solidFill>
          </a:ln>
        </p:spPr>
        <p:txBody>
          <a:bodyPr wrap="square" rtlCol="0">
            <a:spAutoFit/>
          </a:bodyPr>
          <a:lstStyle/>
          <a:p>
            <a:r>
              <a:rPr lang="en-US" sz="1200" dirty="0"/>
              <a:t>charity</a:t>
            </a:r>
          </a:p>
        </p:txBody>
      </p:sp>
      <p:sp>
        <p:nvSpPr>
          <p:cNvPr id="13" name="TextBox 12">
            <a:extLst>
              <a:ext uri="{FF2B5EF4-FFF2-40B4-BE49-F238E27FC236}">
                <a16:creationId xmlns:a16="http://schemas.microsoft.com/office/drawing/2014/main" id="{6524350E-476D-A677-7521-1A5C3BE7CFDF}"/>
              </a:ext>
            </a:extLst>
          </p:cNvPr>
          <p:cNvSpPr txBox="1"/>
          <p:nvPr/>
        </p:nvSpPr>
        <p:spPr>
          <a:xfrm>
            <a:off x="1261695" y="6088828"/>
            <a:ext cx="1049212" cy="276999"/>
          </a:xfrm>
          <a:prstGeom prst="rect">
            <a:avLst/>
          </a:prstGeom>
          <a:noFill/>
          <a:ln>
            <a:solidFill>
              <a:srgbClr val="FFC000"/>
            </a:solidFill>
          </a:ln>
        </p:spPr>
        <p:txBody>
          <a:bodyPr wrap="square" rtlCol="0">
            <a:spAutoFit/>
          </a:bodyPr>
          <a:lstStyle/>
          <a:p>
            <a:r>
              <a:rPr lang="en-US" sz="1200" dirty="0"/>
              <a:t>conservation</a:t>
            </a:r>
          </a:p>
        </p:txBody>
      </p:sp>
      <p:sp>
        <p:nvSpPr>
          <p:cNvPr id="14" name="TextBox 13">
            <a:extLst>
              <a:ext uri="{FF2B5EF4-FFF2-40B4-BE49-F238E27FC236}">
                <a16:creationId xmlns:a16="http://schemas.microsoft.com/office/drawing/2014/main" id="{A7F3E51B-553C-4524-93E0-677F73494459}"/>
              </a:ext>
            </a:extLst>
          </p:cNvPr>
          <p:cNvSpPr txBox="1"/>
          <p:nvPr/>
        </p:nvSpPr>
        <p:spPr>
          <a:xfrm>
            <a:off x="338503" y="5186707"/>
            <a:ext cx="331910" cy="276999"/>
          </a:xfrm>
          <a:prstGeom prst="rect">
            <a:avLst/>
          </a:prstGeom>
          <a:noFill/>
          <a:ln>
            <a:solidFill>
              <a:srgbClr val="FFC000"/>
            </a:solidFill>
          </a:ln>
        </p:spPr>
        <p:txBody>
          <a:bodyPr wrap="square" rtlCol="0">
            <a:spAutoFit/>
          </a:bodyPr>
          <a:lstStyle/>
          <a:p>
            <a:r>
              <a:rPr lang="en-US" sz="1200" dirty="0"/>
              <a:t>…</a:t>
            </a:r>
          </a:p>
        </p:txBody>
      </p:sp>
      <p:sp>
        <p:nvSpPr>
          <p:cNvPr id="15" name="TextBox 14">
            <a:extLst>
              <a:ext uri="{FF2B5EF4-FFF2-40B4-BE49-F238E27FC236}">
                <a16:creationId xmlns:a16="http://schemas.microsoft.com/office/drawing/2014/main" id="{65F4392D-A0DE-9613-16BE-E9618E3E2E44}"/>
              </a:ext>
            </a:extLst>
          </p:cNvPr>
          <p:cNvSpPr txBox="1"/>
          <p:nvPr/>
        </p:nvSpPr>
        <p:spPr>
          <a:xfrm>
            <a:off x="2693378" y="5811829"/>
            <a:ext cx="331910" cy="276999"/>
          </a:xfrm>
          <a:prstGeom prst="rect">
            <a:avLst/>
          </a:prstGeom>
          <a:noFill/>
          <a:ln>
            <a:solidFill>
              <a:srgbClr val="FFC000"/>
            </a:solidFill>
          </a:ln>
        </p:spPr>
        <p:txBody>
          <a:bodyPr wrap="square" rtlCol="0">
            <a:spAutoFit/>
          </a:bodyPr>
          <a:lstStyle/>
          <a:p>
            <a:r>
              <a:rPr lang="en-US" sz="1200" dirty="0"/>
              <a:t>…</a:t>
            </a:r>
          </a:p>
        </p:txBody>
      </p:sp>
      <p:sp>
        <p:nvSpPr>
          <p:cNvPr id="16" name="TextBox 15">
            <a:extLst>
              <a:ext uri="{FF2B5EF4-FFF2-40B4-BE49-F238E27FC236}">
                <a16:creationId xmlns:a16="http://schemas.microsoft.com/office/drawing/2014/main" id="{8E370A17-46FB-48DE-0949-03E2FFEA8D81}"/>
              </a:ext>
            </a:extLst>
          </p:cNvPr>
          <p:cNvSpPr txBox="1"/>
          <p:nvPr/>
        </p:nvSpPr>
        <p:spPr>
          <a:xfrm>
            <a:off x="3251323" y="5329671"/>
            <a:ext cx="764929" cy="276999"/>
          </a:xfrm>
          <a:prstGeom prst="rect">
            <a:avLst/>
          </a:prstGeom>
          <a:noFill/>
          <a:ln>
            <a:solidFill>
              <a:srgbClr val="FFC000"/>
            </a:solidFill>
          </a:ln>
        </p:spPr>
        <p:txBody>
          <a:bodyPr wrap="square" rtlCol="0">
            <a:spAutoFit/>
          </a:bodyPr>
          <a:lstStyle/>
          <a:p>
            <a:r>
              <a:rPr lang="en-US" sz="1200" dirty="0"/>
              <a:t>research</a:t>
            </a:r>
          </a:p>
        </p:txBody>
      </p:sp>
      <p:sp>
        <p:nvSpPr>
          <p:cNvPr id="17" name="TextBox 16">
            <a:extLst>
              <a:ext uri="{FF2B5EF4-FFF2-40B4-BE49-F238E27FC236}">
                <a16:creationId xmlns:a16="http://schemas.microsoft.com/office/drawing/2014/main" id="{371727F1-4483-1FB0-74FE-53C5C8029FD9}"/>
              </a:ext>
            </a:extLst>
          </p:cNvPr>
          <p:cNvSpPr txBox="1"/>
          <p:nvPr/>
        </p:nvSpPr>
        <p:spPr>
          <a:xfrm>
            <a:off x="3742230" y="5815419"/>
            <a:ext cx="935278" cy="276999"/>
          </a:xfrm>
          <a:prstGeom prst="rect">
            <a:avLst/>
          </a:prstGeom>
          <a:noFill/>
          <a:ln>
            <a:solidFill>
              <a:srgbClr val="FFC000"/>
            </a:solidFill>
          </a:ln>
        </p:spPr>
        <p:txBody>
          <a:bodyPr wrap="square" rtlCol="0">
            <a:spAutoFit/>
          </a:bodyPr>
          <a:lstStyle/>
          <a:p>
            <a:r>
              <a:rPr lang="en-US" sz="1200" dirty="0"/>
              <a:t>automation</a:t>
            </a:r>
          </a:p>
        </p:txBody>
      </p:sp>
      <p:sp>
        <p:nvSpPr>
          <p:cNvPr id="18" name="TextBox 17">
            <a:extLst>
              <a:ext uri="{FF2B5EF4-FFF2-40B4-BE49-F238E27FC236}">
                <a16:creationId xmlns:a16="http://schemas.microsoft.com/office/drawing/2014/main" id="{A4E61A22-D5B8-E8BE-CBD7-BC47190C06A0}"/>
              </a:ext>
            </a:extLst>
          </p:cNvPr>
          <p:cNvSpPr txBox="1"/>
          <p:nvPr/>
        </p:nvSpPr>
        <p:spPr>
          <a:xfrm>
            <a:off x="4016252" y="6376240"/>
            <a:ext cx="331910" cy="276999"/>
          </a:xfrm>
          <a:prstGeom prst="rect">
            <a:avLst/>
          </a:prstGeom>
          <a:noFill/>
          <a:ln>
            <a:solidFill>
              <a:srgbClr val="FFC000"/>
            </a:solidFill>
          </a:ln>
        </p:spPr>
        <p:txBody>
          <a:bodyPr wrap="square" rtlCol="0">
            <a:spAutoFit/>
          </a:bodyPr>
          <a:lstStyle/>
          <a:p>
            <a:r>
              <a:rPr lang="en-US" sz="1200" dirty="0"/>
              <a:t>…</a:t>
            </a:r>
          </a:p>
        </p:txBody>
      </p:sp>
      <p:cxnSp>
        <p:nvCxnSpPr>
          <p:cNvPr id="4" name="Straight Connector 3">
            <a:extLst>
              <a:ext uri="{FF2B5EF4-FFF2-40B4-BE49-F238E27FC236}">
                <a16:creationId xmlns:a16="http://schemas.microsoft.com/office/drawing/2014/main" id="{84D74711-0BEE-3500-3905-F178B91A7400}"/>
              </a:ext>
            </a:extLst>
          </p:cNvPr>
          <p:cNvCxnSpPr>
            <a:cxnSpLocks/>
          </p:cNvCxnSpPr>
          <p:nvPr/>
        </p:nvCxnSpPr>
        <p:spPr>
          <a:xfrm>
            <a:off x="458378" y="2867704"/>
            <a:ext cx="0" cy="995741"/>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1780EAF-55FC-256A-7354-11642BBC403B}"/>
              </a:ext>
            </a:extLst>
          </p:cNvPr>
          <p:cNvCxnSpPr>
            <a:cxnSpLocks/>
          </p:cNvCxnSpPr>
          <p:nvPr/>
        </p:nvCxnSpPr>
        <p:spPr>
          <a:xfrm>
            <a:off x="1525178" y="3385183"/>
            <a:ext cx="0" cy="497870"/>
          </a:xfrm>
          <a:prstGeom prst="line">
            <a:avLst/>
          </a:prstGeom>
          <a:ln>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C542A1F-3D58-86DA-562E-480300416459}"/>
              </a:ext>
            </a:extLst>
          </p:cNvPr>
          <p:cNvCxnSpPr>
            <a:cxnSpLocks/>
          </p:cNvCxnSpPr>
          <p:nvPr/>
        </p:nvCxnSpPr>
        <p:spPr>
          <a:xfrm flipH="1">
            <a:off x="2531165" y="3975652"/>
            <a:ext cx="218661" cy="4292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79D6F59-B48C-BC24-6469-C9EDBB587B6E}"/>
              </a:ext>
            </a:extLst>
          </p:cNvPr>
          <p:cNvSpPr txBox="1">
            <a:spLocks/>
          </p:cNvSpPr>
          <p:nvPr/>
        </p:nvSpPr>
        <p:spPr>
          <a:xfrm>
            <a:off x="144378" y="152996"/>
            <a:ext cx="5799222" cy="15016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500" dirty="0">
                <a:solidFill>
                  <a:srgbClr val="92D050"/>
                </a:solidFill>
              </a:rPr>
              <a:t>Metrics</a:t>
            </a:r>
          </a:p>
        </p:txBody>
      </p:sp>
      <p:sp>
        <p:nvSpPr>
          <p:cNvPr id="20" name="TextBox 19">
            <a:extLst>
              <a:ext uri="{FF2B5EF4-FFF2-40B4-BE49-F238E27FC236}">
                <a16:creationId xmlns:a16="http://schemas.microsoft.com/office/drawing/2014/main" id="{6B4332E3-500B-C0EB-2D2C-5CBD0281BAA8}"/>
              </a:ext>
            </a:extLst>
          </p:cNvPr>
          <p:cNvSpPr txBox="1"/>
          <p:nvPr/>
        </p:nvSpPr>
        <p:spPr>
          <a:xfrm>
            <a:off x="212927" y="1339699"/>
            <a:ext cx="4428027" cy="738664"/>
          </a:xfrm>
          <a:prstGeom prst="rect">
            <a:avLst/>
          </a:prstGeom>
          <a:noFill/>
        </p:spPr>
        <p:txBody>
          <a:bodyPr wrap="square" rtlCol="0">
            <a:spAutoFit/>
          </a:bodyPr>
          <a:lstStyle/>
          <a:p>
            <a:r>
              <a:rPr lang="en-US" dirty="0"/>
              <a:t>First, I present to you what I call </a:t>
            </a:r>
            <a:r>
              <a:rPr lang="en-US" sz="2400" dirty="0">
                <a:solidFill>
                  <a:srgbClr val="00B0F0"/>
                </a:solidFill>
              </a:rPr>
              <a:t>D</a:t>
            </a:r>
            <a:r>
              <a:rPr lang="en-US" sz="2400" dirty="0">
                <a:solidFill>
                  <a:srgbClr val="92D050"/>
                </a:solidFill>
              </a:rPr>
              <a:t>D</a:t>
            </a:r>
            <a:r>
              <a:rPr lang="en-US" sz="2400" dirty="0">
                <a:solidFill>
                  <a:srgbClr val="FFC000"/>
                </a:solidFill>
              </a:rPr>
              <a:t>E</a:t>
            </a:r>
            <a:r>
              <a:rPr lang="en-US" dirty="0"/>
              <a:t> so far </a:t>
            </a:r>
          </a:p>
          <a:p>
            <a:endParaRPr lang="en-US" dirty="0"/>
          </a:p>
        </p:txBody>
      </p:sp>
    </p:spTree>
    <p:extLst>
      <p:ext uri="{BB962C8B-B14F-4D97-AF65-F5344CB8AC3E}">
        <p14:creationId xmlns:p14="http://schemas.microsoft.com/office/powerpoint/2010/main" val="354155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Chemicals outline">
            <a:extLst>
              <a:ext uri="{FF2B5EF4-FFF2-40B4-BE49-F238E27FC236}">
                <a16:creationId xmlns:a16="http://schemas.microsoft.com/office/drawing/2014/main" id="{41799233-57D4-DCA9-D40D-35690185DD99}"/>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8123" y="-1324709"/>
            <a:ext cx="10421814" cy="11383107"/>
          </a:xfrm>
          <a:prstGeom prst="rect">
            <a:avLst/>
          </a:prstGeom>
        </p:spPr>
      </p:pic>
      <p:sp>
        <p:nvSpPr>
          <p:cNvPr id="3" name="TextBox 2">
            <a:extLst>
              <a:ext uri="{FF2B5EF4-FFF2-40B4-BE49-F238E27FC236}">
                <a16:creationId xmlns:a16="http://schemas.microsoft.com/office/drawing/2014/main" id="{9CE2FA64-4D0A-87A7-A577-EA6E6EB11268}"/>
              </a:ext>
            </a:extLst>
          </p:cNvPr>
          <p:cNvSpPr txBox="1"/>
          <p:nvPr/>
        </p:nvSpPr>
        <p:spPr>
          <a:xfrm>
            <a:off x="270325" y="1423816"/>
            <a:ext cx="5978077" cy="461665"/>
          </a:xfrm>
          <a:prstGeom prst="rect">
            <a:avLst/>
          </a:prstGeom>
          <a:noFill/>
        </p:spPr>
        <p:txBody>
          <a:bodyPr wrap="square" rtlCol="0">
            <a:spAutoFit/>
          </a:bodyPr>
          <a:lstStyle/>
          <a:p>
            <a:r>
              <a:rPr lang="en-US" sz="2400" dirty="0"/>
              <a:t>Then we talk about Passive Compression</a:t>
            </a:r>
            <a:endParaRPr lang="en-US" sz="2400" dirty="0">
              <a:solidFill>
                <a:srgbClr val="00B050"/>
              </a:solidFill>
            </a:endParaRPr>
          </a:p>
        </p:txBody>
      </p:sp>
      <p:sp>
        <p:nvSpPr>
          <p:cNvPr id="4" name="TextBox 3">
            <a:extLst>
              <a:ext uri="{FF2B5EF4-FFF2-40B4-BE49-F238E27FC236}">
                <a16:creationId xmlns:a16="http://schemas.microsoft.com/office/drawing/2014/main" id="{E82387CB-1BE0-B889-7208-1E8EDAC50749}"/>
              </a:ext>
            </a:extLst>
          </p:cNvPr>
          <p:cNvSpPr txBox="1"/>
          <p:nvPr/>
        </p:nvSpPr>
        <p:spPr>
          <a:xfrm>
            <a:off x="113915" y="2371531"/>
            <a:ext cx="8279809" cy="3323987"/>
          </a:xfrm>
          <a:prstGeom prst="rect">
            <a:avLst/>
          </a:prstGeom>
          <a:noFill/>
        </p:spPr>
        <p:txBody>
          <a:bodyPr wrap="square" rtlCol="0">
            <a:spAutoFit/>
          </a:bodyPr>
          <a:lstStyle/>
          <a:p>
            <a:r>
              <a:rPr lang="en-US" sz="1600" dirty="0"/>
              <a:t>Passive Compression in </a:t>
            </a:r>
            <a:r>
              <a:rPr lang="en-US" sz="1600" dirty="0">
                <a:solidFill>
                  <a:srgbClr val="00B050"/>
                </a:solidFill>
              </a:rPr>
              <a:t>Excel </a:t>
            </a:r>
            <a:r>
              <a:rPr lang="en-US" sz="1600" dirty="0"/>
              <a:t>(as an example; this works anywhere)</a:t>
            </a:r>
          </a:p>
          <a:p>
            <a:endParaRPr lang="en-US" sz="1600" dirty="0"/>
          </a:p>
          <a:p>
            <a:r>
              <a:rPr lang="en-US" sz="1000" dirty="0"/>
              <a:t>-replaces whole words, configurations of data or other calculable elements of a dataset with abstract variables</a:t>
            </a:r>
          </a:p>
          <a:p>
            <a:endParaRPr lang="en-US" sz="1000" dirty="0"/>
          </a:p>
          <a:p>
            <a:r>
              <a:rPr lang="en-US" sz="1000" dirty="0"/>
              <a:t>-combines those elements in a serial way so that they can be recalled</a:t>
            </a:r>
          </a:p>
          <a:p>
            <a:endParaRPr lang="en-US" sz="1000" dirty="0"/>
          </a:p>
          <a:p>
            <a:r>
              <a:rPr lang="en-US" sz="1000" dirty="0"/>
              <a:t>-stores all elements serially, together in an efficient way for the computer</a:t>
            </a:r>
          </a:p>
          <a:p>
            <a:endParaRPr lang="en-US" sz="1600" dirty="0"/>
          </a:p>
          <a:p>
            <a:r>
              <a:rPr lang="en-US" sz="1600" dirty="0"/>
              <a:t>-</a:t>
            </a:r>
            <a:r>
              <a:rPr lang="en-US" sz="1200" dirty="0"/>
              <a:t>there’s a lot of </a:t>
            </a:r>
            <a:r>
              <a:rPr lang="en-US" sz="1600" dirty="0">
                <a:solidFill>
                  <a:srgbClr val="92D050"/>
                </a:solidFill>
              </a:rPr>
              <a:t>INFORMATION</a:t>
            </a:r>
            <a:r>
              <a:rPr lang="en-US" sz="1600" dirty="0"/>
              <a:t> </a:t>
            </a:r>
            <a:r>
              <a:rPr lang="en-US" sz="1200" dirty="0"/>
              <a:t>in a</a:t>
            </a:r>
            <a:r>
              <a:rPr lang="en-US" sz="1600" dirty="0"/>
              <a:t> </a:t>
            </a:r>
            <a:r>
              <a:rPr lang="en-US" sz="1600" dirty="0">
                <a:solidFill>
                  <a:srgbClr val="FFFF99"/>
                </a:solidFill>
              </a:rPr>
              <a:t>SMALL AMOUNT OF</a:t>
            </a:r>
            <a:r>
              <a:rPr lang="en-US" sz="1600" dirty="0">
                <a:solidFill>
                  <a:srgbClr val="FFFFCC"/>
                </a:solidFill>
              </a:rPr>
              <a:t> </a:t>
            </a:r>
            <a:r>
              <a:rPr lang="en-US" sz="1600" dirty="0">
                <a:solidFill>
                  <a:srgbClr val="FF66FF"/>
                </a:solidFill>
              </a:rPr>
              <a:t>SPACE</a:t>
            </a:r>
          </a:p>
          <a:p>
            <a:r>
              <a:rPr lang="en-US" sz="1600" dirty="0"/>
              <a:t>-</a:t>
            </a:r>
            <a:r>
              <a:rPr lang="en-US" sz="1200" dirty="0"/>
              <a:t>there’s a lot of</a:t>
            </a:r>
            <a:r>
              <a:rPr lang="en-US" sz="1600" dirty="0"/>
              <a:t> </a:t>
            </a:r>
            <a:r>
              <a:rPr lang="en-US" sz="1600" dirty="0">
                <a:solidFill>
                  <a:srgbClr val="92D050"/>
                </a:solidFill>
              </a:rPr>
              <a:t>@</a:t>
            </a:r>
            <a:r>
              <a:rPr lang="en-US" sz="1600" dirty="0"/>
              <a:t> </a:t>
            </a:r>
            <a:r>
              <a:rPr lang="en-US" sz="1200" dirty="0"/>
              <a:t>in a</a:t>
            </a:r>
            <a:r>
              <a:rPr lang="en-US" sz="1600" dirty="0"/>
              <a:t> </a:t>
            </a:r>
            <a:r>
              <a:rPr lang="en-US" sz="1600" dirty="0">
                <a:solidFill>
                  <a:srgbClr val="FFFF99"/>
                </a:solidFill>
              </a:rPr>
              <a:t>#</a:t>
            </a:r>
            <a:r>
              <a:rPr lang="en-US" sz="1600" dirty="0">
                <a:solidFill>
                  <a:srgbClr val="FF66FF"/>
                </a:solidFill>
              </a:rPr>
              <a:t>&gt;</a:t>
            </a:r>
          </a:p>
          <a:p>
            <a:r>
              <a:rPr lang="en-US" sz="1600" dirty="0"/>
              <a:t>-</a:t>
            </a:r>
            <a:r>
              <a:rPr lang="en-US" sz="1200" dirty="0"/>
              <a:t>since there’s a</a:t>
            </a:r>
            <a:r>
              <a:rPr lang="en-US" sz="1600" dirty="0"/>
              <a:t> </a:t>
            </a:r>
            <a:r>
              <a:rPr lang="en-US" sz="1600" dirty="0">
                <a:solidFill>
                  <a:srgbClr val="FFFF99"/>
                </a:solidFill>
              </a:rPr>
              <a:t>#</a:t>
            </a:r>
            <a:r>
              <a:rPr lang="en-US" sz="1600" dirty="0">
                <a:solidFill>
                  <a:srgbClr val="FF66FF"/>
                </a:solidFill>
              </a:rPr>
              <a:t>&gt;</a:t>
            </a:r>
            <a:r>
              <a:rPr lang="en-US" sz="1600" dirty="0"/>
              <a:t> </a:t>
            </a:r>
            <a:r>
              <a:rPr lang="en-US" sz="1200" dirty="0"/>
              <a:t>on most </a:t>
            </a:r>
            <a:r>
              <a:rPr lang="en-US" sz="1600" dirty="0">
                <a:solidFill>
                  <a:srgbClr val="66CCFF"/>
                </a:solidFill>
              </a:rPr>
              <a:t>HARDWARE</a:t>
            </a:r>
            <a:r>
              <a:rPr lang="en-US" sz="1600" dirty="0"/>
              <a:t> </a:t>
            </a:r>
            <a:r>
              <a:rPr lang="en-US" sz="1200" dirty="0"/>
              <a:t>this is </a:t>
            </a:r>
            <a:r>
              <a:rPr lang="en-US" sz="1600" dirty="0">
                <a:solidFill>
                  <a:srgbClr val="FF3300"/>
                </a:solidFill>
              </a:rPr>
              <a:t>BENEFICIAL</a:t>
            </a:r>
          </a:p>
          <a:p>
            <a:r>
              <a:rPr lang="en-US" sz="1600" dirty="0"/>
              <a:t>-</a:t>
            </a:r>
            <a:r>
              <a:rPr lang="en-US" sz="1600" dirty="0">
                <a:solidFill>
                  <a:srgbClr val="66CCFF"/>
                </a:solidFill>
              </a:rPr>
              <a:t>&lt;</a:t>
            </a:r>
            <a:r>
              <a:rPr lang="en-US" sz="1600" dirty="0"/>
              <a:t> </a:t>
            </a:r>
            <a:r>
              <a:rPr lang="en-US" sz="1200" dirty="0"/>
              <a:t>use spikes </a:t>
            </a:r>
            <a:r>
              <a:rPr lang="en-US" sz="1600" dirty="0">
                <a:solidFill>
                  <a:srgbClr val="00CCFF"/>
                </a:solidFill>
              </a:rPr>
              <a:t>ONLY</a:t>
            </a:r>
            <a:r>
              <a:rPr lang="en-US" sz="1600" dirty="0"/>
              <a:t> </a:t>
            </a:r>
            <a:r>
              <a:rPr lang="en-US" sz="1200" dirty="0"/>
              <a:t>while</a:t>
            </a:r>
            <a:r>
              <a:rPr lang="en-US" sz="1600" dirty="0"/>
              <a:t> </a:t>
            </a:r>
            <a:r>
              <a:rPr lang="en-US" sz="1600" dirty="0">
                <a:solidFill>
                  <a:srgbClr val="6666FF"/>
                </a:solidFill>
              </a:rPr>
              <a:t>HANDLING</a:t>
            </a:r>
            <a:r>
              <a:rPr lang="en-US" sz="1600" dirty="0"/>
              <a:t> </a:t>
            </a:r>
            <a:r>
              <a:rPr lang="en-US" sz="1600" dirty="0">
                <a:solidFill>
                  <a:srgbClr val="92D050"/>
                </a:solidFill>
              </a:rPr>
              <a:t>@</a:t>
            </a:r>
            <a:r>
              <a:rPr lang="en-US" sz="1600" dirty="0"/>
              <a:t> </a:t>
            </a:r>
            <a:r>
              <a:rPr lang="en-US" sz="1200" dirty="0"/>
              <a:t>and</a:t>
            </a:r>
            <a:r>
              <a:rPr lang="en-US" sz="1600" dirty="0"/>
              <a:t> </a:t>
            </a:r>
            <a:r>
              <a:rPr lang="en-US" sz="1600" dirty="0">
                <a:solidFill>
                  <a:srgbClr val="00CCFF"/>
                </a:solidFill>
              </a:rPr>
              <a:t>USES</a:t>
            </a:r>
            <a:r>
              <a:rPr lang="en-US" sz="1600" dirty="0"/>
              <a:t> </a:t>
            </a:r>
            <a:r>
              <a:rPr lang="en-US" sz="1200" dirty="0"/>
              <a:t>less overall</a:t>
            </a:r>
            <a:r>
              <a:rPr lang="en-US" sz="1600" dirty="0"/>
              <a:t> </a:t>
            </a:r>
            <a:r>
              <a:rPr lang="en-US" sz="1600" dirty="0">
                <a:solidFill>
                  <a:srgbClr val="FF66FF"/>
                </a:solidFill>
              </a:rPr>
              <a:t>&gt;</a:t>
            </a:r>
          </a:p>
          <a:p>
            <a:r>
              <a:rPr lang="en-US" sz="1600" dirty="0"/>
              <a:t>-98% </a:t>
            </a:r>
            <a:r>
              <a:rPr lang="en-US" sz="1100" dirty="0"/>
              <a:t>less</a:t>
            </a:r>
            <a:r>
              <a:rPr lang="en-US" sz="1600" dirty="0"/>
              <a:t> </a:t>
            </a:r>
            <a:r>
              <a:rPr lang="en-US" sz="1600" dirty="0">
                <a:solidFill>
                  <a:srgbClr val="FF66FF"/>
                </a:solidFill>
              </a:rPr>
              <a:t>&gt;</a:t>
            </a:r>
            <a:r>
              <a:rPr lang="en-US" sz="1600" dirty="0"/>
              <a:t> </a:t>
            </a:r>
            <a:r>
              <a:rPr lang="en-US" sz="1100" dirty="0"/>
              <a:t>in the </a:t>
            </a:r>
            <a:r>
              <a:rPr lang="en-US" sz="1600" dirty="0">
                <a:solidFill>
                  <a:srgbClr val="99FF33"/>
                </a:solidFill>
              </a:rPr>
              <a:t>CASE</a:t>
            </a:r>
            <a:r>
              <a:rPr lang="en-US" sz="1600" dirty="0"/>
              <a:t> </a:t>
            </a:r>
            <a:r>
              <a:rPr lang="en-US" sz="1100" dirty="0"/>
              <a:t>of the US CDI Database</a:t>
            </a:r>
            <a:endParaRPr lang="en-US" sz="1600" dirty="0"/>
          </a:p>
          <a:p>
            <a:r>
              <a:rPr lang="en-US" sz="1600" dirty="0"/>
              <a:t>-</a:t>
            </a:r>
            <a:r>
              <a:rPr lang="en-US" sz="1100" dirty="0"/>
              <a:t>if you are an </a:t>
            </a:r>
            <a:r>
              <a:rPr lang="en-US" sz="1600" dirty="0">
                <a:solidFill>
                  <a:srgbClr val="FFC000"/>
                </a:solidFill>
              </a:rPr>
              <a:t>AGENT </a:t>
            </a:r>
            <a:r>
              <a:rPr lang="en-US" sz="1100" dirty="0"/>
              <a:t>handling</a:t>
            </a:r>
            <a:r>
              <a:rPr lang="en-US" sz="1600" dirty="0"/>
              <a:t> </a:t>
            </a:r>
            <a:r>
              <a:rPr lang="en-US" sz="1600" dirty="0">
                <a:solidFill>
                  <a:srgbClr val="99FF33"/>
                </a:solidFill>
              </a:rPr>
              <a:t>^</a:t>
            </a:r>
            <a:r>
              <a:rPr lang="en-US" sz="1100" dirty="0"/>
              <a:t>s your </a:t>
            </a:r>
            <a:r>
              <a:rPr lang="en-US" sz="1600" dirty="0">
                <a:solidFill>
                  <a:srgbClr val="66CCFF"/>
                </a:solidFill>
              </a:rPr>
              <a:t>&lt;</a:t>
            </a:r>
            <a:r>
              <a:rPr lang="en-US" sz="1600" dirty="0">
                <a:solidFill>
                  <a:srgbClr val="00CCFF"/>
                </a:solidFill>
              </a:rPr>
              <a:t>[</a:t>
            </a:r>
            <a:r>
              <a:rPr lang="en-US" sz="1100" dirty="0"/>
              <a:t>a</a:t>
            </a:r>
            <a:r>
              <a:rPr lang="en-US" sz="1600" dirty="0">
                <a:solidFill>
                  <a:srgbClr val="FFFF99"/>
                </a:solidFill>
              </a:rPr>
              <a:t>#</a:t>
            </a:r>
            <a:r>
              <a:rPr lang="en-US" sz="1600" dirty="0">
                <a:solidFill>
                  <a:srgbClr val="FF66FF"/>
                </a:solidFill>
              </a:rPr>
              <a:t>&gt; </a:t>
            </a:r>
            <a:r>
              <a:rPr lang="en-US" sz="1100" dirty="0"/>
              <a:t>which is already</a:t>
            </a:r>
            <a:r>
              <a:rPr lang="en-US" sz="1600" dirty="0"/>
              <a:t> </a:t>
            </a:r>
            <a:r>
              <a:rPr lang="en-US" sz="1600" dirty="0">
                <a:solidFill>
                  <a:srgbClr val="FF3300"/>
                </a:solidFill>
              </a:rPr>
              <a:t>]</a:t>
            </a:r>
          </a:p>
          <a:p>
            <a:r>
              <a:rPr lang="en-US" sz="1600" dirty="0"/>
              <a:t>-</a:t>
            </a:r>
            <a:r>
              <a:rPr lang="en-US" sz="1600" dirty="0">
                <a:solidFill>
                  <a:srgbClr val="FFC000"/>
                </a:solidFill>
              </a:rPr>
              <a:t>|</a:t>
            </a:r>
            <a:r>
              <a:rPr lang="en-US" sz="1200" dirty="0"/>
              <a:t>s will see increases in</a:t>
            </a:r>
            <a:r>
              <a:rPr lang="en-US" sz="1600" dirty="0"/>
              <a:t> </a:t>
            </a:r>
            <a:r>
              <a:rPr lang="en-US" sz="1600" dirty="0">
                <a:solidFill>
                  <a:srgbClr val="99FF33"/>
                </a:solidFill>
              </a:rPr>
              <a:t>^</a:t>
            </a:r>
            <a:r>
              <a:rPr lang="en-US" sz="1600" dirty="0">
                <a:solidFill>
                  <a:srgbClr val="6666FF"/>
                </a:solidFill>
              </a:rPr>
              <a:t>}</a:t>
            </a:r>
            <a:r>
              <a:rPr lang="en-US" sz="1600" dirty="0"/>
              <a:t> , </a:t>
            </a:r>
            <a:r>
              <a:rPr lang="en-US" sz="1600" dirty="0">
                <a:solidFill>
                  <a:srgbClr val="92D050"/>
                </a:solidFill>
              </a:rPr>
              <a:t>@</a:t>
            </a:r>
            <a:r>
              <a:rPr lang="en-US" sz="1600" dirty="0"/>
              <a:t> </a:t>
            </a:r>
            <a:r>
              <a:rPr lang="en-US" sz="1200" dirty="0"/>
              <a:t>availability,</a:t>
            </a:r>
            <a:r>
              <a:rPr lang="en-US" sz="1600" dirty="0">
                <a:solidFill>
                  <a:schemeClr val="accent1">
                    <a:lumMod val="75000"/>
                  </a:schemeClr>
                </a:solidFill>
              </a:rPr>
              <a:t> Use Cases </a:t>
            </a:r>
            <a:r>
              <a:rPr lang="en-US" sz="1600" dirty="0"/>
              <a:t>and more</a:t>
            </a:r>
          </a:p>
        </p:txBody>
      </p:sp>
      <p:sp>
        <p:nvSpPr>
          <p:cNvPr id="10" name="Title 1">
            <a:extLst>
              <a:ext uri="{FF2B5EF4-FFF2-40B4-BE49-F238E27FC236}">
                <a16:creationId xmlns:a16="http://schemas.microsoft.com/office/drawing/2014/main" id="{681CA51D-FF26-0D61-599C-7AFA2CDDB564}"/>
              </a:ext>
            </a:extLst>
          </p:cNvPr>
          <p:cNvSpPr txBox="1">
            <a:spLocks/>
          </p:cNvSpPr>
          <p:nvPr/>
        </p:nvSpPr>
        <p:spPr>
          <a:xfrm>
            <a:off x="144378" y="152996"/>
            <a:ext cx="5799222" cy="15016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500" dirty="0">
                <a:solidFill>
                  <a:srgbClr val="92D050"/>
                </a:solidFill>
              </a:rPr>
              <a:t>Metrics</a:t>
            </a:r>
          </a:p>
        </p:txBody>
      </p:sp>
    </p:spTree>
    <p:extLst>
      <p:ext uri="{BB962C8B-B14F-4D97-AF65-F5344CB8AC3E}">
        <p14:creationId xmlns:p14="http://schemas.microsoft.com/office/powerpoint/2010/main" val="1951855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Connector: Elbow 45">
            <a:extLst>
              <a:ext uri="{FF2B5EF4-FFF2-40B4-BE49-F238E27FC236}">
                <a16:creationId xmlns:a16="http://schemas.microsoft.com/office/drawing/2014/main" id="{2B1BD554-86CE-EF87-A2D4-357792DD6EA8}"/>
              </a:ext>
            </a:extLst>
          </p:cNvPr>
          <p:cNvCxnSpPr>
            <a:cxnSpLocks/>
          </p:cNvCxnSpPr>
          <p:nvPr/>
        </p:nvCxnSpPr>
        <p:spPr>
          <a:xfrm rot="10800000">
            <a:off x="149356" y="4381736"/>
            <a:ext cx="10559675" cy="820672"/>
          </a:xfrm>
          <a:prstGeom prst="bentConnector3">
            <a:avLst>
              <a:gd name="adj1" fmla="val 66189"/>
            </a:avLst>
          </a:prstGeom>
          <a:ln w="63500">
            <a:solidFill>
              <a:srgbClr val="FF33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7EB8C5C3-2E7F-AB6F-A4A0-2A3436202A59}"/>
              </a:ext>
            </a:extLst>
          </p:cNvPr>
          <p:cNvCxnSpPr>
            <a:cxnSpLocks/>
          </p:cNvCxnSpPr>
          <p:nvPr/>
        </p:nvCxnSpPr>
        <p:spPr>
          <a:xfrm rot="10800000">
            <a:off x="1" y="3739662"/>
            <a:ext cx="7255299" cy="1445722"/>
          </a:xfrm>
          <a:prstGeom prst="bentConnector3">
            <a:avLst>
              <a:gd name="adj1" fmla="val 48869"/>
            </a:avLst>
          </a:prstGeom>
          <a:ln w="57150">
            <a:solidFill>
              <a:srgbClr val="FF33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BA8DED1-D0CD-791C-A0D0-8C430F11AC11}"/>
              </a:ext>
            </a:extLst>
          </p:cNvPr>
          <p:cNvSpPr txBox="1"/>
          <p:nvPr/>
        </p:nvSpPr>
        <p:spPr>
          <a:xfrm>
            <a:off x="3019472" y="1831853"/>
            <a:ext cx="2795227" cy="461665"/>
          </a:xfrm>
          <a:prstGeom prst="rect">
            <a:avLst/>
          </a:prstGeom>
          <a:noFill/>
          <a:ln>
            <a:solidFill>
              <a:srgbClr val="00B0F0"/>
            </a:solidFill>
          </a:ln>
        </p:spPr>
        <p:txBody>
          <a:bodyPr wrap="square" rtlCol="0">
            <a:spAutoFit/>
          </a:bodyPr>
          <a:lstStyle/>
          <a:p>
            <a:r>
              <a:rPr lang="en-US" sz="1200" dirty="0"/>
              <a:t>It is a simple process in </a:t>
            </a:r>
            <a:r>
              <a:rPr lang="en-US" sz="1200" dirty="0">
                <a:solidFill>
                  <a:srgbClr val="00B050"/>
                </a:solidFill>
              </a:rPr>
              <a:t>excel</a:t>
            </a:r>
            <a:r>
              <a:rPr lang="en-US" sz="1200" dirty="0"/>
              <a:t> to authorize different information for different people.</a:t>
            </a:r>
          </a:p>
        </p:txBody>
      </p:sp>
      <p:sp>
        <p:nvSpPr>
          <p:cNvPr id="4" name="TextBox 3">
            <a:extLst>
              <a:ext uri="{FF2B5EF4-FFF2-40B4-BE49-F238E27FC236}">
                <a16:creationId xmlns:a16="http://schemas.microsoft.com/office/drawing/2014/main" id="{D54309BD-E87A-29FA-F314-4816AE2D0B04}"/>
              </a:ext>
            </a:extLst>
          </p:cNvPr>
          <p:cNvSpPr txBox="1"/>
          <p:nvPr/>
        </p:nvSpPr>
        <p:spPr>
          <a:xfrm>
            <a:off x="232814" y="1905602"/>
            <a:ext cx="2702169" cy="400110"/>
          </a:xfrm>
          <a:prstGeom prst="rect">
            <a:avLst/>
          </a:prstGeom>
          <a:noFill/>
          <a:ln>
            <a:solidFill>
              <a:srgbClr val="00B0F0"/>
            </a:solidFill>
          </a:ln>
        </p:spPr>
        <p:txBody>
          <a:bodyPr wrap="square" rtlCol="0">
            <a:spAutoFit/>
          </a:bodyPr>
          <a:lstStyle/>
          <a:p>
            <a:r>
              <a:rPr lang="en-US" sz="1000" dirty="0">
                <a:solidFill>
                  <a:srgbClr val="00B050"/>
                </a:solidFill>
              </a:rPr>
              <a:t>=info(“directory”)</a:t>
            </a:r>
          </a:p>
          <a:p>
            <a:r>
              <a:rPr lang="en-US" sz="1000" dirty="0">
                <a:solidFill>
                  <a:srgbClr val="00B050"/>
                </a:solidFill>
              </a:rPr>
              <a:t>-provides the directory of the requestor</a:t>
            </a:r>
          </a:p>
        </p:txBody>
      </p:sp>
      <p:sp>
        <p:nvSpPr>
          <p:cNvPr id="19" name="TextBox 18">
            <a:extLst>
              <a:ext uri="{FF2B5EF4-FFF2-40B4-BE49-F238E27FC236}">
                <a16:creationId xmlns:a16="http://schemas.microsoft.com/office/drawing/2014/main" id="{6B0261AF-18F0-258B-4862-E7CAD7FAE571}"/>
              </a:ext>
            </a:extLst>
          </p:cNvPr>
          <p:cNvSpPr txBox="1"/>
          <p:nvPr/>
        </p:nvSpPr>
        <p:spPr>
          <a:xfrm>
            <a:off x="663455" y="2367267"/>
            <a:ext cx="2599594" cy="400110"/>
          </a:xfrm>
          <a:prstGeom prst="rect">
            <a:avLst/>
          </a:prstGeom>
          <a:noFill/>
          <a:ln>
            <a:solidFill>
              <a:srgbClr val="00B0F0"/>
            </a:solidFill>
          </a:ln>
        </p:spPr>
        <p:txBody>
          <a:bodyPr wrap="square" rtlCol="0">
            <a:spAutoFit/>
          </a:bodyPr>
          <a:lstStyle/>
          <a:p>
            <a:pPr algn="ctr"/>
            <a:r>
              <a:rPr lang="en-US" sz="1000" dirty="0">
                <a:solidFill>
                  <a:srgbClr val="00B050"/>
                </a:solidFill>
              </a:rPr>
              <a:t>secret keys or passwords that are otherwise meaningless</a:t>
            </a:r>
          </a:p>
        </p:txBody>
      </p:sp>
      <p:sp>
        <p:nvSpPr>
          <p:cNvPr id="20" name="TextBox 19">
            <a:extLst>
              <a:ext uri="{FF2B5EF4-FFF2-40B4-BE49-F238E27FC236}">
                <a16:creationId xmlns:a16="http://schemas.microsoft.com/office/drawing/2014/main" id="{876F244A-BF1E-8F13-F4F6-FD00CFB1C26F}"/>
              </a:ext>
            </a:extLst>
          </p:cNvPr>
          <p:cNvSpPr txBox="1"/>
          <p:nvPr/>
        </p:nvSpPr>
        <p:spPr>
          <a:xfrm>
            <a:off x="232814" y="2831364"/>
            <a:ext cx="2028094" cy="830997"/>
          </a:xfrm>
          <a:prstGeom prst="rect">
            <a:avLst/>
          </a:prstGeom>
          <a:noFill/>
          <a:ln>
            <a:solidFill>
              <a:srgbClr val="00B0F0"/>
            </a:solidFill>
          </a:ln>
        </p:spPr>
        <p:txBody>
          <a:bodyPr wrap="square" rtlCol="0">
            <a:spAutoFit/>
          </a:bodyPr>
          <a:lstStyle/>
          <a:p>
            <a:pPr algn="ctr"/>
            <a:r>
              <a:rPr lang="en-US" sz="1200" dirty="0"/>
              <a:t>since </a:t>
            </a:r>
            <a:r>
              <a:rPr lang="en-US" sz="1200" dirty="0">
                <a:solidFill>
                  <a:srgbClr val="00B0F0"/>
                </a:solidFill>
              </a:rPr>
              <a:t>information</a:t>
            </a:r>
            <a:r>
              <a:rPr lang="en-US" sz="1200" dirty="0"/>
              <a:t> can be </a:t>
            </a:r>
            <a:r>
              <a:rPr lang="en-US" sz="1200" dirty="0">
                <a:solidFill>
                  <a:srgbClr val="00B0F0"/>
                </a:solidFill>
              </a:rPr>
              <a:t>stored locally</a:t>
            </a:r>
            <a:r>
              <a:rPr lang="en-US" sz="1200" dirty="0"/>
              <a:t> on a machine, you don’t need to store all of the eggs in a single basket</a:t>
            </a:r>
          </a:p>
        </p:txBody>
      </p:sp>
      <p:sp>
        <p:nvSpPr>
          <p:cNvPr id="7" name="TextBox 6">
            <a:extLst>
              <a:ext uri="{FF2B5EF4-FFF2-40B4-BE49-F238E27FC236}">
                <a16:creationId xmlns:a16="http://schemas.microsoft.com/office/drawing/2014/main" id="{9FE17884-03E1-BF31-F71F-016D6D7D7A05}"/>
              </a:ext>
            </a:extLst>
          </p:cNvPr>
          <p:cNvSpPr txBox="1"/>
          <p:nvPr/>
        </p:nvSpPr>
        <p:spPr>
          <a:xfrm>
            <a:off x="396300" y="3821144"/>
            <a:ext cx="2233243" cy="461665"/>
          </a:xfrm>
          <a:prstGeom prst="rect">
            <a:avLst/>
          </a:prstGeom>
          <a:noFill/>
          <a:ln>
            <a:solidFill>
              <a:srgbClr val="00B0F0"/>
            </a:solidFill>
          </a:ln>
        </p:spPr>
        <p:txBody>
          <a:bodyPr wrap="square" rtlCol="0">
            <a:spAutoFit/>
          </a:bodyPr>
          <a:lstStyle/>
          <a:p>
            <a:pPr algn="ctr"/>
            <a:r>
              <a:rPr lang="en-US" sz="1200" dirty="0"/>
              <a:t>or even in </a:t>
            </a:r>
            <a:r>
              <a:rPr lang="en-US" sz="1200" dirty="0">
                <a:solidFill>
                  <a:srgbClr val="00B0F0"/>
                </a:solidFill>
              </a:rPr>
              <a:t>different text or file formats</a:t>
            </a:r>
            <a:r>
              <a:rPr lang="en-US" sz="1200" dirty="0"/>
              <a:t> in different programs</a:t>
            </a:r>
          </a:p>
        </p:txBody>
      </p:sp>
      <p:sp>
        <p:nvSpPr>
          <p:cNvPr id="8" name="TextBox 7">
            <a:extLst>
              <a:ext uri="{FF2B5EF4-FFF2-40B4-BE49-F238E27FC236}">
                <a16:creationId xmlns:a16="http://schemas.microsoft.com/office/drawing/2014/main" id="{245B4F74-B187-2723-10D3-92218FC32DE4}"/>
              </a:ext>
            </a:extLst>
          </p:cNvPr>
          <p:cNvSpPr txBox="1"/>
          <p:nvPr/>
        </p:nvSpPr>
        <p:spPr>
          <a:xfrm>
            <a:off x="2360558" y="2838776"/>
            <a:ext cx="2599594" cy="830997"/>
          </a:xfrm>
          <a:prstGeom prst="rect">
            <a:avLst/>
          </a:prstGeom>
          <a:noFill/>
          <a:ln>
            <a:solidFill>
              <a:srgbClr val="00B0F0"/>
            </a:solidFill>
          </a:ln>
        </p:spPr>
        <p:txBody>
          <a:bodyPr wrap="square" rtlCol="0">
            <a:spAutoFit/>
          </a:bodyPr>
          <a:lstStyle/>
          <a:p>
            <a:pPr algn="ctr"/>
            <a:r>
              <a:rPr lang="en-US" sz="1200" dirty="0">
                <a:solidFill>
                  <a:srgbClr val="00B0F0"/>
                </a:solidFill>
              </a:rPr>
              <a:t>human interaction</a:t>
            </a:r>
            <a:r>
              <a:rPr lang="en-US" sz="1200" dirty="0"/>
              <a:t> and preference increases the randomness of your vulnerable data while allowing you to </a:t>
            </a:r>
            <a:r>
              <a:rPr lang="en-US" sz="1200" dirty="0">
                <a:solidFill>
                  <a:srgbClr val="00B0F0"/>
                </a:solidFill>
              </a:rPr>
              <a:t>truly</a:t>
            </a:r>
            <a:r>
              <a:rPr lang="en-US" sz="1200" dirty="0"/>
              <a:t> </a:t>
            </a:r>
            <a:r>
              <a:rPr lang="en-US" sz="1200" dirty="0">
                <a:solidFill>
                  <a:srgbClr val="00B0F0"/>
                </a:solidFill>
              </a:rPr>
              <a:t>be careful with </a:t>
            </a:r>
            <a:r>
              <a:rPr lang="en-US" sz="1200" b="1" dirty="0">
                <a:solidFill>
                  <a:srgbClr val="00B0F0"/>
                </a:solidFill>
              </a:rPr>
              <a:t>condensed data</a:t>
            </a:r>
          </a:p>
        </p:txBody>
      </p:sp>
      <p:sp>
        <p:nvSpPr>
          <p:cNvPr id="10" name="TextBox 9">
            <a:extLst>
              <a:ext uri="{FF2B5EF4-FFF2-40B4-BE49-F238E27FC236}">
                <a16:creationId xmlns:a16="http://schemas.microsoft.com/office/drawing/2014/main" id="{67D9CFA7-54AC-3239-B7A1-EC005B5FC46A}"/>
              </a:ext>
            </a:extLst>
          </p:cNvPr>
          <p:cNvSpPr txBox="1"/>
          <p:nvPr/>
        </p:nvSpPr>
        <p:spPr>
          <a:xfrm>
            <a:off x="2764036" y="3822538"/>
            <a:ext cx="2901268" cy="461665"/>
          </a:xfrm>
          <a:prstGeom prst="rect">
            <a:avLst/>
          </a:prstGeom>
          <a:noFill/>
          <a:ln>
            <a:solidFill>
              <a:srgbClr val="00B0F0"/>
            </a:solidFill>
          </a:ln>
        </p:spPr>
        <p:txBody>
          <a:bodyPr wrap="square" rtlCol="0">
            <a:spAutoFit/>
          </a:bodyPr>
          <a:lstStyle/>
          <a:p>
            <a:pPr algn="ctr"/>
            <a:r>
              <a:rPr lang="en-US" sz="1200" dirty="0"/>
              <a:t>using       the ‘share’ feature, data            can be      monitored and controlled</a:t>
            </a:r>
            <a:endParaRPr lang="en-US" sz="1200" b="1" dirty="0">
              <a:solidFill>
                <a:srgbClr val="00B0F0"/>
              </a:solidFill>
            </a:endParaRPr>
          </a:p>
        </p:txBody>
      </p:sp>
      <p:sp>
        <p:nvSpPr>
          <p:cNvPr id="11" name="TextBox 10">
            <a:extLst>
              <a:ext uri="{FF2B5EF4-FFF2-40B4-BE49-F238E27FC236}">
                <a16:creationId xmlns:a16="http://schemas.microsoft.com/office/drawing/2014/main" id="{2566FC49-BE42-9A64-07E3-B7914F1D1369}"/>
              </a:ext>
            </a:extLst>
          </p:cNvPr>
          <p:cNvSpPr txBox="1"/>
          <p:nvPr/>
        </p:nvSpPr>
        <p:spPr>
          <a:xfrm>
            <a:off x="537431" y="4441592"/>
            <a:ext cx="4537658" cy="646331"/>
          </a:xfrm>
          <a:prstGeom prst="rect">
            <a:avLst/>
          </a:prstGeom>
          <a:noFill/>
          <a:ln>
            <a:solidFill>
              <a:srgbClr val="00B0F0"/>
            </a:solidFill>
          </a:ln>
        </p:spPr>
        <p:txBody>
          <a:bodyPr wrap="square" rtlCol="0">
            <a:spAutoFit/>
          </a:bodyPr>
          <a:lstStyle/>
          <a:p>
            <a:pPr algn="ctr"/>
            <a:r>
              <a:rPr lang="en-US" sz="1200" dirty="0"/>
              <a:t>a further measure I call PFSS or ‘</a:t>
            </a:r>
            <a:r>
              <a:rPr lang="en-US" sz="1200" dirty="0">
                <a:solidFill>
                  <a:srgbClr val="00B0F0"/>
                </a:solidFill>
              </a:rPr>
              <a:t>passive flow         stop system</a:t>
            </a:r>
            <a:r>
              <a:rPr lang="en-US" sz="1200" dirty="0"/>
              <a:t>’ would check the excel document companion for               “credentials” prior to supplying data to a .txt, it would just be        more VBA code</a:t>
            </a:r>
            <a:endParaRPr lang="en-US" sz="1200" b="1" dirty="0">
              <a:solidFill>
                <a:srgbClr val="00B0F0"/>
              </a:solidFill>
            </a:endParaRPr>
          </a:p>
        </p:txBody>
      </p:sp>
      <p:sp>
        <p:nvSpPr>
          <p:cNvPr id="12" name="TextBox 11">
            <a:extLst>
              <a:ext uri="{FF2B5EF4-FFF2-40B4-BE49-F238E27FC236}">
                <a16:creationId xmlns:a16="http://schemas.microsoft.com/office/drawing/2014/main" id="{FC73DBA1-E645-5BDF-FB06-43D844D0A193}"/>
              </a:ext>
            </a:extLst>
          </p:cNvPr>
          <p:cNvSpPr txBox="1"/>
          <p:nvPr/>
        </p:nvSpPr>
        <p:spPr>
          <a:xfrm>
            <a:off x="3355567" y="2428822"/>
            <a:ext cx="1823127" cy="276999"/>
          </a:xfrm>
          <a:prstGeom prst="rect">
            <a:avLst/>
          </a:prstGeom>
          <a:noFill/>
          <a:ln>
            <a:solidFill>
              <a:srgbClr val="00B0F0"/>
            </a:solidFill>
          </a:ln>
        </p:spPr>
        <p:txBody>
          <a:bodyPr wrap="square" rtlCol="0">
            <a:spAutoFit/>
          </a:bodyPr>
          <a:lstStyle/>
          <a:p>
            <a:pPr algn="ctr"/>
            <a:r>
              <a:rPr lang="en-US" sz="600" dirty="0"/>
              <a:t>A wall built of many bricks will not stop the water, but it will stop the lazy from moving it too quickly</a:t>
            </a:r>
          </a:p>
        </p:txBody>
      </p:sp>
      <p:cxnSp>
        <p:nvCxnSpPr>
          <p:cNvPr id="18" name="Connector: Elbow 17">
            <a:extLst>
              <a:ext uri="{FF2B5EF4-FFF2-40B4-BE49-F238E27FC236}">
                <a16:creationId xmlns:a16="http://schemas.microsoft.com/office/drawing/2014/main" id="{CB3C8AD0-2CFB-B4DB-CC6F-877A58C65294}"/>
              </a:ext>
            </a:extLst>
          </p:cNvPr>
          <p:cNvCxnSpPr>
            <a:cxnSpLocks/>
          </p:cNvCxnSpPr>
          <p:nvPr/>
        </p:nvCxnSpPr>
        <p:spPr>
          <a:xfrm rot="10800000">
            <a:off x="229774" y="2767377"/>
            <a:ext cx="7022480" cy="2426518"/>
          </a:xfrm>
          <a:prstGeom prst="bentConnector3">
            <a:avLst>
              <a:gd name="adj1" fmla="val 21222"/>
            </a:avLst>
          </a:prstGeom>
          <a:ln w="57150">
            <a:solidFill>
              <a:srgbClr val="FF33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2450A386-AA4C-ABAD-95C6-D42F201023ED}"/>
              </a:ext>
            </a:extLst>
          </p:cNvPr>
          <p:cNvCxnSpPr>
            <a:cxnSpLocks/>
          </p:cNvCxnSpPr>
          <p:nvPr/>
        </p:nvCxnSpPr>
        <p:spPr>
          <a:xfrm rot="10800000" flipV="1">
            <a:off x="149356" y="5193896"/>
            <a:ext cx="7102901" cy="120226"/>
          </a:xfrm>
          <a:prstGeom prst="bentConnector3">
            <a:avLst>
              <a:gd name="adj1" fmla="val 50000"/>
            </a:avLst>
          </a:prstGeom>
          <a:ln w="57150">
            <a:solidFill>
              <a:srgbClr val="FF33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9CB8EB8A-7C07-DA82-5620-A804F74F92C7}"/>
              </a:ext>
            </a:extLst>
          </p:cNvPr>
          <p:cNvCxnSpPr>
            <a:cxnSpLocks/>
          </p:cNvCxnSpPr>
          <p:nvPr/>
        </p:nvCxnSpPr>
        <p:spPr>
          <a:xfrm rot="10800000">
            <a:off x="149362" y="4373224"/>
            <a:ext cx="7649542" cy="820673"/>
          </a:xfrm>
          <a:prstGeom prst="bentConnector3">
            <a:avLst>
              <a:gd name="adj1" fmla="val 53465"/>
            </a:avLst>
          </a:prstGeom>
          <a:ln w="63500">
            <a:solidFill>
              <a:srgbClr val="FF3300"/>
            </a:solidFill>
            <a:tailEnd type="triangle"/>
          </a:ln>
        </p:spPr>
        <p:style>
          <a:lnRef idx="1">
            <a:schemeClr val="accent1"/>
          </a:lnRef>
          <a:fillRef idx="0">
            <a:schemeClr val="accent1"/>
          </a:fillRef>
          <a:effectRef idx="0">
            <a:schemeClr val="accent1"/>
          </a:effectRef>
          <a:fontRef idx="minor">
            <a:schemeClr val="tx1"/>
          </a:fontRef>
        </p:style>
      </p:cxnSp>
      <p:pic>
        <p:nvPicPr>
          <p:cNvPr id="6" name="Graphic 5" descr="Chemicals outline">
            <a:extLst>
              <a:ext uri="{FF2B5EF4-FFF2-40B4-BE49-F238E27FC236}">
                <a16:creationId xmlns:a16="http://schemas.microsoft.com/office/drawing/2014/main" id="{41799233-57D4-DCA9-D40D-35690185DD99}"/>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8123" y="-1324709"/>
            <a:ext cx="10421814" cy="11383107"/>
          </a:xfrm>
          <a:prstGeom prst="rect">
            <a:avLst/>
          </a:prstGeom>
        </p:spPr>
      </p:pic>
      <p:sp>
        <p:nvSpPr>
          <p:cNvPr id="49" name="TextBox 48">
            <a:extLst>
              <a:ext uri="{FF2B5EF4-FFF2-40B4-BE49-F238E27FC236}">
                <a16:creationId xmlns:a16="http://schemas.microsoft.com/office/drawing/2014/main" id="{5FD575F6-52D8-8E6C-E389-BF9164DF2ABF}"/>
              </a:ext>
            </a:extLst>
          </p:cNvPr>
          <p:cNvSpPr txBox="1"/>
          <p:nvPr/>
        </p:nvSpPr>
        <p:spPr>
          <a:xfrm>
            <a:off x="581830" y="5605014"/>
            <a:ext cx="3855988" cy="830997"/>
          </a:xfrm>
          <a:prstGeom prst="rect">
            <a:avLst/>
          </a:prstGeom>
          <a:noFill/>
          <a:ln>
            <a:solidFill>
              <a:srgbClr val="00B0F0"/>
            </a:solidFill>
          </a:ln>
        </p:spPr>
        <p:txBody>
          <a:bodyPr wrap="square" rtlCol="0">
            <a:spAutoFit/>
          </a:bodyPr>
          <a:lstStyle/>
          <a:p>
            <a:pPr algn="ctr"/>
            <a:r>
              <a:rPr lang="en-US" sz="1200" dirty="0"/>
              <a:t>in my mind this represents keeping the human at the center of the equation by assigning storage of certain information to their stations as an integral part of their work process and our data management solution</a:t>
            </a:r>
            <a:endParaRPr lang="en-US" sz="1200" b="1" dirty="0">
              <a:solidFill>
                <a:srgbClr val="00B0F0"/>
              </a:solidFill>
            </a:endParaRPr>
          </a:p>
        </p:txBody>
      </p:sp>
      <p:sp>
        <p:nvSpPr>
          <p:cNvPr id="50" name="TextBox 49">
            <a:extLst>
              <a:ext uri="{FF2B5EF4-FFF2-40B4-BE49-F238E27FC236}">
                <a16:creationId xmlns:a16="http://schemas.microsoft.com/office/drawing/2014/main" id="{A2C01BBC-5196-D1F7-E2FD-6E04134375F0}"/>
              </a:ext>
            </a:extLst>
          </p:cNvPr>
          <p:cNvSpPr txBox="1"/>
          <p:nvPr/>
        </p:nvSpPr>
        <p:spPr>
          <a:xfrm>
            <a:off x="4597532" y="5303798"/>
            <a:ext cx="2418369" cy="830997"/>
          </a:xfrm>
          <a:prstGeom prst="rect">
            <a:avLst/>
          </a:prstGeom>
          <a:noFill/>
          <a:ln>
            <a:solidFill>
              <a:srgbClr val="00B0F0"/>
            </a:solidFill>
          </a:ln>
        </p:spPr>
        <p:txBody>
          <a:bodyPr wrap="square" rtlCol="0">
            <a:spAutoFit/>
          </a:bodyPr>
          <a:lstStyle/>
          <a:p>
            <a:pPr algn="ctr"/>
            <a:r>
              <a:rPr lang="en-US" sz="1200" b="1" dirty="0">
                <a:solidFill>
                  <a:srgbClr val="00B0F0"/>
                </a:solidFill>
              </a:rPr>
              <a:t>while being able to be freely modified with a common skillset or automatically by AI in the near future</a:t>
            </a:r>
          </a:p>
        </p:txBody>
      </p:sp>
      <p:sp>
        <p:nvSpPr>
          <p:cNvPr id="13" name="Title 1">
            <a:extLst>
              <a:ext uri="{FF2B5EF4-FFF2-40B4-BE49-F238E27FC236}">
                <a16:creationId xmlns:a16="http://schemas.microsoft.com/office/drawing/2014/main" id="{80F07C35-78AC-5671-B052-0F5C90C79471}"/>
              </a:ext>
            </a:extLst>
          </p:cNvPr>
          <p:cNvSpPr txBox="1">
            <a:spLocks/>
          </p:cNvSpPr>
          <p:nvPr/>
        </p:nvSpPr>
        <p:spPr>
          <a:xfrm>
            <a:off x="144378" y="152996"/>
            <a:ext cx="5799222" cy="15016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500" dirty="0">
                <a:solidFill>
                  <a:srgbClr val="92D050"/>
                </a:solidFill>
              </a:rPr>
              <a:t>Metrics</a:t>
            </a:r>
          </a:p>
        </p:txBody>
      </p:sp>
      <p:sp>
        <p:nvSpPr>
          <p:cNvPr id="14" name="TextBox 13">
            <a:extLst>
              <a:ext uri="{FF2B5EF4-FFF2-40B4-BE49-F238E27FC236}">
                <a16:creationId xmlns:a16="http://schemas.microsoft.com/office/drawing/2014/main" id="{D656AF4E-8DAF-E8E1-E0F6-B4F076D3622B}"/>
              </a:ext>
            </a:extLst>
          </p:cNvPr>
          <p:cNvSpPr txBox="1"/>
          <p:nvPr/>
        </p:nvSpPr>
        <p:spPr>
          <a:xfrm>
            <a:off x="229773" y="1338194"/>
            <a:ext cx="5978077" cy="461665"/>
          </a:xfrm>
          <a:prstGeom prst="rect">
            <a:avLst/>
          </a:prstGeom>
          <a:noFill/>
        </p:spPr>
        <p:txBody>
          <a:bodyPr wrap="square" rtlCol="0">
            <a:spAutoFit/>
          </a:bodyPr>
          <a:lstStyle/>
          <a:p>
            <a:r>
              <a:rPr lang="en-US" sz="2400" dirty="0"/>
              <a:t>And finally, Data Security &amp; Ethics</a:t>
            </a:r>
            <a:endParaRPr lang="en-US" sz="2400" dirty="0">
              <a:solidFill>
                <a:srgbClr val="00B050"/>
              </a:solidFill>
            </a:endParaRPr>
          </a:p>
        </p:txBody>
      </p:sp>
    </p:spTree>
    <p:extLst>
      <p:ext uri="{BB962C8B-B14F-4D97-AF65-F5344CB8AC3E}">
        <p14:creationId xmlns:p14="http://schemas.microsoft.com/office/powerpoint/2010/main" val="3286945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9632-7BB0-B7B7-B987-F6ACA7BF7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58B39-1ADE-166C-59A4-A8DC3B0B7B60}"/>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Metrics</a:t>
            </a:r>
          </a:p>
        </p:txBody>
      </p:sp>
      <p:pic>
        <p:nvPicPr>
          <p:cNvPr id="5" name="Graphic 4" descr="Chemicals outline">
            <a:extLst>
              <a:ext uri="{FF2B5EF4-FFF2-40B4-BE49-F238E27FC236}">
                <a16:creationId xmlns:a16="http://schemas.microsoft.com/office/drawing/2014/main" id="{33E86B37-613D-4981-6661-E999B9BC9898}"/>
              </a:ext>
            </a:extLst>
          </p:cNvPr>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8123" y="-1324709"/>
            <a:ext cx="10421814" cy="11383107"/>
          </a:xfrm>
          <a:prstGeom prst="rect">
            <a:avLst/>
          </a:prstGeom>
        </p:spPr>
      </p:pic>
      <p:sp>
        <p:nvSpPr>
          <p:cNvPr id="12" name="TextBox 11">
            <a:extLst>
              <a:ext uri="{FF2B5EF4-FFF2-40B4-BE49-F238E27FC236}">
                <a16:creationId xmlns:a16="http://schemas.microsoft.com/office/drawing/2014/main" id="{47762DA3-9EB0-A89B-5827-CA7B10EC83EA}"/>
              </a:ext>
            </a:extLst>
          </p:cNvPr>
          <p:cNvSpPr txBox="1"/>
          <p:nvPr/>
        </p:nvSpPr>
        <p:spPr>
          <a:xfrm>
            <a:off x="144377" y="1863640"/>
            <a:ext cx="6906128" cy="3139321"/>
          </a:xfrm>
          <a:prstGeom prst="rect">
            <a:avLst/>
          </a:prstGeom>
          <a:noFill/>
        </p:spPr>
        <p:txBody>
          <a:bodyPr wrap="square" rtlCol="0">
            <a:spAutoFit/>
          </a:bodyPr>
          <a:lstStyle/>
          <a:p>
            <a:r>
              <a:rPr lang="en-US" dirty="0"/>
              <a:t>To summarize:</a:t>
            </a:r>
          </a:p>
          <a:p>
            <a:pPr marL="285750" indent="-285750">
              <a:buFontTx/>
              <a:buChar char="-"/>
            </a:pPr>
            <a:r>
              <a:rPr lang="en-US" dirty="0"/>
              <a:t>Words and numbers are not reused, but replaced with a single character or other abstraction</a:t>
            </a:r>
          </a:p>
          <a:p>
            <a:pPr marL="285750" indent="-285750">
              <a:buFontTx/>
              <a:buChar char="-"/>
            </a:pPr>
            <a:r>
              <a:rPr lang="en-US" dirty="0"/>
              <a:t>Metrics are stored on an agent’s machine</a:t>
            </a:r>
          </a:p>
          <a:p>
            <a:pPr marL="285750" indent="-285750">
              <a:buFontTx/>
              <a:buChar char="-"/>
            </a:pPr>
            <a:r>
              <a:rPr lang="en-US" dirty="0"/>
              <a:t>Metrics are synced at startup and each 1-hour interval while on and active.</a:t>
            </a:r>
          </a:p>
          <a:p>
            <a:pPr marL="285750" indent="-285750">
              <a:buFontTx/>
              <a:buChar char="-"/>
            </a:pPr>
            <a:r>
              <a:rPr lang="en-US" dirty="0"/>
              <a:t>The agent PC’s “send” the documents, avoiding having to automate nasty pulls. A simple script accomplishes this, or One Drive does this automatically.</a:t>
            </a:r>
          </a:p>
          <a:p>
            <a:pPr marL="285750" indent="-285750">
              <a:buFontTx/>
              <a:buChar char="-"/>
            </a:pPr>
            <a:r>
              <a:rPr lang="en-US" dirty="0"/>
              <a:t>Indexing or other abstractions can further allow inter-campaign agent comparisons</a:t>
            </a:r>
          </a:p>
        </p:txBody>
      </p:sp>
      <p:sp>
        <p:nvSpPr>
          <p:cNvPr id="13" name="TextBox 12">
            <a:extLst>
              <a:ext uri="{FF2B5EF4-FFF2-40B4-BE49-F238E27FC236}">
                <a16:creationId xmlns:a16="http://schemas.microsoft.com/office/drawing/2014/main" id="{674CCB31-137E-EDB0-2FA2-01960E72F64A}"/>
              </a:ext>
            </a:extLst>
          </p:cNvPr>
          <p:cNvSpPr txBox="1"/>
          <p:nvPr/>
        </p:nvSpPr>
        <p:spPr>
          <a:xfrm>
            <a:off x="270325" y="1285317"/>
            <a:ext cx="5978077" cy="369332"/>
          </a:xfrm>
          <a:prstGeom prst="rect">
            <a:avLst/>
          </a:prstGeom>
          <a:noFill/>
        </p:spPr>
        <p:txBody>
          <a:bodyPr wrap="square" rtlCol="0">
            <a:spAutoFit/>
          </a:bodyPr>
          <a:lstStyle/>
          <a:p>
            <a:r>
              <a:rPr lang="en-US" dirty="0"/>
              <a:t>A Summarization</a:t>
            </a:r>
            <a:endParaRPr lang="en-US" dirty="0">
              <a:solidFill>
                <a:srgbClr val="00B050"/>
              </a:solidFill>
            </a:endParaRPr>
          </a:p>
        </p:txBody>
      </p:sp>
      <p:sp>
        <p:nvSpPr>
          <p:cNvPr id="3" name="TextBox 2">
            <a:extLst>
              <a:ext uri="{FF2B5EF4-FFF2-40B4-BE49-F238E27FC236}">
                <a16:creationId xmlns:a16="http://schemas.microsoft.com/office/drawing/2014/main" id="{DC99D3ED-087A-D5F2-8C8C-3F94A93B274D}"/>
              </a:ext>
            </a:extLst>
          </p:cNvPr>
          <p:cNvSpPr txBox="1"/>
          <p:nvPr/>
        </p:nvSpPr>
        <p:spPr>
          <a:xfrm>
            <a:off x="0" y="6145684"/>
            <a:ext cx="7964905" cy="1015663"/>
          </a:xfrm>
          <a:prstGeom prst="rect">
            <a:avLst/>
          </a:prstGeom>
          <a:noFill/>
        </p:spPr>
        <p:txBody>
          <a:bodyPr wrap="square" rtlCol="0">
            <a:spAutoFit/>
          </a:bodyPr>
          <a:lstStyle/>
          <a:p>
            <a:r>
              <a:rPr lang="en-US" dirty="0"/>
              <a:t>The </a:t>
            </a:r>
            <a:r>
              <a:rPr lang="en-US" sz="2400" dirty="0">
                <a:solidFill>
                  <a:srgbClr val="00B0F0"/>
                </a:solidFill>
              </a:rPr>
              <a:t>D</a:t>
            </a:r>
            <a:r>
              <a:rPr lang="en-US" sz="2400" dirty="0">
                <a:solidFill>
                  <a:srgbClr val="92D050"/>
                </a:solidFill>
              </a:rPr>
              <a:t>D</a:t>
            </a:r>
            <a:r>
              <a:rPr lang="en-US" sz="2400" dirty="0">
                <a:solidFill>
                  <a:srgbClr val="FFC000"/>
                </a:solidFill>
              </a:rPr>
              <a:t>E</a:t>
            </a:r>
            <a:r>
              <a:rPr lang="en-US" dirty="0"/>
              <a:t> framework is a lightweight solution to data storage needs and a means of cross-comparing campaigns and clients with respect to agent performance. </a:t>
            </a:r>
          </a:p>
          <a:p>
            <a:endParaRPr lang="en-US" dirty="0"/>
          </a:p>
        </p:txBody>
      </p:sp>
    </p:spTree>
    <p:extLst>
      <p:ext uri="{BB962C8B-B14F-4D97-AF65-F5344CB8AC3E}">
        <p14:creationId xmlns:p14="http://schemas.microsoft.com/office/powerpoint/2010/main" val="222878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00B8-2626-470E-ABB9-449DEE49C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B020D-7664-E354-9FFE-19BE20AA54D0}"/>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Modules</a:t>
            </a:r>
          </a:p>
        </p:txBody>
      </p:sp>
      <p:sp>
        <p:nvSpPr>
          <p:cNvPr id="6" name="TextBox 5">
            <a:extLst>
              <a:ext uri="{FF2B5EF4-FFF2-40B4-BE49-F238E27FC236}">
                <a16:creationId xmlns:a16="http://schemas.microsoft.com/office/drawing/2014/main" id="{A44ABC6A-5074-A941-8263-F6AF414304ED}"/>
              </a:ext>
            </a:extLst>
          </p:cNvPr>
          <p:cNvSpPr txBox="1"/>
          <p:nvPr/>
        </p:nvSpPr>
        <p:spPr>
          <a:xfrm>
            <a:off x="144377" y="5781674"/>
            <a:ext cx="5165558" cy="923330"/>
          </a:xfrm>
          <a:prstGeom prst="rect">
            <a:avLst/>
          </a:prstGeom>
          <a:noFill/>
        </p:spPr>
        <p:txBody>
          <a:bodyPr wrap="square" rtlCol="0">
            <a:spAutoFit/>
          </a:bodyPr>
          <a:lstStyle/>
          <a:p>
            <a:r>
              <a:rPr lang="en-US" dirty="0"/>
              <a:t>We now go through how training shapes the </a:t>
            </a:r>
            <a:r>
              <a:rPr lang="en-US" dirty="0">
                <a:solidFill>
                  <a:srgbClr val="FFC000"/>
                </a:solidFill>
              </a:rPr>
              <a:t>Resonant Organization Framework </a:t>
            </a:r>
            <a:r>
              <a:rPr lang="en-US" dirty="0"/>
              <a:t>and each individual </a:t>
            </a:r>
            <a:r>
              <a:rPr lang="en-US" dirty="0">
                <a:solidFill>
                  <a:srgbClr val="FFC000"/>
                </a:solidFill>
              </a:rPr>
              <a:t>Nodule</a:t>
            </a:r>
          </a:p>
        </p:txBody>
      </p:sp>
      <p:sp>
        <p:nvSpPr>
          <p:cNvPr id="7" name="TextBox 6">
            <a:extLst>
              <a:ext uri="{FF2B5EF4-FFF2-40B4-BE49-F238E27FC236}">
                <a16:creationId xmlns:a16="http://schemas.microsoft.com/office/drawing/2014/main" id="{A8922272-0A7A-96FE-F6A1-3F1F4B7ACA2C}"/>
              </a:ext>
            </a:extLst>
          </p:cNvPr>
          <p:cNvSpPr txBox="1"/>
          <p:nvPr/>
        </p:nvSpPr>
        <p:spPr>
          <a:xfrm>
            <a:off x="150394" y="3214811"/>
            <a:ext cx="4138863" cy="584775"/>
          </a:xfrm>
          <a:prstGeom prst="rect">
            <a:avLst/>
          </a:prstGeom>
          <a:noFill/>
        </p:spPr>
        <p:txBody>
          <a:bodyPr wrap="square" rtlCol="0">
            <a:spAutoFit/>
          </a:bodyPr>
          <a:lstStyle/>
          <a:p>
            <a:r>
              <a:rPr lang="en-US" sz="3200" dirty="0"/>
              <a:t>The </a:t>
            </a:r>
            <a:r>
              <a:rPr lang="en-US" sz="3200" dirty="0">
                <a:solidFill>
                  <a:srgbClr val="92D050"/>
                </a:solidFill>
              </a:rPr>
              <a:t>Module </a:t>
            </a:r>
            <a:r>
              <a:rPr lang="en-US" sz="3200" dirty="0" err="1">
                <a:solidFill>
                  <a:srgbClr val="92D050"/>
                </a:solidFill>
              </a:rPr>
              <a:t>Module</a:t>
            </a:r>
            <a:endParaRPr lang="en-US" sz="3200" dirty="0">
              <a:solidFill>
                <a:srgbClr val="92D050"/>
              </a:solidFill>
            </a:endParaRPr>
          </a:p>
        </p:txBody>
      </p:sp>
      <p:sp>
        <p:nvSpPr>
          <p:cNvPr id="8" name="TextBox 7">
            <a:extLst>
              <a:ext uri="{FF2B5EF4-FFF2-40B4-BE49-F238E27FC236}">
                <a16:creationId xmlns:a16="http://schemas.microsoft.com/office/drawing/2014/main" id="{0050F578-41F1-8EF2-99DF-D07F164D75F4}"/>
              </a:ext>
            </a:extLst>
          </p:cNvPr>
          <p:cNvSpPr txBox="1"/>
          <p:nvPr/>
        </p:nvSpPr>
        <p:spPr>
          <a:xfrm>
            <a:off x="150394" y="2621936"/>
            <a:ext cx="4138863" cy="584775"/>
          </a:xfrm>
          <a:prstGeom prst="rect">
            <a:avLst/>
          </a:prstGeom>
          <a:noFill/>
        </p:spPr>
        <p:txBody>
          <a:bodyPr wrap="square" rtlCol="0">
            <a:spAutoFit/>
          </a:bodyPr>
          <a:lstStyle/>
          <a:p>
            <a:r>
              <a:rPr lang="en-US" sz="3200" dirty="0"/>
              <a:t>What </a:t>
            </a:r>
            <a:r>
              <a:rPr lang="en-US" sz="3200" dirty="0">
                <a:solidFill>
                  <a:srgbClr val="92D050"/>
                </a:solidFill>
              </a:rPr>
              <a:t>Modules</a:t>
            </a:r>
            <a:r>
              <a:rPr lang="en-US" sz="3200" dirty="0"/>
              <a:t> Require</a:t>
            </a:r>
          </a:p>
        </p:txBody>
      </p:sp>
      <p:sp>
        <p:nvSpPr>
          <p:cNvPr id="9" name="TextBox 8">
            <a:extLst>
              <a:ext uri="{FF2B5EF4-FFF2-40B4-BE49-F238E27FC236}">
                <a16:creationId xmlns:a16="http://schemas.microsoft.com/office/drawing/2014/main" id="{35D3E3A7-E114-358E-B8EB-78F2114FE071}"/>
              </a:ext>
            </a:extLst>
          </p:cNvPr>
          <p:cNvSpPr txBox="1"/>
          <p:nvPr/>
        </p:nvSpPr>
        <p:spPr>
          <a:xfrm>
            <a:off x="144377" y="2029061"/>
            <a:ext cx="4614111" cy="584775"/>
          </a:xfrm>
          <a:prstGeom prst="rect">
            <a:avLst/>
          </a:prstGeom>
          <a:noFill/>
        </p:spPr>
        <p:txBody>
          <a:bodyPr wrap="square" rtlCol="0">
            <a:spAutoFit/>
          </a:bodyPr>
          <a:lstStyle/>
          <a:p>
            <a:r>
              <a:rPr lang="en-US" sz="3200" dirty="0"/>
              <a:t>What </a:t>
            </a:r>
            <a:r>
              <a:rPr lang="en-US" sz="3200" dirty="0">
                <a:solidFill>
                  <a:srgbClr val="92D050"/>
                </a:solidFill>
              </a:rPr>
              <a:t>Modules</a:t>
            </a:r>
            <a:r>
              <a:rPr lang="en-US" sz="3200" dirty="0"/>
              <a:t> Accomplish</a:t>
            </a:r>
          </a:p>
        </p:txBody>
      </p:sp>
      <p:sp>
        <p:nvSpPr>
          <p:cNvPr id="10" name="TextBox 9">
            <a:extLst>
              <a:ext uri="{FF2B5EF4-FFF2-40B4-BE49-F238E27FC236}">
                <a16:creationId xmlns:a16="http://schemas.microsoft.com/office/drawing/2014/main" id="{FF5AA2F4-708A-5325-F49F-B19420235B18}"/>
              </a:ext>
            </a:extLst>
          </p:cNvPr>
          <p:cNvSpPr txBox="1"/>
          <p:nvPr/>
        </p:nvSpPr>
        <p:spPr>
          <a:xfrm>
            <a:off x="150394" y="1436186"/>
            <a:ext cx="4138863" cy="584775"/>
          </a:xfrm>
          <a:prstGeom prst="rect">
            <a:avLst/>
          </a:prstGeom>
          <a:noFill/>
        </p:spPr>
        <p:txBody>
          <a:bodyPr wrap="square" rtlCol="0">
            <a:spAutoFit/>
          </a:bodyPr>
          <a:lstStyle/>
          <a:p>
            <a:r>
              <a:rPr lang="en-US" sz="3200" dirty="0"/>
              <a:t>What are </a:t>
            </a:r>
            <a:r>
              <a:rPr lang="en-US" sz="3200" dirty="0">
                <a:solidFill>
                  <a:srgbClr val="92D050"/>
                </a:solidFill>
              </a:rPr>
              <a:t>Modules</a:t>
            </a:r>
            <a:r>
              <a:rPr lang="en-US" sz="3200" dirty="0"/>
              <a:t>?</a:t>
            </a:r>
          </a:p>
        </p:txBody>
      </p:sp>
      <p:sp>
        <p:nvSpPr>
          <p:cNvPr id="11" name="TextBox 10">
            <a:extLst>
              <a:ext uri="{FF2B5EF4-FFF2-40B4-BE49-F238E27FC236}">
                <a16:creationId xmlns:a16="http://schemas.microsoft.com/office/drawing/2014/main" id="{57F47C21-436A-1B12-FE73-429D3CDC104D}"/>
              </a:ext>
            </a:extLst>
          </p:cNvPr>
          <p:cNvSpPr txBox="1"/>
          <p:nvPr/>
        </p:nvSpPr>
        <p:spPr>
          <a:xfrm>
            <a:off x="150394" y="3799586"/>
            <a:ext cx="4138863" cy="584775"/>
          </a:xfrm>
          <a:prstGeom prst="rect">
            <a:avLst/>
          </a:prstGeom>
          <a:noFill/>
        </p:spPr>
        <p:txBody>
          <a:bodyPr wrap="square" rtlCol="0">
            <a:spAutoFit/>
          </a:bodyPr>
          <a:lstStyle/>
          <a:p>
            <a:r>
              <a:rPr lang="en-US" sz="3200" dirty="0"/>
              <a:t>Making </a:t>
            </a:r>
            <a:r>
              <a:rPr lang="en-US" sz="3200" dirty="0">
                <a:solidFill>
                  <a:srgbClr val="92D050"/>
                </a:solidFill>
              </a:rPr>
              <a:t>Modules</a:t>
            </a:r>
          </a:p>
        </p:txBody>
      </p:sp>
    </p:spTree>
    <p:extLst>
      <p:ext uri="{BB962C8B-B14F-4D97-AF65-F5344CB8AC3E}">
        <p14:creationId xmlns:p14="http://schemas.microsoft.com/office/powerpoint/2010/main" val="3317794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984C2-2B02-C8A6-3952-4B45B9141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D507B-B4ED-B777-0D1E-584E8535B0D1}"/>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Modules</a:t>
            </a:r>
          </a:p>
        </p:txBody>
      </p:sp>
      <p:sp>
        <p:nvSpPr>
          <p:cNvPr id="3" name="TextBox 2">
            <a:extLst>
              <a:ext uri="{FF2B5EF4-FFF2-40B4-BE49-F238E27FC236}">
                <a16:creationId xmlns:a16="http://schemas.microsoft.com/office/drawing/2014/main" id="{4AD28B37-F8E2-DF9A-B733-94B868081FD8}"/>
              </a:ext>
            </a:extLst>
          </p:cNvPr>
          <p:cNvSpPr txBox="1"/>
          <p:nvPr/>
        </p:nvSpPr>
        <p:spPr>
          <a:xfrm>
            <a:off x="144378" y="2425500"/>
            <a:ext cx="11213434" cy="1754326"/>
          </a:xfrm>
          <a:prstGeom prst="rect">
            <a:avLst/>
          </a:prstGeom>
          <a:noFill/>
        </p:spPr>
        <p:txBody>
          <a:bodyPr wrap="square" rtlCol="0">
            <a:spAutoFit/>
          </a:bodyPr>
          <a:lstStyle/>
          <a:p>
            <a:r>
              <a:rPr lang="en-US" dirty="0"/>
              <a:t>    • </a:t>
            </a:r>
            <a:r>
              <a:rPr lang="en-US" dirty="0">
                <a:solidFill>
                  <a:srgbClr val="00B0F0"/>
                </a:solidFill>
              </a:rPr>
              <a:t>Self-Contained Building Blocks</a:t>
            </a:r>
            <a:r>
              <a:rPr lang="en-US" dirty="0"/>
              <a:t>:</a:t>
            </a:r>
          </a:p>
          <a:p>
            <a:r>
              <a:rPr lang="en-US" dirty="0"/>
              <a:t>Modules are small, focused packages that add a specific capability or skill.</a:t>
            </a:r>
          </a:p>
          <a:p>
            <a:r>
              <a:rPr lang="en-US" dirty="0"/>
              <a:t>    • </a:t>
            </a:r>
            <a:r>
              <a:rPr lang="en-US" dirty="0">
                <a:solidFill>
                  <a:srgbClr val="92D050"/>
                </a:solidFill>
              </a:rPr>
              <a:t>Plug-and-Play Simplicity</a:t>
            </a:r>
            <a:r>
              <a:rPr lang="en-US" dirty="0"/>
              <a:t>:</a:t>
            </a:r>
          </a:p>
          <a:p>
            <a:r>
              <a:rPr lang="en-US" dirty="0"/>
              <a:t>Like tools in a toolbox, you can mix and match modules to create a customized workforce.</a:t>
            </a:r>
          </a:p>
          <a:p>
            <a:r>
              <a:rPr lang="en-US" dirty="0"/>
              <a:t>    • </a:t>
            </a:r>
            <a:r>
              <a:rPr lang="en-US" dirty="0">
                <a:solidFill>
                  <a:srgbClr val="FFC000"/>
                </a:solidFill>
              </a:rPr>
              <a:t>Performance-Driven</a:t>
            </a:r>
            <a:r>
              <a:rPr lang="en-US" dirty="0"/>
              <a:t>:</a:t>
            </a:r>
          </a:p>
          <a:p>
            <a:r>
              <a:rPr lang="en-US" dirty="0"/>
              <a:t>Each module comes with a clear objective and measurable outcomes.</a:t>
            </a:r>
          </a:p>
        </p:txBody>
      </p:sp>
      <p:sp>
        <p:nvSpPr>
          <p:cNvPr id="4" name="TextBox 3">
            <a:extLst>
              <a:ext uri="{FF2B5EF4-FFF2-40B4-BE49-F238E27FC236}">
                <a16:creationId xmlns:a16="http://schemas.microsoft.com/office/drawing/2014/main" id="{558A1590-2108-E33D-1E5C-E1D4DA879E48}"/>
              </a:ext>
            </a:extLst>
          </p:cNvPr>
          <p:cNvSpPr txBox="1"/>
          <p:nvPr/>
        </p:nvSpPr>
        <p:spPr>
          <a:xfrm>
            <a:off x="144378" y="5227676"/>
            <a:ext cx="11694699" cy="1477328"/>
          </a:xfrm>
          <a:prstGeom prst="rect">
            <a:avLst/>
          </a:prstGeom>
          <a:noFill/>
        </p:spPr>
        <p:txBody>
          <a:bodyPr wrap="square" rtlCol="0">
            <a:spAutoFit/>
          </a:bodyPr>
          <a:lstStyle/>
          <a:p>
            <a:r>
              <a:rPr lang="en-US" dirty="0"/>
              <a:t>Modules are self-contained building blocks designed to deliver a specific skill or capability. Think of them as tools that, on their own, provide clear and measurable functionality. Each module is crafted to be simple and intuitive. They strip away unnecessary complexity, focusing solely on delivering results. This means that every module is designed with a precise purpose, making it easy for anyone to understand and deploy it in various situations. By breaking down skills into these bite-sized components, you create a toolkit that can be rapidly adapted to meet evolving business needs.</a:t>
            </a:r>
          </a:p>
        </p:txBody>
      </p:sp>
      <p:sp>
        <p:nvSpPr>
          <p:cNvPr id="7" name="TextBox 6">
            <a:extLst>
              <a:ext uri="{FF2B5EF4-FFF2-40B4-BE49-F238E27FC236}">
                <a16:creationId xmlns:a16="http://schemas.microsoft.com/office/drawing/2014/main" id="{13B337DF-D7C4-008E-38DB-9D345AF76CE6}"/>
              </a:ext>
            </a:extLst>
          </p:cNvPr>
          <p:cNvSpPr txBox="1"/>
          <p:nvPr/>
        </p:nvSpPr>
        <p:spPr>
          <a:xfrm>
            <a:off x="150394" y="1436186"/>
            <a:ext cx="4138863" cy="584775"/>
          </a:xfrm>
          <a:prstGeom prst="rect">
            <a:avLst/>
          </a:prstGeom>
          <a:noFill/>
        </p:spPr>
        <p:txBody>
          <a:bodyPr wrap="square" rtlCol="0">
            <a:spAutoFit/>
          </a:bodyPr>
          <a:lstStyle/>
          <a:p>
            <a:r>
              <a:rPr lang="en-US" sz="3200" dirty="0"/>
              <a:t>What are Modules?</a:t>
            </a:r>
          </a:p>
        </p:txBody>
      </p:sp>
    </p:spTree>
    <p:extLst>
      <p:ext uri="{BB962C8B-B14F-4D97-AF65-F5344CB8AC3E}">
        <p14:creationId xmlns:p14="http://schemas.microsoft.com/office/powerpoint/2010/main" val="1872798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FDB8F-426B-AB0B-1835-3D31E56D8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962E1-B43E-8635-8673-466C29524F05}"/>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Modules</a:t>
            </a:r>
          </a:p>
        </p:txBody>
      </p:sp>
      <p:sp>
        <p:nvSpPr>
          <p:cNvPr id="3" name="TextBox 2">
            <a:extLst>
              <a:ext uri="{FF2B5EF4-FFF2-40B4-BE49-F238E27FC236}">
                <a16:creationId xmlns:a16="http://schemas.microsoft.com/office/drawing/2014/main" id="{09A59230-B561-0B4F-8A9F-4415B4BE9F67}"/>
              </a:ext>
            </a:extLst>
          </p:cNvPr>
          <p:cNvSpPr txBox="1"/>
          <p:nvPr/>
        </p:nvSpPr>
        <p:spPr>
          <a:xfrm>
            <a:off x="0" y="5380672"/>
            <a:ext cx="12217067" cy="1477328"/>
          </a:xfrm>
          <a:prstGeom prst="rect">
            <a:avLst/>
          </a:prstGeom>
          <a:noFill/>
        </p:spPr>
        <p:txBody>
          <a:bodyPr wrap="square" rtlCol="0">
            <a:spAutoFit/>
          </a:bodyPr>
          <a:lstStyle/>
          <a:p>
            <a:r>
              <a:rPr lang="en-US" dirty="0">
                <a:solidFill>
                  <a:srgbClr val="92D050"/>
                </a:solidFill>
              </a:rPr>
              <a:t>Modules</a:t>
            </a:r>
            <a:r>
              <a:rPr lang="en-US" dirty="0"/>
              <a:t> are all about accelerating performance and enabling scalability. They streamline operations by providing ready-to-use capabilities that reduce the time needed for decision-making and task execution. With </a:t>
            </a:r>
            <a:r>
              <a:rPr lang="en-US" dirty="0">
                <a:solidFill>
                  <a:srgbClr val="92D050"/>
                </a:solidFill>
              </a:rPr>
              <a:t>modules</a:t>
            </a:r>
            <a:r>
              <a:rPr lang="en-US" dirty="0"/>
              <a:t>, you can quickly tailor your workforce to specific roles or industry requirements. Moreover, this system empowers individuals by allowing them to select and enhance the </a:t>
            </a:r>
            <a:r>
              <a:rPr lang="en-US" dirty="0">
                <a:solidFill>
                  <a:srgbClr val="92D050"/>
                </a:solidFill>
              </a:rPr>
              <a:t>modules</a:t>
            </a:r>
            <a:r>
              <a:rPr lang="en-US" dirty="0"/>
              <a:t> that best fit their needs, leading to personal growth and improved organizational performance. The </a:t>
            </a:r>
            <a:r>
              <a:rPr lang="en-US" dirty="0">
                <a:solidFill>
                  <a:srgbClr val="92D050"/>
                </a:solidFill>
              </a:rPr>
              <a:t>modular</a:t>
            </a:r>
            <a:r>
              <a:rPr lang="en-US" dirty="0"/>
              <a:t> approach ensures that every component adds value, paving the way for a more agile and resilient operation.</a:t>
            </a:r>
          </a:p>
        </p:txBody>
      </p:sp>
      <p:sp>
        <p:nvSpPr>
          <p:cNvPr id="4" name="TextBox 3">
            <a:extLst>
              <a:ext uri="{FF2B5EF4-FFF2-40B4-BE49-F238E27FC236}">
                <a16:creationId xmlns:a16="http://schemas.microsoft.com/office/drawing/2014/main" id="{6C1DB033-4D6B-91B0-250B-06A0EADB0026}"/>
              </a:ext>
            </a:extLst>
          </p:cNvPr>
          <p:cNvSpPr txBox="1"/>
          <p:nvPr/>
        </p:nvSpPr>
        <p:spPr>
          <a:xfrm>
            <a:off x="72189" y="2363499"/>
            <a:ext cx="12047622" cy="1754326"/>
          </a:xfrm>
          <a:prstGeom prst="rect">
            <a:avLst/>
          </a:prstGeom>
          <a:noFill/>
        </p:spPr>
        <p:txBody>
          <a:bodyPr wrap="square" rtlCol="0">
            <a:spAutoFit/>
          </a:bodyPr>
          <a:lstStyle/>
          <a:p>
            <a:r>
              <a:rPr lang="en-US" dirty="0"/>
              <a:t>    • </a:t>
            </a:r>
            <a:r>
              <a:rPr lang="en-US" dirty="0">
                <a:solidFill>
                  <a:srgbClr val="00B0F0"/>
                </a:solidFill>
              </a:rPr>
              <a:t>Streamlined Operations</a:t>
            </a:r>
            <a:r>
              <a:rPr lang="en-US" dirty="0"/>
              <a:t>:</a:t>
            </a:r>
          </a:p>
          <a:p>
            <a:r>
              <a:rPr lang="en-US" dirty="0"/>
              <a:t>Speed up decision-making and work processes by using ready-to-go skills.</a:t>
            </a:r>
          </a:p>
          <a:p>
            <a:r>
              <a:rPr lang="en-US" dirty="0"/>
              <a:t>    • </a:t>
            </a:r>
            <a:r>
              <a:rPr lang="en-US" dirty="0">
                <a:solidFill>
                  <a:srgbClr val="92D050"/>
                </a:solidFill>
              </a:rPr>
              <a:t>Scalable Flexibility</a:t>
            </a:r>
            <a:r>
              <a:rPr lang="en-US" dirty="0"/>
              <a:t>:</a:t>
            </a:r>
          </a:p>
          <a:p>
            <a:r>
              <a:rPr lang="en-US" dirty="0"/>
              <a:t>Easily tailor your workforce to different roles or industries, from basic tasks to advanced operations.</a:t>
            </a:r>
          </a:p>
          <a:p>
            <a:r>
              <a:rPr lang="en-US" dirty="0"/>
              <a:t>    • </a:t>
            </a:r>
            <a:r>
              <a:rPr lang="en-US" dirty="0">
                <a:solidFill>
                  <a:srgbClr val="FFC000"/>
                </a:solidFill>
              </a:rPr>
              <a:t>Empowerment Through Choice</a:t>
            </a:r>
            <a:r>
              <a:rPr lang="en-US" dirty="0"/>
              <a:t>:</a:t>
            </a:r>
          </a:p>
          <a:p>
            <a:r>
              <a:rPr lang="en-US" dirty="0"/>
              <a:t>Workers can select modules that boost their own performance, leading to personal and company-wide growth.</a:t>
            </a:r>
          </a:p>
        </p:txBody>
      </p:sp>
      <p:sp>
        <p:nvSpPr>
          <p:cNvPr id="6" name="TextBox 5">
            <a:extLst>
              <a:ext uri="{FF2B5EF4-FFF2-40B4-BE49-F238E27FC236}">
                <a16:creationId xmlns:a16="http://schemas.microsoft.com/office/drawing/2014/main" id="{9336B6A7-DAE7-D7E4-1395-4F4B327C3A5E}"/>
              </a:ext>
            </a:extLst>
          </p:cNvPr>
          <p:cNvSpPr txBox="1"/>
          <p:nvPr/>
        </p:nvSpPr>
        <p:spPr>
          <a:xfrm>
            <a:off x="150394" y="1436186"/>
            <a:ext cx="4614111" cy="584775"/>
          </a:xfrm>
          <a:prstGeom prst="rect">
            <a:avLst/>
          </a:prstGeom>
          <a:noFill/>
        </p:spPr>
        <p:txBody>
          <a:bodyPr wrap="square" rtlCol="0">
            <a:spAutoFit/>
          </a:bodyPr>
          <a:lstStyle/>
          <a:p>
            <a:r>
              <a:rPr lang="en-US" sz="3200" dirty="0"/>
              <a:t>What </a:t>
            </a:r>
            <a:r>
              <a:rPr lang="en-US" sz="3200" dirty="0">
                <a:solidFill>
                  <a:srgbClr val="92D050"/>
                </a:solidFill>
              </a:rPr>
              <a:t>Modules</a:t>
            </a:r>
            <a:r>
              <a:rPr lang="en-US" sz="3200" dirty="0"/>
              <a:t> Accomplish</a:t>
            </a:r>
          </a:p>
        </p:txBody>
      </p:sp>
    </p:spTree>
    <p:extLst>
      <p:ext uri="{BB962C8B-B14F-4D97-AF65-F5344CB8AC3E}">
        <p14:creationId xmlns:p14="http://schemas.microsoft.com/office/powerpoint/2010/main" val="547816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5C7F2-D3AD-7E2F-5CBC-5815CA1C5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56CB3-A3F5-BD4C-5D8A-430373B928EB}"/>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Modules</a:t>
            </a:r>
          </a:p>
        </p:txBody>
      </p:sp>
      <p:sp>
        <p:nvSpPr>
          <p:cNvPr id="4" name="TextBox 3">
            <a:extLst>
              <a:ext uri="{FF2B5EF4-FFF2-40B4-BE49-F238E27FC236}">
                <a16:creationId xmlns:a16="http://schemas.microsoft.com/office/drawing/2014/main" id="{5B63A4E1-1D80-DF4D-A58C-2A273D0AD57F}"/>
              </a:ext>
            </a:extLst>
          </p:cNvPr>
          <p:cNvSpPr txBox="1"/>
          <p:nvPr/>
        </p:nvSpPr>
        <p:spPr>
          <a:xfrm>
            <a:off x="144378" y="5103674"/>
            <a:ext cx="11827044" cy="1754326"/>
          </a:xfrm>
          <a:prstGeom prst="rect">
            <a:avLst/>
          </a:prstGeom>
          <a:noFill/>
        </p:spPr>
        <p:txBody>
          <a:bodyPr wrap="square" rtlCol="0">
            <a:spAutoFit/>
          </a:bodyPr>
          <a:lstStyle/>
          <a:p>
            <a:r>
              <a:rPr lang="en-US" dirty="0"/>
              <a:t>To function effectively, every </a:t>
            </a:r>
            <a:r>
              <a:rPr lang="en-US" dirty="0">
                <a:solidFill>
                  <a:srgbClr val="92D050"/>
                </a:solidFill>
              </a:rPr>
              <a:t>module</a:t>
            </a:r>
            <a:r>
              <a:rPr lang="en-US" dirty="0"/>
              <a:t> is built around a clear set of requirements. Each </a:t>
            </a:r>
            <a:r>
              <a:rPr lang="en-US" dirty="0">
                <a:solidFill>
                  <a:srgbClr val="92D050"/>
                </a:solidFill>
              </a:rPr>
              <a:t>module</a:t>
            </a:r>
            <a:r>
              <a:rPr lang="en-US" dirty="0"/>
              <a:t> starts with a precise objective that defines what it does, ensuring there’s no ambiguity in its purpose. It then specifies the inputs it needs, be they skills, tools, or pre-requisites, and the outputs it will generate which are tied to tangible performance metrics. Additionally, </a:t>
            </a:r>
            <a:r>
              <a:rPr lang="en-US" dirty="0">
                <a:solidFill>
                  <a:srgbClr val="92D050"/>
                </a:solidFill>
              </a:rPr>
              <a:t>modules</a:t>
            </a:r>
            <a:r>
              <a:rPr lang="en-US" dirty="0"/>
              <a:t> are designed to integrate seamlessly with one another, whether connecting with broad, foundational skills (Global) or specialized, role-specific competencies. This clear structure not only simplifies implementation but also makes it easy to measure success and identify areas for improvement, ensuring the entire system remains lean and continuously impactful.</a:t>
            </a:r>
          </a:p>
        </p:txBody>
      </p:sp>
      <p:sp>
        <p:nvSpPr>
          <p:cNvPr id="5" name="TextBox 4">
            <a:extLst>
              <a:ext uri="{FF2B5EF4-FFF2-40B4-BE49-F238E27FC236}">
                <a16:creationId xmlns:a16="http://schemas.microsoft.com/office/drawing/2014/main" id="{A84B0ABF-FD89-691F-5623-474F65ABB23F}"/>
              </a:ext>
            </a:extLst>
          </p:cNvPr>
          <p:cNvSpPr txBox="1"/>
          <p:nvPr/>
        </p:nvSpPr>
        <p:spPr>
          <a:xfrm>
            <a:off x="144378" y="2274838"/>
            <a:ext cx="12344401" cy="2308324"/>
          </a:xfrm>
          <a:prstGeom prst="rect">
            <a:avLst/>
          </a:prstGeom>
          <a:noFill/>
        </p:spPr>
        <p:txBody>
          <a:bodyPr wrap="square" rtlCol="0">
            <a:spAutoFit/>
          </a:bodyPr>
          <a:lstStyle/>
          <a:p>
            <a:r>
              <a:rPr lang="en-US" dirty="0"/>
              <a:t>    • </a:t>
            </a:r>
            <a:r>
              <a:rPr lang="en-US" dirty="0">
                <a:solidFill>
                  <a:srgbClr val="00B0F0"/>
                </a:solidFill>
              </a:rPr>
              <a:t>Clear Objectives</a:t>
            </a:r>
            <a:r>
              <a:rPr lang="en-US" dirty="0"/>
              <a:t>:</a:t>
            </a:r>
          </a:p>
          <a:p>
            <a:r>
              <a:rPr lang="en-US" dirty="0"/>
              <a:t>All begin with a simple statement of what the </a:t>
            </a:r>
            <a:r>
              <a:rPr lang="en-US" dirty="0">
                <a:solidFill>
                  <a:srgbClr val="92D050"/>
                </a:solidFill>
              </a:rPr>
              <a:t>module</a:t>
            </a:r>
            <a:r>
              <a:rPr lang="en-US" dirty="0"/>
              <a:t> does.</a:t>
            </a:r>
          </a:p>
          <a:p>
            <a:r>
              <a:rPr lang="en-US" dirty="0"/>
              <a:t>    • </a:t>
            </a:r>
            <a:r>
              <a:rPr lang="en-US" dirty="0">
                <a:solidFill>
                  <a:srgbClr val="92D050"/>
                </a:solidFill>
              </a:rPr>
              <a:t>Defined Inputs and Outputs</a:t>
            </a:r>
            <a:r>
              <a:rPr lang="en-US" dirty="0"/>
              <a:t>:</a:t>
            </a:r>
          </a:p>
          <a:p>
            <a:r>
              <a:rPr lang="en-US" dirty="0"/>
              <a:t>        ◦ Inputs: The skills, tools, or prerequisites needed.</a:t>
            </a:r>
          </a:p>
          <a:p>
            <a:r>
              <a:rPr lang="en-US" dirty="0"/>
              <a:t>        ◦ Outputs: The tangible results or performance metrics.</a:t>
            </a:r>
          </a:p>
          <a:p>
            <a:r>
              <a:rPr lang="en-US" dirty="0"/>
              <a:t>    • </a:t>
            </a:r>
            <a:r>
              <a:rPr lang="en-US" dirty="0">
                <a:solidFill>
                  <a:srgbClr val="FFC000"/>
                </a:solidFill>
              </a:rPr>
              <a:t>Integration Points</a:t>
            </a:r>
            <a:r>
              <a:rPr lang="en-US" dirty="0"/>
              <a:t>:</a:t>
            </a:r>
          </a:p>
          <a:p>
            <a:r>
              <a:rPr lang="en-US" dirty="0">
                <a:solidFill>
                  <a:srgbClr val="92D050"/>
                </a:solidFill>
              </a:rPr>
              <a:t>Modules</a:t>
            </a:r>
            <a:r>
              <a:rPr lang="en-US" dirty="0"/>
              <a:t> should connect seamlessly with both general (global) and specific (industry-tailored) skill sets.</a:t>
            </a:r>
          </a:p>
          <a:p>
            <a:endParaRPr lang="en-US" dirty="0"/>
          </a:p>
        </p:txBody>
      </p:sp>
      <p:sp>
        <p:nvSpPr>
          <p:cNvPr id="6" name="TextBox 5">
            <a:extLst>
              <a:ext uri="{FF2B5EF4-FFF2-40B4-BE49-F238E27FC236}">
                <a16:creationId xmlns:a16="http://schemas.microsoft.com/office/drawing/2014/main" id="{FFC737A6-1F72-C83C-8F03-D54046FFDE0F}"/>
              </a:ext>
            </a:extLst>
          </p:cNvPr>
          <p:cNvSpPr txBox="1"/>
          <p:nvPr/>
        </p:nvSpPr>
        <p:spPr>
          <a:xfrm>
            <a:off x="150394" y="1436186"/>
            <a:ext cx="4138863" cy="584775"/>
          </a:xfrm>
          <a:prstGeom prst="rect">
            <a:avLst/>
          </a:prstGeom>
          <a:noFill/>
        </p:spPr>
        <p:txBody>
          <a:bodyPr wrap="square" rtlCol="0">
            <a:spAutoFit/>
          </a:bodyPr>
          <a:lstStyle/>
          <a:p>
            <a:r>
              <a:rPr lang="en-US" sz="3200" dirty="0"/>
              <a:t>What </a:t>
            </a:r>
            <a:r>
              <a:rPr lang="en-US" sz="3200" dirty="0">
                <a:solidFill>
                  <a:srgbClr val="92D050"/>
                </a:solidFill>
              </a:rPr>
              <a:t>Modules</a:t>
            </a:r>
            <a:r>
              <a:rPr lang="en-US" sz="3200" dirty="0"/>
              <a:t> Require</a:t>
            </a:r>
          </a:p>
        </p:txBody>
      </p:sp>
    </p:spTree>
    <p:extLst>
      <p:ext uri="{BB962C8B-B14F-4D97-AF65-F5344CB8AC3E}">
        <p14:creationId xmlns:p14="http://schemas.microsoft.com/office/powerpoint/2010/main" val="3144757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C97A-9A56-ED69-351B-DCA0343B6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DF30E-0452-B620-7C01-EC56081910C1}"/>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Modules</a:t>
            </a:r>
          </a:p>
        </p:txBody>
      </p:sp>
      <p:sp>
        <p:nvSpPr>
          <p:cNvPr id="4" name="TextBox 3">
            <a:extLst>
              <a:ext uri="{FF2B5EF4-FFF2-40B4-BE49-F238E27FC236}">
                <a16:creationId xmlns:a16="http://schemas.microsoft.com/office/drawing/2014/main" id="{F0C56032-3473-83C2-7FEA-F03411E50932}"/>
              </a:ext>
            </a:extLst>
          </p:cNvPr>
          <p:cNvSpPr txBox="1"/>
          <p:nvPr/>
        </p:nvSpPr>
        <p:spPr>
          <a:xfrm>
            <a:off x="144378" y="4826675"/>
            <a:ext cx="11827044" cy="2308324"/>
          </a:xfrm>
          <a:prstGeom prst="rect">
            <a:avLst/>
          </a:prstGeom>
          <a:noFill/>
        </p:spPr>
        <p:txBody>
          <a:bodyPr wrap="square" rtlCol="0">
            <a:spAutoFit/>
          </a:bodyPr>
          <a:lstStyle/>
          <a:p>
            <a:r>
              <a:rPr lang="en-US" dirty="0"/>
              <a:t>Who makes </a:t>
            </a:r>
            <a:r>
              <a:rPr lang="en-US" dirty="0">
                <a:solidFill>
                  <a:srgbClr val="92D050"/>
                </a:solidFill>
              </a:rPr>
              <a:t>Modules</a:t>
            </a:r>
            <a:r>
              <a:rPr lang="en-US" dirty="0"/>
              <a:t>?</a:t>
            </a:r>
          </a:p>
          <a:p>
            <a:pPr marL="285750" indent="-285750">
              <a:buFontTx/>
              <a:buChar char="-"/>
            </a:pPr>
            <a:r>
              <a:rPr lang="en-US" dirty="0"/>
              <a:t>Training, Learning &amp; Development</a:t>
            </a:r>
          </a:p>
          <a:p>
            <a:pPr marL="285750" indent="-285750">
              <a:buFontTx/>
              <a:buChar char="-"/>
            </a:pPr>
            <a:r>
              <a:rPr lang="en-US" dirty="0"/>
              <a:t>Experienced Core, Support, Interface and Feedback Nodules</a:t>
            </a:r>
          </a:p>
          <a:p>
            <a:pPr marL="285750" indent="-285750">
              <a:buFontTx/>
              <a:buChar char="-"/>
            </a:pPr>
            <a:r>
              <a:rPr lang="en-US" dirty="0"/>
              <a:t>Any </a:t>
            </a:r>
            <a:r>
              <a:rPr lang="en-US" dirty="0">
                <a:solidFill>
                  <a:srgbClr val="92D050"/>
                </a:solidFill>
              </a:rPr>
              <a:t>module</a:t>
            </a:r>
            <a:r>
              <a:rPr lang="en-US" dirty="0"/>
              <a:t> externally made can be accepted also</a:t>
            </a:r>
          </a:p>
          <a:p>
            <a:endParaRPr lang="en-US" dirty="0"/>
          </a:p>
          <a:p>
            <a:r>
              <a:rPr lang="en-US" dirty="0"/>
              <a:t>Where are </a:t>
            </a:r>
            <a:r>
              <a:rPr lang="en-US" dirty="0">
                <a:solidFill>
                  <a:srgbClr val="92D050"/>
                </a:solidFill>
              </a:rPr>
              <a:t>Modules</a:t>
            </a:r>
            <a:r>
              <a:rPr lang="en-US" dirty="0"/>
              <a:t> recorded?</a:t>
            </a:r>
          </a:p>
          <a:p>
            <a:r>
              <a:rPr lang="en-US" dirty="0"/>
              <a:t>-    A file folder each agent saves in their OneDrive. C:\Users\[user_ID]\</a:t>
            </a:r>
            <a:r>
              <a:rPr lang="en-US" dirty="0">
                <a:solidFill>
                  <a:srgbClr val="92D050"/>
                </a:solidFill>
              </a:rPr>
              <a:t>modules</a:t>
            </a:r>
          </a:p>
          <a:p>
            <a:pPr marL="285750" indent="-285750">
              <a:buFontTx/>
              <a:buChar char="-"/>
            </a:pPr>
            <a:endParaRPr lang="en-US" dirty="0"/>
          </a:p>
        </p:txBody>
      </p:sp>
      <p:sp>
        <p:nvSpPr>
          <p:cNvPr id="5" name="TextBox 4">
            <a:extLst>
              <a:ext uri="{FF2B5EF4-FFF2-40B4-BE49-F238E27FC236}">
                <a16:creationId xmlns:a16="http://schemas.microsoft.com/office/drawing/2014/main" id="{99EF6276-5F9E-1C61-C143-0AD5BBCC0C5F}"/>
              </a:ext>
            </a:extLst>
          </p:cNvPr>
          <p:cNvSpPr txBox="1"/>
          <p:nvPr/>
        </p:nvSpPr>
        <p:spPr>
          <a:xfrm>
            <a:off x="144378" y="2136338"/>
            <a:ext cx="11153275" cy="2585323"/>
          </a:xfrm>
          <a:prstGeom prst="rect">
            <a:avLst/>
          </a:prstGeom>
          <a:noFill/>
        </p:spPr>
        <p:txBody>
          <a:bodyPr wrap="square" rtlCol="0">
            <a:spAutoFit/>
          </a:bodyPr>
          <a:lstStyle/>
          <a:p>
            <a:r>
              <a:rPr lang="en-US" dirty="0"/>
              <a:t>The Reveal: This IS a </a:t>
            </a:r>
            <a:r>
              <a:rPr lang="en-US" dirty="0">
                <a:solidFill>
                  <a:srgbClr val="92D050"/>
                </a:solidFill>
              </a:rPr>
              <a:t>Module</a:t>
            </a:r>
            <a:r>
              <a:rPr lang="en-US" dirty="0"/>
              <a:t>!</a:t>
            </a:r>
          </a:p>
          <a:p>
            <a:r>
              <a:rPr lang="en-US" dirty="0"/>
              <a:t>You've just experienced a </a:t>
            </a:r>
            <a:r>
              <a:rPr lang="en-US" dirty="0">
                <a:solidFill>
                  <a:srgbClr val="92D050"/>
                </a:solidFill>
              </a:rPr>
              <a:t>module</a:t>
            </a:r>
            <a:r>
              <a:rPr lang="en-US" dirty="0"/>
              <a:t> in action. By engaging with this “</a:t>
            </a:r>
            <a:r>
              <a:rPr lang="en-US" dirty="0">
                <a:solidFill>
                  <a:srgbClr val="92D050"/>
                </a:solidFill>
              </a:rPr>
              <a:t>Module </a:t>
            </a:r>
            <a:r>
              <a:rPr lang="en-US" dirty="0" err="1">
                <a:solidFill>
                  <a:srgbClr val="92D050"/>
                </a:solidFill>
              </a:rPr>
              <a:t>Module</a:t>
            </a:r>
            <a:r>
              <a:rPr lang="en-US" dirty="0"/>
              <a:t>”, you've demonstrated your understanding of what a </a:t>
            </a:r>
            <a:r>
              <a:rPr lang="en-US" dirty="0">
                <a:solidFill>
                  <a:srgbClr val="92D050"/>
                </a:solidFill>
              </a:rPr>
              <a:t>module</a:t>
            </a:r>
            <a:r>
              <a:rPr lang="en-US" dirty="0"/>
              <a:t> is—and that understanding is recorded as your outcome. The performance of this module is measured by the clarity and insight you've gained, turning abstract concepts into tangible knowledge.</a:t>
            </a:r>
          </a:p>
          <a:p>
            <a:endParaRPr lang="en-US" dirty="0"/>
          </a:p>
          <a:p>
            <a:r>
              <a:rPr lang="en-US" dirty="0"/>
              <a:t>The beauty of this system is its simplicity: the price is your participation. Every moment you invest in grasping these ideas is captured, showing that you now possess the foundational skills to build, adapt, and grow with a </a:t>
            </a:r>
            <a:r>
              <a:rPr lang="en-US" dirty="0">
                <a:solidFill>
                  <a:srgbClr val="92D050"/>
                </a:solidFill>
              </a:rPr>
              <a:t>modular</a:t>
            </a:r>
            <a:r>
              <a:rPr lang="en-US" dirty="0"/>
              <a:t> approach. In essence, your engagement proves the module’s success, making you not just a participant but a co-creator of a system designed for scalable, real-world impact.</a:t>
            </a:r>
          </a:p>
        </p:txBody>
      </p:sp>
      <p:sp>
        <p:nvSpPr>
          <p:cNvPr id="3" name="TextBox 2">
            <a:extLst>
              <a:ext uri="{FF2B5EF4-FFF2-40B4-BE49-F238E27FC236}">
                <a16:creationId xmlns:a16="http://schemas.microsoft.com/office/drawing/2014/main" id="{EB604259-DD00-7F15-A90E-F95285955DF1}"/>
              </a:ext>
            </a:extLst>
          </p:cNvPr>
          <p:cNvSpPr txBox="1"/>
          <p:nvPr/>
        </p:nvSpPr>
        <p:spPr>
          <a:xfrm>
            <a:off x="150394" y="1436186"/>
            <a:ext cx="4138863" cy="584775"/>
          </a:xfrm>
          <a:prstGeom prst="rect">
            <a:avLst/>
          </a:prstGeom>
          <a:noFill/>
        </p:spPr>
        <p:txBody>
          <a:bodyPr wrap="square" rtlCol="0">
            <a:spAutoFit/>
          </a:bodyPr>
          <a:lstStyle/>
          <a:p>
            <a:r>
              <a:rPr lang="en-US" sz="3200" dirty="0"/>
              <a:t>The </a:t>
            </a:r>
            <a:r>
              <a:rPr lang="en-US" sz="3200" dirty="0">
                <a:solidFill>
                  <a:srgbClr val="92D050"/>
                </a:solidFill>
              </a:rPr>
              <a:t>Module </a:t>
            </a:r>
            <a:r>
              <a:rPr lang="en-US" sz="3200" dirty="0" err="1">
                <a:solidFill>
                  <a:srgbClr val="92D050"/>
                </a:solidFill>
              </a:rPr>
              <a:t>Module</a:t>
            </a:r>
            <a:endParaRPr lang="en-US" sz="3200" dirty="0">
              <a:solidFill>
                <a:srgbClr val="92D050"/>
              </a:solidFill>
            </a:endParaRPr>
          </a:p>
        </p:txBody>
      </p:sp>
    </p:spTree>
    <p:extLst>
      <p:ext uri="{BB962C8B-B14F-4D97-AF65-F5344CB8AC3E}">
        <p14:creationId xmlns:p14="http://schemas.microsoft.com/office/powerpoint/2010/main" val="260975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81B5-63AD-0F56-B4DD-35E2C06FA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95BC2-11C2-DC5E-35C2-A1DC84505CED}"/>
              </a:ext>
            </a:extLst>
          </p:cNvPr>
          <p:cNvSpPr>
            <a:spLocks noGrp="1"/>
          </p:cNvSpPr>
          <p:nvPr>
            <p:ph type="ctrTitle"/>
          </p:nvPr>
        </p:nvSpPr>
        <p:spPr>
          <a:xfrm>
            <a:off x="144378" y="152996"/>
            <a:ext cx="5799222" cy="1501653"/>
          </a:xfrm>
        </p:spPr>
        <p:txBody>
          <a:bodyPr>
            <a:noAutofit/>
          </a:bodyPr>
          <a:lstStyle/>
          <a:p>
            <a:pPr algn="l"/>
            <a:r>
              <a:rPr lang="en-US" sz="11500" dirty="0">
                <a:solidFill>
                  <a:srgbClr val="92D050"/>
                </a:solidFill>
              </a:rPr>
              <a:t>Modules</a:t>
            </a:r>
          </a:p>
        </p:txBody>
      </p:sp>
      <p:sp>
        <p:nvSpPr>
          <p:cNvPr id="4" name="TextBox 3">
            <a:extLst>
              <a:ext uri="{FF2B5EF4-FFF2-40B4-BE49-F238E27FC236}">
                <a16:creationId xmlns:a16="http://schemas.microsoft.com/office/drawing/2014/main" id="{CD69B81F-986E-D38F-748F-E14C68ED4A82}"/>
              </a:ext>
            </a:extLst>
          </p:cNvPr>
          <p:cNvSpPr txBox="1"/>
          <p:nvPr/>
        </p:nvSpPr>
        <p:spPr>
          <a:xfrm>
            <a:off x="144378" y="5504675"/>
            <a:ext cx="11827044" cy="1200329"/>
          </a:xfrm>
          <a:prstGeom prst="rect">
            <a:avLst/>
          </a:prstGeom>
          <a:noFill/>
        </p:spPr>
        <p:txBody>
          <a:bodyPr wrap="square" rtlCol="0">
            <a:spAutoFit/>
          </a:bodyPr>
          <a:lstStyle/>
          <a:p>
            <a:r>
              <a:rPr lang="en-US" dirty="0"/>
              <a:t>Why make a </a:t>
            </a:r>
            <a:r>
              <a:rPr lang="en-US" dirty="0">
                <a:solidFill>
                  <a:srgbClr val="92D050"/>
                </a:solidFill>
              </a:rPr>
              <a:t>Module</a:t>
            </a:r>
            <a:r>
              <a:rPr lang="en-US" dirty="0"/>
              <a:t>?</a:t>
            </a:r>
          </a:p>
          <a:p>
            <a:pPr marL="285750" indent="-285750">
              <a:buFontTx/>
              <a:buChar char="-"/>
            </a:pPr>
            <a:r>
              <a:rPr lang="en-US" dirty="0"/>
              <a:t>Updating old curriculum or uptraining can be solidified and tied to metric improvements</a:t>
            </a:r>
          </a:p>
          <a:p>
            <a:pPr marL="285750" indent="-285750">
              <a:buFontTx/>
              <a:buChar char="-"/>
            </a:pPr>
            <a:r>
              <a:rPr lang="en-US" dirty="0"/>
              <a:t>Creating permanent insight at a given time can help in keeping record of all the work we put in for clients</a:t>
            </a:r>
          </a:p>
          <a:p>
            <a:pPr marL="285750" indent="-285750">
              <a:buFontTx/>
              <a:buChar char="-"/>
            </a:pPr>
            <a:r>
              <a:rPr lang="en-US" dirty="0"/>
              <a:t>A </a:t>
            </a:r>
            <a:r>
              <a:rPr lang="en-US" dirty="0">
                <a:solidFill>
                  <a:srgbClr val="92D050"/>
                </a:solidFill>
              </a:rPr>
              <a:t>module</a:t>
            </a:r>
            <a:r>
              <a:rPr lang="en-US" dirty="0"/>
              <a:t> is cheaply done and lasts for as long as you design it to</a:t>
            </a:r>
          </a:p>
        </p:txBody>
      </p:sp>
      <p:sp>
        <p:nvSpPr>
          <p:cNvPr id="5" name="TextBox 4">
            <a:extLst>
              <a:ext uri="{FF2B5EF4-FFF2-40B4-BE49-F238E27FC236}">
                <a16:creationId xmlns:a16="http://schemas.microsoft.com/office/drawing/2014/main" id="{C84D7BBD-09CC-BAC7-A774-02FEB3A3085B}"/>
              </a:ext>
            </a:extLst>
          </p:cNvPr>
          <p:cNvSpPr txBox="1"/>
          <p:nvPr/>
        </p:nvSpPr>
        <p:spPr>
          <a:xfrm>
            <a:off x="144378" y="2136338"/>
            <a:ext cx="11153275" cy="2308324"/>
          </a:xfrm>
          <a:prstGeom prst="rect">
            <a:avLst/>
          </a:prstGeom>
          <a:noFill/>
        </p:spPr>
        <p:txBody>
          <a:bodyPr wrap="square" rtlCol="0">
            <a:spAutoFit/>
          </a:bodyPr>
          <a:lstStyle/>
          <a:p>
            <a:r>
              <a:rPr lang="en-US" dirty="0"/>
              <a:t>In a cycle:</a:t>
            </a:r>
          </a:p>
          <a:p>
            <a:pPr marL="285750" indent="-285750">
              <a:buFontTx/>
              <a:buChar char="-"/>
            </a:pPr>
            <a:r>
              <a:rPr lang="en-US" dirty="0"/>
              <a:t>Learning &amp; Development gather Nodule Tier Feedback</a:t>
            </a:r>
          </a:p>
          <a:p>
            <a:pPr marL="285750" indent="-285750">
              <a:buFontTx/>
              <a:buChar char="-"/>
            </a:pPr>
            <a:r>
              <a:rPr lang="en-US" dirty="0"/>
              <a:t>Modules are Framed from the gathered data</a:t>
            </a:r>
          </a:p>
          <a:p>
            <a:pPr marL="285750" indent="-285750">
              <a:buFontTx/>
              <a:buChar char="-"/>
            </a:pPr>
            <a:r>
              <a:rPr lang="en-US" dirty="0"/>
              <a:t>Learning &amp; Development, Process Improvement and a representative from each Nodule class represented form a team, tasked with creating the Module. This can be done over a 30-minute meeting, with tailing needs picked up by Learning &amp; Development or Process Improvement.</a:t>
            </a:r>
          </a:p>
          <a:p>
            <a:pPr marL="285750" indent="-285750">
              <a:buFontTx/>
              <a:buChar char="-"/>
            </a:pPr>
            <a:r>
              <a:rPr lang="en-US" dirty="0"/>
              <a:t>The module is administered, and metrics attached (gathered at the time for reference)</a:t>
            </a:r>
          </a:p>
          <a:p>
            <a:pPr marL="285750" indent="-285750">
              <a:buFontTx/>
              <a:buChar char="-"/>
            </a:pPr>
            <a:r>
              <a:rPr lang="en-US" dirty="0"/>
              <a:t>Cycle repeats</a:t>
            </a:r>
          </a:p>
        </p:txBody>
      </p:sp>
      <p:sp>
        <p:nvSpPr>
          <p:cNvPr id="3" name="TextBox 2">
            <a:extLst>
              <a:ext uri="{FF2B5EF4-FFF2-40B4-BE49-F238E27FC236}">
                <a16:creationId xmlns:a16="http://schemas.microsoft.com/office/drawing/2014/main" id="{FB27C7E6-9576-CC3C-F5C6-0351B5B3570B}"/>
              </a:ext>
            </a:extLst>
          </p:cNvPr>
          <p:cNvSpPr txBox="1"/>
          <p:nvPr/>
        </p:nvSpPr>
        <p:spPr>
          <a:xfrm>
            <a:off x="150394" y="1436186"/>
            <a:ext cx="4138863" cy="584775"/>
          </a:xfrm>
          <a:prstGeom prst="rect">
            <a:avLst/>
          </a:prstGeom>
          <a:noFill/>
        </p:spPr>
        <p:txBody>
          <a:bodyPr wrap="square" rtlCol="0">
            <a:spAutoFit/>
          </a:bodyPr>
          <a:lstStyle/>
          <a:p>
            <a:r>
              <a:rPr lang="en-US" sz="3200" dirty="0"/>
              <a:t>Making </a:t>
            </a:r>
            <a:r>
              <a:rPr lang="en-US" sz="3200" dirty="0">
                <a:solidFill>
                  <a:srgbClr val="92D050"/>
                </a:solidFill>
              </a:rPr>
              <a:t>Modules</a:t>
            </a:r>
          </a:p>
        </p:txBody>
      </p:sp>
    </p:spTree>
    <p:extLst>
      <p:ext uri="{BB962C8B-B14F-4D97-AF65-F5344CB8AC3E}">
        <p14:creationId xmlns:p14="http://schemas.microsoft.com/office/powerpoint/2010/main" val="3726249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E4152-4970-A68A-840F-0E1002D21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28B7A-8291-EB93-6241-C316DDABDE61}"/>
              </a:ext>
            </a:extLst>
          </p:cNvPr>
          <p:cNvSpPr>
            <a:spLocks noGrp="1"/>
          </p:cNvSpPr>
          <p:nvPr>
            <p:ph type="ctrTitle"/>
          </p:nvPr>
        </p:nvSpPr>
        <p:spPr>
          <a:xfrm>
            <a:off x="144377" y="152996"/>
            <a:ext cx="9661359" cy="1501653"/>
          </a:xfrm>
        </p:spPr>
        <p:txBody>
          <a:bodyPr>
            <a:noAutofit/>
          </a:bodyPr>
          <a:lstStyle/>
          <a:p>
            <a:pPr algn="l"/>
            <a:r>
              <a:rPr lang="en-US" sz="11500" dirty="0">
                <a:solidFill>
                  <a:srgbClr val="FFC000"/>
                </a:solidFill>
              </a:rPr>
              <a:t>Pilot Document</a:t>
            </a:r>
          </a:p>
        </p:txBody>
      </p:sp>
      <p:sp>
        <p:nvSpPr>
          <p:cNvPr id="6" name="TextBox 5">
            <a:extLst>
              <a:ext uri="{FF2B5EF4-FFF2-40B4-BE49-F238E27FC236}">
                <a16:creationId xmlns:a16="http://schemas.microsoft.com/office/drawing/2014/main" id="{B15164FD-A1B2-60D7-0A86-AA527689BD01}"/>
              </a:ext>
            </a:extLst>
          </p:cNvPr>
          <p:cNvSpPr txBox="1"/>
          <p:nvPr/>
        </p:nvSpPr>
        <p:spPr>
          <a:xfrm>
            <a:off x="144377" y="5781674"/>
            <a:ext cx="5165558" cy="646331"/>
          </a:xfrm>
          <a:prstGeom prst="rect">
            <a:avLst/>
          </a:prstGeom>
          <a:noFill/>
        </p:spPr>
        <p:txBody>
          <a:bodyPr wrap="square" rtlCol="0">
            <a:spAutoFit/>
          </a:bodyPr>
          <a:lstStyle/>
          <a:p>
            <a:r>
              <a:rPr lang="en-US" dirty="0"/>
              <a:t>We now go through how using a </a:t>
            </a:r>
            <a:r>
              <a:rPr lang="en-US" dirty="0">
                <a:solidFill>
                  <a:srgbClr val="FFC000"/>
                </a:solidFill>
              </a:rPr>
              <a:t>Pilot Document </a:t>
            </a:r>
            <a:r>
              <a:rPr lang="en-US" dirty="0"/>
              <a:t>ties the entire idea together.</a:t>
            </a:r>
            <a:endParaRPr lang="en-US" dirty="0">
              <a:solidFill>
                <a:srgbClr val="FFC000"/>
              </a:solidFill>
            </a:endParaRPr>
          </a:p>
        </p:txBody>
      </p:sp>
      <p:sp>
        <p:nvSpPr>
          <p:cNvPr id="8" name="TextBox 7">
            <a:extLst>
              <a:ext uri="{FF2B5EF4-FFF2-40B4-BE49-F238E27FC236}">
                <a16:creationId xmlns:a16="http://schemas.microsoft.com/office/drawing/2014/main" id="{7DFC8167-7896-6CDE-1EB5-BA38279EDA55}"/>
              </a:ext>
            </a:extLst>
          </p:cNvPr>
          <p:cNvSpPr txBox="1"/>
          <p:nvPr/>
        </p:nvSpPr>
        <p:spPr>
          <a:xfrm>
            <a:off x="150394" y="2621936"/>
            <a:ext cx="4138863" cy="584775"/>
          </a:xfrm>
          <a:prstGeom prst="rect">
            <a:avLst/>
          </a:prstGeom>
          <a:noFill/>
        </p:spPr>
        <p:txBody>
          <a:bodyPr wrap="square" rtlCol="0">
            <a:spAutoFit/>
          </a:bodyPr>
          <a:lstStyle/>
          <a:p>
            <a:r>
              <a:rPr lang="en-US" sz="3200" dirty="0"/>
              <a:t>How to Use it.</a:t>
            </a:r>
          </a:p>
        </p:txBody>
      </p:sp>
      <p:sp>
        <p:nvSpPr>
          <p:cNvPr id="9" name="TextBox 8">
            <a:extLst>
              <a:ext uri="{FF2B5EF4-FFF2-40B4-BE49-F238E27FC236}">
                <a16:creationId xmlns:a16="http://schemas.microsoft.com/office/drawing/2014/main" id="{E8E2473C-08AD-B055-5D77-C1B43A3B2247}"/>
              </a:ext>
            </a:extLst>
          </p:cNvPr>
          <p:cNvSpPr txBox="1"/>
          <p:nvPr/>
        </p:nvSpPr>
        <p:spPr>
          <a:xfrm>
            <a:off x="144377" y="2029061"/>
            <a:ext cx="4614111" cy="584775"/>
          </a:xfrm>
          <a:prstGeom prst="rect">
            <a:avLst/>
          </a:prstGeom>
          <a:noFill/>
        </p:spPr>
        <p:txBody>
          <a:bodyPr wrap="square" rtlCol="0">
            <a:spAutoFit/>
          </a:bodyPr>
          <a:lstStyle/>
          <a:p>
            <a:r>
              <a:rPr lang="en-US" sz="3200" dirty="0"/>
              <a:t>How to Structure it.</a:t>
            </a:r>
          </a:p>
        </p:txBody>
      </p:sp>
      <p:sp>
        <p:nvSpPr>
          <p:cNvPr id="10" name="TextBox 9">
            <a:extLst>
              <a:ext uri="{FF2B5EF4-FFF2-40B4-BE49-F238E27FC236}">
                <a16:creationId xmlns:a16="http://schemas.microsoft.com/office/drawing/2014/main" id="{0EF027DB-7F5C-FA85-CE9D-B6F148C007DA}"/>
              </a:ext>
            </a:extLst>
          </p:cNvPr>
          <p:cNvSpPr txBox="1"/>
          <p:nvPr/>
        </p:nvSpPr>
        <p:spPr>
          <a:xfrm>
            <a:off x="150394" y="1436186"/>
            <a:ext cx="4138863" cy="584775"/>
          </a:xfrm>
          <a:prstGeom prst="rect">
            <a:avLst/>
          </a:prstGeom>
          <a:noFill/>
        </p:spPr>
        <p:txBody>
          <a:bodyPr wrap="square" rtlCol="0">
            <a:spAutoFit/>
          </a:bodyPr>
          <a:lstStyle/>
          <a:p>
            <a:r>
              <a:rPr lang="en-US" sz="3200" dirty="0"/>
              <a:t>What is it?</a:t>
            </a:r>
          </a:p>
        </p:txBody>
      </p:sp>
    </p:spTree>
    <p:extLst>
      <p:ext uri="{BB962C8B-B14F-4D97-AF65-F5344CB8AC3E}">
        <p14:creationId xmlns:p14="http://schemas.microsoft.com/office/powerpoint/2010/main" val="1409363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4681B-2DA8-A221-84E2-3D84C3B7A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89137-BD6D-4BA8-C2BA-92EE872FE81C}"/>
              </a:ext>
            </a:extLst>
          </p:cNvPr>
          <p:cNvSpPr>
            <a:spLocks noGrp="1"/>
          </p:cNvSpPr>
          <p:nvPr>
            <p:ph type="ctrTitle"/>
          </p:nvPr>
        </p:nvSpPr>
        <p:spPr>
          <a:xfrm>
            <a:off x="144377" y="152996"/>
            <a:ext cx="9661359" cy="1501653"/>
          </a:xfrm>
        </p:spPr>
        <p:txBody>
          <a:bodyPr>
            <a:noAutofit/>
          </a:bodyPr>
          <a:lstStyle/>
          <a:p>
            <a:pPr algn="l"/>
            <a:r>
              <a:rPr lang="en-US" sz="11500" dirty="0">
                <a:solidFill>
                  <a:srgbClr val="FFC000"/>
                </a:solidFill>
              </a:rPr>
              <a:t>Pilot Document</a:t>
            </a:r>
          </a:p>
        </p:txBody>
      </p:sp>
      <p:sp>
        <p:nvSpPr>
          <p:cNvPr id="6" name="TextBox 5">
            <a:extLst>
              <a:ext uri="{FF2B5EF4-FFF2-40B4-BE49-F238E27FC236}">
                <a16:creationId xmlns:a16="http://schemas.microsoft.com/office/drawing/2014/main" id="{4C2087F7-506A-8CF9-9856-4EC994A040A2}"/>
              </a:ext>
            </a:extLst>
          </p:cNvPr>
          <p:cNvSpPr txBox="1"/>
          <p:nvPr/>
        </p:nvSpPr>
        <p:spPr>
          <a:xfrm>
            <a:off x="144377" y="2291508"/>
            <a:ext cx="5165558" cy="646331"/>
          </a:xfrm>
          <a:prstGeom prst="rect">
            <a:avLst/>
          </a:prstGeom>
          <a:noFill/>
        </p:spPr>
        <p:txBody>
          <a:bodyPr wrap="square" rtlCol="0">
            <a:spAutoFit/>
          </a:bodyPr>
          <a:lstStyle/>
          <a:p>
            <a:r>
              <a:rPr lang="en-US" dirty="0"/>
              <a:t>A </a:t>
            </a:r>
            <a:r>
              <a:rPr lang="en-US" dirty="0">
                <a:solidFill>
                  <a:srgbClr val="FFC000"/>
                </a:solidFill>
              </a:rPr>
              <a:t>Pilot Document </a:t>
            </a:r>
            <a:r>
              <a:rPr lang="en-US" dirty="0"/>
              <a:t>is a text document that contains information about a </a:t>
            </a:r>
            <a:r>
              <a:rPr lang="en-US" dirty="0">
                <a:solidFill>
                  <a:srgbClr val="FFC000"/>
                </a:solidFill>
              </a:rPr>
              <a:t>Nodule</a:t>
            </a:r>
            <a:r>
              <a:rPr lang="en-US" dirty="0"/>
              <a:t>.</a:t>
            </a:r>
            <a:endParaRPr lang="en-US" dirty="0">
              <a:solidFill>
                <a:srgbClr val="FFC000"/>
              </a:solidFill>
            </a:endParaRPr>
          </a:p>
        </p:txBody>
      </p:sp>
      <p:sp>
        <p:nvSpPr>
          <p:cNvPr id="10" name="TextBox 9">
            <a:extLst>
              <a:ext uri="{FF2B5EF4-FFF2-40B4-BE49-F238E27FC236}">
                <a16:creationId xmlns:a16="http://schemas.microsoft.com/office/drawing/2014/main" id="{3DFEC0B3-4865-8B06-E451-0A210A69F7E2}"/>
              </a:ext>
            </a:extLst>
          </p:cNvPr>
          <p:cNvSpPr txBox="1"/>
          <p:nvPr/>
        </p:nvSpPr>
        <p:spPr>
          <a:xfrm>
            <a:off x="150394" y="1436186"/>
            <a:ext cx="4138863" cy="584775"/>
          </a:xfrm>
          <a:prstGeom prst="rect">
            <a:avLst/>
          </a:prstGeom>
          <a:noFill/>
        </p:spPr>
        <p:txBody>
          <a:bodyPr wrap="square" rtlCol="0">
            <a:spAutoFit/>
          </a:bodyPr>
          <a:lstStyle/>
          <a:p>
            <a:r>
              <a:rPr lang="en-US" sz="3200" dirty="0"/>
              <a:t>What is it?</a:t>
            </a:r>
          </a:p>
        </p:txBody>
      </p:sp>
      <p:sp>
        <p:nvSpPr>
          <p:cNvPr id="3" name="TextBox 2">
            <a:extLst>
              <a:ext uri="{FF2B5EF4-FFF2-40B4-BE49-F238E27FC236}">
                <a16:creationId xmlns:a16="http://schemas.microsoft.com/office/drawing/2014/main" id="{2FF40A14-B213-2FF2-32D1-CC6C78634E10}"/>
              </a:ext>
            </a:extLst>
          </p:cNvPr>
          <p:cNvSpPr txBox="1"/>
          <p:nvPr/>
        </p:nvSpPr>
        <p:spPr>
          <a:xfrm>
            <a:off x="144377" y="3105834"/>
            <a:ext cx="5165558" cy="646331"/>
          </a:xfrm>
          <a:prstGeom prst="rect">
            <a:avLst/>
          </a:prstGeom>
          <a:noFill/>
        </p:spPr>
        <p:txBody>
          <a:bodyPr wrap="square" rtlCol="0">
            <a:spAutoFit/>
          </a:bodyPr>
          <a:lstStyle/>
          <a:p>
            <a:r>
              <a:rPr lang="en-US" dirty="0"/>
              <a:t>This could be metric performance, system error logs or current projects/ historical projects and trends.</a:t>
            </a:r>
            <a:endParaRPr lang="en-US" dirty="0">
              <a:solidFill>
                <a:srgbClr val="FFC000"/>
              </a:solidFill>
            </a:endParaRPr>
          </a:p>
        </p:txBody>
      </p:sp>
      <p:sp>
        <p:nvSpPr>
          <p:cNvPr id="4" name="TextBox 3">
            <a:extLst>
              <a:ext uri="{FF2B5EF4-FFF2-40B4-BE49-F238E27FC236}">
                <a16:creationId xmlns:a16="http://schemas.microsoft.com/office/drawing/2014/main" id="{50D32F67-74C8-F385-9604-9D8DBC064DD3}"/>
              </a:ext>
            </a:extLst>
          </p:cNvPr>
          <p:cNvSpPr txBox="1"/>
          <p:nvPr/>
        </p:nvSpPr>
        <p:spPr>
          <a:xfrm>
            <a:off x="144377" y="3920160"/>
            <a:ext cx="5165558" cy="923330"/>
          </a:xfrm>
          <a:prstGeom prst="rect">
            <a:avLst/>
          </a:prstGeom>
          <a:noFill/>
        </p:spPr>
        <p:txBody>
          <a:bodyPr wrap="square" rtlCol="0">
            <a:spAutoFit/>
          </a:bodyPr>
          <a:lstStyle/>
          <a:p>
            <a:r>
              <a:rPr lang="en-US" dirty="0"/>
              <a:t>This document can get lengthy and so should be optimized by AI in conjunction with the most local interface node to the </a:t>
            </a:r>
            <a:r>
              <a:rPr lang="en-US" dirty="0">
                <a:solidFill>
                  <a:srgbClr val="FFC000"/>
                </a:solidFill>
              </a:rPr>
              <a:t>Nodule</a:t>
            </a:r>
            <a:r>
              <a:rPr lang="en-US" dirty="0"/>
              <a:t> (direct report).</a:t>
            </a:r>
            <a:endParaRPr lang="en-US" dirty="0">
              <a:solidFill>
                <a:srgbClr val="FFC000"/>
              </a:solidFill>
            </a:endParaRPr>
          </a:p>
        </p:txBody>
      </p:sp>
      <p:sp>
        <p:nvSpPr>
          <p:cNvPr id="5" name="TextBox 4">
            <a:extLst>
              <a:ext uri="{FF2B5EF4-FFF2-40B4-BE49-F238E27FC236}">
                <a16:creationId xmlns:a16="http://schemas.microsoft.com/office/drawing/2014/main" id="{D28BF9A8-7EBC-0927-7C76-1BF91655FA83}"/>
              </a:ext>
            </a:extLst>
          </p:cNvPr>
          <p:cNvSpPr txBox="1"/>
          <p:nvPr/>
        </p:nvSpPr>
        <p:spPr>
          <a:xfrm>
            <a:off x="144377" y="5227676"/>
            <a:ext cx="6388770" cy="1477328"/>
          </a:xfrm>
          <a:prstGeom prst="rect">
            <a:avLst/>
          </a:prstGeom>
          <a:noFill/>
        </p:spPr>
        <p:txBody>
          <a:bodyPr wrap="square" rtlCol="0">
            <a:spAutoFit/>
          </a:bodyPr>
          <a:lstStyle/>
          <a:p>
            <a:r>
              <a:rPr lang="en-US" dirty="0"/>
              <a:t>The more detailed a document the </a:t>
            </a:r>
            <a:r>
              <a:rPr lang="en-US" dirty="0">
                <a:solidFill>
                  <a:srgbClr val="FFC000"/>
                </a:solidFill>
              </a:rPr>
              <a:t>Nodule</a:t>
            </a:r>
            <a:r>
              <a:rPr lang="en-US" dirty="0"/>
              <a:t> has and can provide, the more contextualized and historically relevant support we can offer. This document is the “living memory” of the interaction between a </a:t>
            </a:r>
            <a:r>
              <a:rPr lang="en-US" dirty="0">
                <a:solidFill>
                  <a:srgbClr val="FFC000"/>
                </a:solidFill>
              </a:rPr>
              <a:t>Nodule</a:t>
            </a:r>
            <a:r>
              <a:rPr lang="en-US" dirty="0"/>
              <a:t> and the </a:t>
            </a:r>
            <a:r>
              <a:rPr lang="en-US" dirty="0">
                <a:solidFill>
                  <a:srgbClr val="FFC000"/>
                </a:solidFill>
              </a:rPr>
              <a:t>Organization</a:t>
            </a:r>
            <a:r>
              <a:rPr lang="en-US" dirty="0"/>
              <a:t> as a whole. It is the Spinal Cord of the system, transmitting metric and personal successes</a:t>
            </a:r>
            <a:endParaRPr lang="en-US" dirty="0">
              <a:solidFill>
                <a:srgbClr val="FFC000"/>
              </a:solidFill>
            </a:endParaRPr>
          </a:p>
        </p:txBody>
      </p:sp>
    </p:spTree>
    <p:extLst>
      <p:ext uri="{BB962C8B-B14F-4D97-AF65-F5344CB8AC3E}">
        <p14:creationId xmlns:p14="http://schemas.microsoft.com/office/powerpoint/2010/main" val="107528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3105E-3AA0-D401-5F09-276961799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06794-9366-CE06-369E-28E4D35ACF00}"/>
              </a:ext>
            </a:extLst>
          </p:cNvPr>
          <p:cNvSpPr>
            <a:spLocks noGrp="1"/>
          </p:cNvSpPr>
          <p:nvPr>
            <p:ph type="ctrTitle"/>
          </p:nvPr>
        </p:nvSpPr>
        <p:spPr>
          <a:xfrm>
            <a:off x="144377" y="152996"/>
            <a:ext cx="9661359" cy="1501653"/>
          </a:xfrm>
        </p:spPr>
        <p:txBody>
          <a:bodyPr>
            <a:noAutofit/>
          </a:bodyPr>
          <a:lstStyle/>
          <a:p>
            <a:pPr algn="l"/>
            <a:r>
              <a:rPr lang="en-US" sz="11500" dirty="0">
                <a:solidFill>
                  <a:srgbClr val="FFC000"/>
                </a:solidFill>
              </a:rPr>
              <a:t>Pilot Document</a:t>
            </a:r>
          </a:p>
        </p:txBody>
      </p:sp>
      <p:sp>
        <p:nvSpPr>
          <p:cNvPr id="9" name="TextBox 8">
            <a:extLst>
              <a:ext uri="{FF2B5EF4-FFF2-40B4-BE49-F238E27FC236}">
                <a16:creationId xmlns:a16="http://schemas.microsoft.com/office/drawing/2014/main" id="{C242B65E-FA0B-DA50-54B3-2F8AA6F0EEF0}"/>
              </a:ext>
            </a:extLst>
          </p:cNvPr>
          <p:cNvSpPr txBox="1"/>
          <p:nvPr/>
        </p:nvSpPr>
        <p:spPr>
          <a:xfrm>
            <a:off x="144377" y="1362261"/>
            <a:ext cx="4614111" cy="584775"/>
          </a:xfrm>
          <a:prstGeom prst="rect">
            <a:avLst/>
          </a:prstGeom>
          <a:noFill/>
        </p:spPr>
        <p:txBody>
          <a:bodyPr wrap="square" rtlCol="0">
            <a:spAutoFit/>
          </a:bodyPr>
          <a:lstStyle/>
          <a:p>
            <a:r>
              <a:rPr lang="en-US" sz="3200" dirty="0"/>
              <a:t>How to Structure it.</a:t>
            </a:r>
          </a:p>
        </p:txBody>
      </p:sp>
      <p:sp>
        <p:nvSpPr>
          <p:cNvPr id="3" name="TextBox 2">
            <a:extLst>
              <a:ext uri="{FF2B5EF4-FFF2-40B4-BE49-F238E27FC236}">
                <a16:creationId xmlns:a16="http://schemas.microsoft.com/office/drawing/2014/main" id="{2BEE1BBF-C044-537E-A943-DC2E919854B7}"/>
              </a:ext>
            </a:extLst>
          </p:cNvPr>
          <p:cNvSpPr txBox="1"/>
          <p:nvPr/>
        </p:nvSpPr>
        <p:spPr>
          <a:xfrm>
            <a:off x="144377" y="1947036"/>
            <a:ext cx="10299035" cy="3970318"/>
          </a:xfrm>
          <a:prstGeom prst="rect">
            <a:avLst/>
          </a:prstGeom>
          <a:noFill/>
        </p:spPr>
        <p:txBody>
          <a:bodyPr wrap="square" rtlCol="0">
            <a:spAutoFit/>
          </a:bodyPr>
          <a:lstStyle/>
          <a:p>
            <a:r>
              <a:rPr lang="en-US" dirty="0"/>
              <a:t>We structure this like:</a:t>
            </a:r>
          </a:p>
          <a:p>
            <a:pPr marL="285750" indent="-285750">
              <a:buFontTx/>
              <a:buChar char="-"/>
            </a:pPr>
            <a:r>
              <a:rPr lang="en-US" dirty="0"/>
              <a:t>Individual Profile</a:t>
            </a:r>
          </a:p>
          <a:p>
            <a:pPr marL="742950" lvl="1" indent="-285750">
              <a:buFontTx/>
              <a:buChar char="-"/>
            </a:pPr>
            <a:r>
              <a:rPr lang="en-US" dirty="0"/>
              <a:t>Name, best work examples (incl. call transcripts), likes, dislikes</a:t>
            </a:r>
          </a:p>
          <a:p>
            <a:pPr marL="285750" indent="-285750">
              <a:buFontTx/>
              <a:buChar char="-"/>
            </a:pPr>
            <a:r>
              <a:rPr lang="en-US" dirty="0"/>
              <a:t>Performance </a:t>
            </a:r>
            <a:r>
              <a:rPr lang="en-US" dirty="0">
                <a:solidFill>
                  <a:srgbClr val="92D050"/>
                </a:solidFill>
              </a:rPr>
              <a:t>Metrics</a:t>
            </a:r>
            <a:r>
              <a:rPr lang="en-US" dirty="0"/>
              <a:t> (P(</a:t>
            </a:r>
            <a:r>
              <a:rPr lang="en-US" dirty="0" err="1"/>
              <a:t>x,t</a:t>
            </a:r>
            <a:r>
              <a:rPr lang="en-US" dirty="0"/>
              <a:t>) from earlier </a:t>
            </a:r>
            <a:r>
              <a:rPr lang="en-US" dirty="0">
                <a:solidFill>
                  <a:srgbClr val="00B0F0"/>
                </a:solidFill>
              </a:rPr>
              <a:t>Math</a:t>
            </a:r>
            <a:r>
              <a:rPr lang="en-US" dirty="0"/>
              <a:t>)</a:t>
            </a:r>
          </a:p>
          <a:p>
            <a:pPr marL="742950" lvl="1" indent="-285750">
              <a:buFontTx/>
              <a:buChar char="-"/>
            </a:pPr>
            <a:r>
              <a:rPr lang="en-US" dirty="0"/>
              <a:t>Both specific campaign </a:t>
            </a:r>
            <a:r>
              <a:rPr lang="en-US" dirty="0">
                <a:solidFill>
                  <a:srgbClr val="92D050"/>
                </a:solidFill>
              </a:rPr>
              <a:t>metrics</a:t>
            </a:r>
            <a:r>
              <a:rPr lang="en-US" dirty="0"/>
              <a:t> and agnostic indexing should be used</a:t>
            </a:r>
          </a:p>
          <a:p>
            <a:pPr marL="285750" indent="-285750">
              <a:buFontTx/>
              <a:buChar char="-"/>
            </a:pPr>
            <a:r>
              <a:rPr lang="en-US" dirty="0"/>
              <a:t>Session Summaries (S(</a:t>
            </a:r>
            <a:r>
              <a:rPr lang="en-US" dirty="0" err="1"/>
              <a:t>x,t</a:t>
            </a:r>
            <a:r>
              <a:rPr lang="en-US" dirty="0"/>
              <a:t>) from earlier </a:t>
            </a:r>
            <a:r>
              <a:rPr lang="en-US" dirty="0">
                <a:solidFill>
                  <a:srgbClr val="00B0F0"/>
                </a:solidFill>
              </a:rPr>
              <a:t>Math</a:t>
            </a:r>
            <a:r>
              <a:rPr lang="en-US" dirty="0"/>
              <a:t>)</a:t>
            </a:r>
          </a:p>
          <a:p>
            <a:pPr marL="742950" lvl="1" indent="-285750">
              <a:buFontTx/>
              <a:buChar char="-"/>
            </a:pPr>
            <a:r>
              <a:rPr lang="en-US" dirty="0"/>
              <a:t>Interface node 1:1’s transcribed and analyzed for entropy by AI, Performance Checkpoints, etc.</a:t>
            </a:r>
          </a:p>
          <a:p>
            <a:pPr marL="285750" indent="-285750">
              <a:buFontTx/>
              <a:buChar char="-"/>
            </a:pPr>
            <a:r>
              <a:rPr lang="en-US" dirty="0"/>
              <a:t>AI Strategic Insights (Using Resonant Analysis from earlier Math)</a:t>
            </a:r>
          </a:p>
          <a:p>
            <a:pPr marL="742950" lvl="1" indent="-285750">
              <a:buFontTx/>
              <a:buChar char="-"/>
            </a:pPr>
            <a:r>
              <a:rPr lang="en-US" dirty="0"/>
              <a:t>‘Given the entropy scores and </a:t>
            </a:r>
            <a:r>
              <a:rPr lang="en-US" dirty="0">
                <a:solidFill>
                  <a:srgbClr val="92D050"/>
                </a:solidFill>
              </a:rPr>
              <a:t>metrics</a:t>
            </a:r>
            <a:r>
              <a:rPr lang="en-US" dirty="0"/>
              <a:t>, what is in this [agent]’s best interest for better performance across [problem metric]?’ As a generated prompt automatically, or similar.</a:t>
            </a:r>
          </a:p>
          <a:p>
            <a:pPr marL="285750" indent="-285750">
              <a:buFontTx/>
              <a:buChar char="-"/>
            </a:pPr>
            <a:r>
              <a:rPr lang="en-US" dirty="0">
                <a:solidFill>
                  <a:srgbClr val="92D050"/>
                </a:solidFill>
              </a:rPr>
              <a:t>Module</a:t>
            </a:r>
            <a:r>
              <a:rPr lang="en-US" dirty="0"/>
              <a:t> Manifest</a:t>
            </a:r>
          </a:p>
          <a:p>
            <a:pPr marL="742950" lvl="1" indent="-285750">
              <a:buFontTx/>
              <a:buChar char="-"/>
            </a:pPr>
            <a:r>
              <a:rPr lang="en-US" dirty="0"/>
              <a:t>The completed </a:t>
            </a:r>
            <a:r>
              <a:rPr lang="en-US" dirty="0">
                <a:solidFill>
                  <a:srgbClr val="92D050"/>
                </a:solidFill>
              </a:rPr>
              <a:t>Modules</a:t>
            </a:r>
            <a:r>
              <a:rPr lang="en-US" dirty="0"/>
              <a:t> a </a:t>
            </a:r>
            <a:r>
              <a:rPr lang="en-US" dirty="0">
                <a:solidFill>
                  <a:srgbClr val="FFC000"/>
                </a:solidFill>
              </a:rPr>
              <a:t>Nodule</a:t>
            </a:r>
            <a:r>
              <a:rPr lang="en-US" dirty="0"/>
              <a:t> has in their folder and their representative metric scores.</a:t>
            </a:r>
          </a:p>
          <a:p>
            <a:pPr marL="285750" indent="-285750">
              <a:buFontTx/>
              <a:buChar char="-"/>
            </a:pPr>
            <a:r>
              <a:rPr lang="en-US" dirty="0"/>
              <a:t>Goal and Feedback Loop Tracker</a:t>
            </a:r>
          </a:p>
          <a:p>
            <a:pPr marL="742950" lvl="1" indent="-285750">
              <a:buFontTx/>
              <a:buChar char="-"/>
            </a:pPr>
            <a:r>
              <a:rPr lang="en-US" dirty="0"/>
              <a:t>Displays system frequency adherence and whether resonance is increasing or decaying.</a:t>
            </a:r>
          </a:p>
        </p:txBody>
      </p:sp>
    </p:spTree>
    <p:extLst>
      <p:ext uri="{BB962C8B-B14F-4D97-AF65-F5344CB8AC3E}">
        <p14:creationId xmlns:p14="http://schemas.microsoft.com/office/powerpoint/2010/main" val="3032726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24FD4-6836-A2B0-3C73-FE4D6A9AD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B88AE0-8A7F-8C9A-04EC-7FD596B6722A}"/>
              </a:ext>
            </a:extLst>
          </p:cNvPr>
          <p:cNvSpPr>
            <a:spLocks noGrp="1"/>
          </p:cNvSpPr>
          <p:nvPr>
            <p:ph type="ctrTitle"/>
          </p:nvPr>
        </p:nvSpPr>
        <p:spPr>
          <a:xfrm>
            <a:off x="144377" y="152996"/>
            <a:ext cx="9661359" cy="1501653"/>
          </a:xfrm>
        </p:spPr>
        <p:txBody>
          <a:bodyPr>
            <a:noAutofit/>
          </a:bodyPr>
          <a:lstStyle/>
          <a:p>
            <a:pPr algn="l"/>
            <a:r>
              <a:rPr lang="en-US" sz="11500" dirty="0">
                <a:solidFill>
                  <a:srgbClr val="FFC000"/>
                </a:solidFill>
              </a:rPr>
              <a:t>Pilot Document</a:t>
            </a:r>
          </a:p>
        </p:txBody>
      </p:sp>
      <p:sp>
        <p:nvSpPr>
          <p:cNvPr id="9" name="TextBox 8">
            <a:extLst>
              <a:ext uri="{FF2B5EF4-FFF2-40B4-BE49-F238E27FC236}">
                <a16:creationId xmlns:a16="http://schemas.microsoft.com/office/drawing/2014/main" id="{43477EE4-54C5-DC0B-541F-1CCDDDD43AEB}"/>
              </a:ext>
            </a:extLst>
          </p:cNvPr>
          <p:cNvSpPr txBox="1"/>
          <p:nvPr/>
        </p:nvSpPr>
        <p:spPr>
          <a:xfrm>
            <a:off x="144377" y="1362261"/>
            <a:ext cx="4614111" cy="584775"/>
          </a:xfrm>
          <a:prstGeom prst="rect">
            <a:avLst/>
          </a:prstGeom>
          <a:noFill/>
        </p:spPr>
        <p:txBody>
          <a:bodyPr wrap="square" rtlCol="0">
            <a:spAutoFit/>
          </a:bodyPr>
          <a:lstStyle/>
          <a:p>
            <a:r>
              <a:rPr lang="en-US" sz="3200" dirty="0"/>
              <a:t>How to Use it.</a:t>
            </a:r>
          </a:p>
        </p:txBody>
      </p:sp>
      <p:sp>
        <p:nvSpPr>
          <p:cNvPr id="3" name="TextBox 2">
            <a:extLst>
              <a:ext uri="{FF2B5EF4-FFF2-40B4-BE49-F238E27FC236}">
                <a16:creationId xmlns:a16="http://schemas.microsoft.com/office/drawing/2014/main" id="{D2F0FCDB-BBB5-063B-E966-6805989F92E8}"/>
              </a:ext>
            </a:extLst>
          </p:cNvPr>
          <p:cNvSpPr txBox="1"/>
          <p:nvPr/>
        </p:nvSpPr>
        <p:spPr>
          <a:xfrm>
            <a:off x="144377" y="1947036"/>
            <a:ext cx="10299035" cy="4801314"/>
          </a:xfrm>
          <a:prstGeom prst="rect">
            <a:avLst/>
          </a:prstGeom>
          <a:noFill/>
        </p:spPr>
        <p:txBody>
          <a:bodyPr wrap="square" rtlCol="0">
            <a:spAutoFit/>
          </a:bodyPr>
          <a:lstStyle/>
          <a:p>
            <a:r>
              <a:rPr lang="en-US" dirty="0"/>
              <a:t>The pilot document is generated by AI the first time, given a bulk amount of examples for tenured employees or starting fresh with a new one.</a:t>
            </a:r>
          </a:p>
          <a:p>
            <a:endParaRPr lang="en-US" dirty="0"/>
          </a:p>
          <a:p>
            <a:r>
              <a:rPr lang="en-US" dirty="0"/>
              <a:t>There needs to be a </a:t>
            </a:r>
            <a:r>
              <a:rPr lang="en-US" dirty="0">
                <a:solidFill>
                  <a:srgbClr val="92D050"/>
                </a:solidFill>
              </a:rPr>
              <a:t>module</a:t>
            </a:r>
            <a:r>
              <a:rPr lang="en-US" dirty="0"/>
              <a:t> written for incorporating the pilot document, and this </a:t>
            </a:r>
            <a:r>
              <a:rPr lang="en-US" dirty="0">
                <a:solidFill>
                  <a:srgbClr val="92D050"/>
                </a:solidFill>
              </a:rPr>
              <a:t>module</a:t>
            </a:r>
            <a:r>
              <a:rPr lang="en-US" dirty="0"/>
              <a:t> is the most important module in the Resonant Organization framework. It is updated often and retrained often.</a:t>
            </a:r>
          </a:p>
          <a:p>
            <a:endParaRPr lang="en-US" dirty="0"/>
          </a:p>
          <a:p>
            <a:r>
              <a:rPr lang="en-US" dirty="0"/>
              <a:t>This is used as the main dial to turn, your largest lever in terms of how the organization is managed. Making it sample more or less frequently, incorporating how the broad-scope metrics are measured or even just restructuring the template and changing the order can all have massive impacts in how this system works, and should be approached experimentally and often.</a:t>
            </a:r>
          </a:p>
          <a:p>
            <a:endParaRPr lang="en-US" dirty="0"/>
          </a:p>
          <a:p>
            <a:r>
              <a:rPr lang="en-US" dirty="0"/>
              <a:t>A pilot document should also archive its older versions to compare itself against. This can be set arbitrarily but can give an in depth amount of insight over time, which we want to cultivate. Optimally 6-7 versions are archived.</a:t>
            </a:r>
          </a:p>
          <a:p>
            <a:endParaRPr lang="en-US" dirty="0"/>
          </a:p>
          <a:p>
            <a:r>
              <a:rPr lang="en-US" dirty="0"/>
              <a:t>Since these documents are just text, even a few Gigabytes per user would not incur significant additional costs because we are using the local hardware and One Drive for storage.</a:t>
            </a:r>
          </a:p>
        </p:txBody>
      </p:sp>
    </p:spTree>
    <p:extLst>
      <p:ext uri="{BB962C8B-B14F-4D97-AF65-F5344CB8AC3E}">
        <p14:creationId xmlns:p14="http://schemas.microsoft.com/office/powerpoint/2010/main" val="1687132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2A89-21DF-28E7-CAAA-18C5EE0DE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B0B92-2E8A-07F2-B21D-5FFAABAC026C}"/>
              </a:ext>
            </a:extLst>
          </p:cNvPr>
          <p:cNvSpPr>
            <a:spLocks noGrp="1"/>
          </p:cNvSpPr>
          <p:nvPr>
            <p:ph type="ctrTitle"/>
          </p:nvPr>
        </p:nvSpPr>
        <p:spPr>
          <a:xfrm>
            <a:off x="144377" y="152996"/>
            <a:ext cx="9661359" cy="1501653"/>
          </a:xfrm>
        </p:spPr>
        <p:txBody>
          <a:bodyPr>
            <a:noAutofit/>
          </a:bodyPr>
          <a:lstStyle/>
          <a:p>
            <a:pPr algn="l"/>
            <a:r>
              <a:rPr lang="en-US" sz="11500" dirty="0">
                <a:solidFill>
                  <a:srgbClr val="FFC000"/>
                </a:solidFill>
              </a:rPr>
              <a:t>Pilot Document</a:t>
            </a:r>
          </a:p>
        </p:txBody>
      </p:sp>
      <p:sp>
        <p:nvSpPr>
          <p:cNvPr id="9" name="TextBox 8">
            <a:extLst>
              <a:ext uri="{FF2B5EF4-FFF2-40B4-BE49-F238E27FC236}">
                <a16:creationId xmlns:a16="http://schemas.microsoft.com/office/drawing/2014/main" id="{AE907B33-9185-98A7-07F5-0F1A0B404C3D}"/>
              </a:ext>
            </a:extLst>
          </p:cNvPr>
          <p:cNvSpPr txBox="1"/>
          <p:nvPr/>
        </p:nvSpPr>
        <p:spPr>
          <a:xfrm>
            <a:off x="144377" y="1362261"/>
            <a:ext cx="4752476" cy="584775"/>
          </a:xfrm>
          <a:prstGeom prst="rect">
            <a:avLst/>
          </a:prstGeom>
          <a:noFill/>
        </p:spPr>
        <p:txBody>
          <a:bodyPr wrap="square" rtlCol="0">
            <a:spAutoFit/>
          </a:bodyPr>
          <a:lstStyle/>
          <a:p>
            <a:r>
              <a:rPr lang="en-US" sz="3200" dirty="0"/>
              <a:t>How to Use it (continued).</a:t>
            </a:r>
          </a:p>
        </p:txBody>
      </p:sp>
      <p:sp>
        <p:nvSpPr>
          <p:cNvPr id="3" name="TextBox 2">
            <a:extLst>
              <a:ext uri="{FF2B5EF4-FFF2-40B4-BE49-F238E27FC236}">
                <a16:creationId xmlns:a16="http://schemas.microsoft.com/office/drawing/2014/main" id="{DA81CA0B-D104-1BB1-7BAC-E97042A26B89}"/>
              </a:ext>
            </a:extLst>
          </p:cNvPr>
          <p:cNvSpPr txBox="1"/>
          <p:nvPr/>
        </p:nvSpPr>
        <p:spPr>
          <a:xfrm>
            <a:off x="144377" y="1947036"/>
            <a:ext cx="10299035" cy="3693319"/>
          </a:xfrm>
          <a:prstGeom prst="rect">
            <a:avLst/>
          </a:prstGeom>
          <a:noFill/>
        </p:spPr>
        <p:txBody>
          <a:bodyPr wrap="square" rtlCol="0">
            <a:spAutoFit/>
          </a:bodyPr>
          <a:lstStyle/>
          <a:p>
            <a:r>
              <a:rPr lang="en-US" dirty="0"/>
              <a:t>Presenting the document as context to Copilot or another AI model can give it all the context it needs to understand the complex jargon in each campaign and the sales terminology. This gets the AI speaking the </a:t>
            </a:r>
            <a:r>
              <a:rPr lang="en-US" dirty="0">
                <a:solidFill>
                  <a:srgbClr val="FFC000"/>
                </a:solidFill>
              </a:rPr>
              <a:t>Nodule’s</a:t>
            </a:r>
            <a:r>
              <a:rPr lang="en-US" dirty="0"/>
              <a:t> language quickly.</a:t>
            </a:r>
          </a:p>
          <a:p>
            <a:endParaRPr lang="en-US" dirty="0"/>
          </a:p>
          <a:p>
            <a:r>
              <a:rPr lang="en-US" dirty="0"/>
              <a:t>Giving an Interface Nodule access to a collection of these can make seeing the trends almost too easy, reinforcement will be needed to avoid desensitizing to information this concentrated.</a:t>
            </a:r>
          </a:p>
          <a:p>
            <a:endParaRPr lang="en-US" dirty="0"/>
          </a:p>
          <a:p>
            <a:r>
              <a:rPr lang="en-US" dirty="0"/>
              <a:t>Deploying a collection of these for AI to scan as a collection can give you campaign, segment and industry level insights that just cannot be obtained in another way.</a:t>
            </a:r>
          </a:p>
          <a:p>
            <a:endParaRPr lang="en-US" dirty="0"/>
          </a:p>
          <a:p>
            <a:r>
              <a:rPr lang="en-US" dirty="0"/>
              <a:t>Running an analysis on every pilot document in the company might yield never seen levels of depth and insight. Forget net promoter scores, we now have the 3D-HD version of that and its not even named yet.</a:t>
            </a:r>
          </a:p>
          <a:p>
            <a:endParaRPr lang="en-US" dirty="0"/>
          </a:p>
        </p:txBody>
      </p:sp>
    </p:spTree>
    <p:extLst>
      <p:ext uri="{BB962C8B-B14F-4D97-AF65-F5344CB8AC3E}">
        <p14:creationId xmlns:p14="http://schemas.microsoft.com/office/powerpoint/2010/main" val="252680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C5FD4-2562-9B65-290B-F8C1DB175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76000-4C7C-2FC1-B689-204BB3E53AFF}"/>
              </a:ext>
            </a:extLst>
          </p:cNvPr>
          <p:cNvSpPr>
            <a:spLocks noGrp="1"/>
          </p:cNvSpPr>
          <p:nvPr>
            <p:ph type="ctrTitle"/>
          </p:nvPr>
        </p:nvSpPr>
        <p:spPr>
          <a:xfrm>
            <a:off x="144377" y="152996"/>
            <a:ext cx="11201402" cy="1501653"/>
          </a:xfrm>
        </p:spPr>
        <p:txBody>
          <a:bodyPr>
            <a:noAutofit/>
          </a:bodyPr>
          <a:lstStyle/>
          <a:p>
            <a:pPr algn="l"/>
            <a:r>
              <a:rPr lang="en-US" sz="11500" dirty="0">
                <a:solidFill>
                  <a:srgbClr val="FFC000"/>
                </a:solidFill>
              </a:rPr>
              <a:t>Realistic Example</a:t>
            </a:r>
          </a:p>
        </p:txBody>
      </p:sp>
      <p:sp>
        <p:nvSpPr>
          <p:cNvPr id="6" name="TextBox 5">
            <a:extLst>
              <a:ext uri="{FF2B5EF4-FFF2-40B4-BE49-F238E27FC236}">
                <a16:creationId xmlns:a16="http://schemas.microsoft.com/office/drawing/2014/main" id="{73DFB628-EA3A-50C5-0053-959C36AD950E}"/>
              </a:ext>
            </a:extLst>
          </p:cNvPr>
          <p:cNvSpPr txBox="1"/>
          <p:nvPr/>
        </p:nvSpPr>
        <p:spPr>
          <a:xfrm>
            <a:off x="144377" y="5781674"/>
            <a:ext cx="5165558" cy="923330"/>
          </a:xfrm>
          <a:prstGeom prst="rect">
            <a:avLst/>
          </a:prstGeom>
          <a:noFill/>
        </p:spPr>
        <p:txBody>
          <a:bodyPr wrap="square" rtlCol="0">
            <a:spAutoFit/>
          </a:bodyPr>
          <a:lstStyle/>
          <a:p>
            <a:r>
              <a:rPr lang="en-US" dirty="0"/>
              <a:t>Let’s combine the </a:t>
            </a:r>
            <a:r>
              <a:rPr lang="en-US" dirty="0">
                <a:solidFill>
                  <a:srgbClr val="00B0F0"/>
                </a:solidFill>
              </a:rPr>
              <a:t>Structure</a:t>
            </a:r>
            <a:r>
              <a:rPr lang="en-US" dirty="0"/>
              <a:t>, </a:t>
            </a:r>
            <a:r>
              <a:rPr lang="en-US" dirty="0">
                <a:solidFill>
                  <a:srgbClr val="92D050"/>
                </a:solidFill>
              </a:rPr>
              <a:t>Metrics</a:t>
            </a:r>
            <a:r>
              <a:rPr lang="en-US" dirty="0"/>
              <a:t>, </a:t>
            </a:r>
            <a:r>
              <a:rPr lang="en-US" dirty="0">
                <a:solidFill>
                  <a:srgbClr val="92D050"/>
                </a:solidFill>
              </a:rPr>
              <a:t>Modules</a:t>
            </a:r>
            <a:r>
              <a:rPr lang="en-US" dirty="0"/>
              <a:t> and </a:t>
            </a:r>
            <a:r>
              <a:rPr lang="en-US" dirty="0">
                <a:solidFill>
                  <a:srgbClr val="FFC000"/>
                </a:solidFill>
              </a:rPr>
              <a:t>Pilot Document</a:t>
            </a:r>
            <a:r>
              <a:rPr lang="en-US" dirty="0"/>
              <a:t> together to make the </a:t>
            </a:r>
            <a:r>
              <a:rPr lang="en-US" dirty="0">
                <a:solidFill>
                  <a:srgbClr val="00B0F0"/>
                </a:solidFill>
              </a:rPr>
              <a:t>Math</a:t>
            </a:r>
            <a:r>
              <a:rPr lang="en-US" dirty="0"/>
              <a:t> work in our favor.</a:t>
            </a:r>
            <a:endParaRPr lang="en-US" dirty="0">
              <a:solidFill>
                <a:srgbClr val="FFC000"/>
              </a:solidFill>
            </a:endParaRPr>
          </a:p>
        </p:txBody>
      </p:sp>
      <p:sp>
        <p:nvSpPr>
          <p:cNvPr id="8" name="TextBox 7">
            <a:extLst>
              <a:ext uri="{FF2B5EF4-FFF2-40B4-BE49-F238E27FC236}">
                <a16:creationId xmlns:a16="http://schemas.microsoft.com/office/drawing/2014/main" id="{3AF23DE1-B5EE-E76E-611A-3B4A1F91570B}"/>
              </a:ext>
            </a:extLst>
          </p:cNvPr>
          <p:cNvSpPr txBox="1"/>
          <p:nvPr/>
        </p:nvSpPr>
        <p:spPr>
          <a:xfrm>
            <a:off x="144377" y="1466904"/>
            <a:ext cx="7255044" cy="1569660"/>
          </a:xfrm>
          <a:prstGeom prst="rect">
            <a:avLst/>
          </a:prstGeom>
          <a:noFill/>
        </p:spPr>
        <p:txBody>
          <a:bodyPr wrap="square" rtlCol="0">
            <a:spAutoFit/>
          </a:bodyPr>
          <a:lstStyle/>
          <a:p>
            <a:r>
              <a:rPr lang="en-US" sz="3200" dirty="0"/>
              <a:t>We use </a:t>
            </a:r>
            <a:r>
              <a:rPr lang="en-US" sz="3200" dirty="0" err="1"/>
              <a:t>CampaignCo</a:t>
            </a:r>
            <a:r>
              <a:rPr lang="en-US" sz="3200" dirty="0"/>
              <a:t>, a B2B Sales Company with overextended margins and too few managers to reps.</a:t>
            </a:r>
          </a:p>
        </p:txBody>
      </p:sp>
    </p:spTree>
    <p:extLst>
      <p:ext uri="{BB962C8B-B14F-4D97-AF65-F5344CB8AC3E}">
        <p14:creationId xmlns:p14="http://schemas.microsoft.com/office/powerpoint/2010/main" val="194764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E6AEE-276D-A0AF-46B9-9BF140934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56AF0-F75C-3125-91F6-E6BCB958FC35}"/>
              </a:ext>
            </a:extLst>
          </p:cNvPr>
          <p:cNvSpPr>
            <a:spLocks noGrp="1"/>
          </p:cNvSpPr>
          <p:nvPr>
            <p:ph type="ctrTitle"/>
          </p:nvPr>
        </p:nvSpPr>
        <p:spPr>
          <a:xfrm>
            <a:off x="144377" y="152996"/>
            <a:ext cx="11201402" cy="1501653"/>
          </a:xfrm>
        </p:spPr>
        <p:txBody>
          <a:bodyPr>
            <a:noAutofit/>
          </a:bodyPr>
          <a:lstStyle/>
          <a:p>
            <a:pPr algn="l"/>
            <a:r>
              <a:rPr lang="en-US" sz="11500" dirty="0">
                <a:solidFill>
                  <a:srgbClr val="FFC000"/>
                </a:solidFill>
              </a:rPr>
              <a:t>Realistic Example</a:t>
            </a:r>
          </a:p>
        </p:txBody>
      </p:sp>
      <p:sp>
        <p:nvSpPr>
          <p:cNvPr id="6" name="TextBox 5">
            <a:extLst>
              <a:ext uri="{FF2B5EF4-FFF2-40B4-BE49-F238E27FC236}">
                <a16:creationId xmlns:a16="http://schemas.microsoft.com/office/drawing/2014/main" id="{15462112-5DBB-47FF-8574-236FDDADB211}"/>
              </a:ext>
            </a:extLst>
          </p:cNvPr>
          <p:cNvSpPr txBox="1"/>
          <p:nvPr/>
        </p:nvSpPr>
        <p:spPr>
          <a:xfrm>
            <a:off x="144375" y="2292516"/>
            <a:ext cx="11032961" cy="4801314"/>
          </a:xfrm>
          <a:prstGeom prst="rect">
            <a:avLst/>
          </a:prstGeom>
          <a:noFill/>
        </p:spPr>
        <p:txBody>
          <a:bodyPr wrap="square" rtlCol="0">
            <a:spAutoFit/>
          </a:bodyPr>
          <a:lstStyle/>
          <a:p>
            <a:r>
              <a:rPr lang="en-US" dirty="0"/>
              <a:t>Stage 1: Realignment</a:t>
            </a:r>
          </a:p>
          <a:p>
            <a:pPr marL="285750" indent="-285750">
              <a:buFontTx/>
              <a:buChar char="-"/>
            </a:pPr>
            <a:r>
              <a:rPr lang="en-US" dirty="0"/>
              <a:t>Starting from a single team, engage the resonant structure and </a:t>
            </a:r>
            <a:r>
              <a:rPr lang="en-US" dirty="0">
                <a:solidFill>
                  <a:srgbClr val="FFC000"/>
                </a:solidFill>
              </a:rPr>
              <a:t>pilot document</a:t>
            </a:r>
          </a:p>
          <a:p>
            <a:pPr marL="285750" indent="-285750">
              <a:buFontTx/>
              <a:buChar char="-"/>
            </a:pPr>
            <a:r>
              <a:rPr lang="en-US" dirty="0"/>
              <a:t>One interface </a:t>
            </a:r>
            <a:r>
              <a:rPr lang="en-US" dirty="0">
                <a:solidFill>
                  <a:srgbClr val="FFC000"/>
                </a:solidFill>
              </a:rPr>
              <a:t>Nodule</a:t>
            </a:r>
            <a:r>
              <a:rPr lang="en-US" dirty="0"/>
              <a:t>, one feedback </a:t>
            </a:r>
            <a:r>
              <a:rPr lang="en-US" dirty="0">
                <a:solidFill>
                  <a:srgbClr val="FFC000"/>
                </a:solidFill>
              </a:rPr>
              <a:t>Nodule</a:t>
            </a:r>
            <a:r>
              <a:rPr lang="en-US" dirty="0"/>
              <a:t> two support </a:t>
            </a:r>
            <a:r>
              <a:rPr lang="en-US" dirty="0">
                <a:solidFill>
                  <a:srgbClr val="FFC000"/>
                </a:solidFill>
              </a:rPr>
              <a:t>Nodules</a:t>
            </a:r>
            <a:r>
              <a:rPr lang="en-US" dirty="0"/>
              <a:t> and three core </a:t>
            </a:r>
            <a:r>
              <a:rPr lang="en-US" dirty="0">
                <a:solidFill>
                  <a:srgbClr val="FFC000"/>
                </a:solidFill>
              </a:rPr>
              <a:t>Nodules</a:t>
            </a:r>
            <a:r>
              <a:rPr lang="en-US" dirty="0"/>
              <a:t> should be selected</a:t>
            </a:r>
          </a:p>
          <a:p>
            <a:pPr marL="285750" indent="-285750">
              <a:buFontTx/>
              <a:buChar char="-"/>
            </a:pPr>
            <a:r>
              <a:rPr lang="en-US" dirty="0"/>
              <a:t>They may embed within an existing team, augmenting an existing manager by becoming self-sustaining</a:t>
            </a:r>
          </a:p>
          <a:p>
            <a:pPr marL="285750" indent="-285750">
              <a:buFontTx/>
              <a:buChar char="-"/>
            </a:pPr>
            <a:r>
              <a:rPr lang="en-US" dirty="0"/>
              <a:t>The augmented manager then establishes the second, and third teams. This manager serves as the interface node to the next resonant </a:t>
            </a:r>
            <a:r>
              <a:rPr lang="en-US" dirty="0">
                <a:solidFill>
                  <a:srgbClr val="FF3300"/>
                </a:solidFill>
              </a:rPr>
              <a:t>frame</a:t>
            </a:r>
            <a:r>
              <a:rPr lang="en-US" dirty="0"/>
              <a:t> and so on. </a:t>
            </a:r>
          </a:p>
          <a:p>
            <a:pPr marL="285750" indent="-285750">
              <a:buFontTx/>
              <a:buChar char="-"/>
            </a:pPr>
            <a:r>
              <a:rPr lang="en-US" dirty="0"/>
              <a:t>Each dedicated </a:t>
            </a:r>
            <a:r>
              <a:rPr lang="en-US" dirty="0">
                <a:solidFill>
                  <a:srgbClr val="FFC000"/>
                </a:solidFill>
              </a:rPr>
              <a:t>Interface</a:t>
            </a:r>
            <a:r>
              <a:rPr lang="en-US" dirty="0"/>
              <a:t> </a:t>
            </a:r>
            <a:r>
              <a:rPr lang="en-US" dirty="0">
                <a:solidFill>
                  <a:srgbClr val="FFC000"/>
                </a:solidFill>
              </a:rPr>
              <a:t>Nodule</a:t>
            </a:r>
            <a:r>
              <a:rPr lang="en-US" dirty="0"/>
              <a:t> (non-producing) can handle more frames than a producing </a:t>
            </a:r>
            <a:r>
              <a:rPr lang="en-US" dirty="0">
                <a:solidFill>
                  <a:srgbClr val="FFC000"/>
                </a:solidFill>
              </a:rPr>
              <a:t>Interface</a:t>
            </a:r>
            <a:r>
              <a:rPr lang="en-US" dirty="0"/>
              <a:t> </a:t>
            </a:r>
            <a:r>
              <a:rPr lang="en-US" dirty="0">
                <a:solidFill>
                  <a:srgbClr val="FFC000"/>
                </a:solidFill>
              </a:rPr>
              <a:t>Nodule</a:t>
            </a:r>
            <a:r>
              <a:rPr lang="en-US" dirty="0"/>
              <a:t>.</a:t>
            </a:r>
          </a:p>
          <a:p>
            <a:r>
              <a:rPr lang="en-US" dirty="0"/>
              <a:t>Stage 2: Reassessment</a:t>
            </a:r>
          </a:p>
          <a:p>
            <a:pPr marL="285750" indent="-285750">
              <a:buFontTx/>
              <a:buChar char="-"/>
            </a:pPr>
            <a:r>
              <a:rPr lang="en-US" dirty="0"/>
              <a:t>Allow AI modeling of the </a:t>
            </a:r>
            <a:r>
              <a:rPr lang="en-US" dirty="0">
                <a:solidFill>
                  <a:srgbClr val="FFC000"/>
                </a:solidFill>
              </a:rPr>
              <a:t>Pilot Documents </a:t>
            </a:r>
            <a:r>
              <a:rPr lang="en-US" dirty="0"/>
              <a:t>after they have accrued some metric performance</a:t>
            </a:r>
          </a:p>
          <a:p>
            <a:pPr marL="285750" indent="-285750">
              <a:buFontTx/>
              <a:buChar char="-"/>
            </a:pPr>
            <a:r>
              <a:rPr lang="en-US" dirty="0"/>
              <a:t>Base team behaviors on these findings (only at this point deviating from standard practice)</a:t>
            </a:r>
          </a:p>
          <a:p>
            <a:pPr marL="285750" indent="-285750">
              <a:buFontTx/>
              <a:buChar char="-"/>
            </a:pPr>
            <a:r>
              <a:rPr lang="en-US" dirty="0"/>
              <a:t>Assess results, and follow the example of teams that adopt quickly, possibly promoting from within successful </a:t>
            </a:r>
            <a:r>
              <a:rPr lang="en-US" dirty="0">
                <a:solidFill>
                  <a:srgbClr val="FF3300"/>
                </a:solidFill>
              </a:rPr>
              <a:t>frames</a:t>
            </a:r>
          </a:p>
          <a:p>
            <a:r>
              <a:rPr lang="en-US" dirty="0"/>
              <a:t>Stage 3: Growth</a:t>
            </a:r>
          </a:p>
          <a:p>
            <a:pPr marL="285750" indent="-285750">
              <a:buFontTx/>
              <a:buChar char="-"/>
            </a:pPr>
            <a:r>
              <a:rPr lang="en-US" dirty="0"/>
              <a:t>Split existing teams into </a:t>
            </a:r>
            <a:r>
              <a:rPr lang="en-US" dirty="0">
                <a:solidFill>
                  <a:srgbClr val="FF3300"/>
                </a:solidFill>
              </a:rPr>
              <a:t>frames</a:t>
            </a:r>
            <a:r>
              <a:rPr lang="en-US" dirty="0"/>
              <a:t>, Realign and Reassess them</a:t>
            </a:r>
          </a:p>
          <a:p>
            <a:pPr marL="285750" indent="-285750">
              <a:buFontTx/>
              <a:buChar char="-"/>
            </a:pPr>
            <a:r>
              <a:rPr lang="en-US" dirty="0"/>
              <a:t>Allow tenured </a:t>
            </a:r>
            <a:r>
              <a:rPr lang="en-US" dirty="0">
                <a:solidFill>
                  <a:srgbClr val="FF3300"/>
                </a:solidFill>
              </a:rPr>
              <a:t>frames</a:t>
            </a:r>
            <a:r>
              <a:rPr lang="en-US" dirty="0"/>
              <a:t> to permutate on their successes (Find new leads on their own, sell from a “product well” as a pool of available sales products, collaborate to increase their commissions, etc.)</a:t>
            </a:r>
          </a:p>
          <a:p>
            <a:endParaRPr lang="en-US" dirty="0"/>
          </a:p>
        </p:txBody>
      </p:sp>
      <p:sp>
        <p:nvSpPr>
          <p:cNvPr id="8" name="TextBox 7">
            <a:extLst>
              <a:ext uri="{FF2B5EF4-FFF2-40B4-BE49-F238E27FC236}">
                <a16:creationId xmlns:a16="http://schemas.microsoft.com/office/drawing/2014/main" id="{C67DD360-2A73-F0B8-B66F-53914DB70F7A}"/>
              </a:ext>
            </a:extLst>
          </p:cNvPr>
          <p:cNvSpPr txBox="1"/>
          <p:nvPr/>
        </p:nvSpPr>
        <p:spPr>
          <a:xfrm>
            <a:off x="144376" y="1466904"/>
            <a:ext cx="11903247" cy="584775"/>
          </a:xfrm>
          <a:prstGeom prst="rect">
            <a:avLst/>
          </a:prstGeom>
          <a:noFill/>
        </p:spPr>
        <p:txBody>
          <a:bodyPr wrap="square" rtlCol="0">
            <a:spAutoFit/>
          </a:bodyPr>
          <a:lstStyle/>
          <a:p>
            <a:r>
              <a:rPr lang="en-US" sz="3200" dirty="0" err="1"/>
              <a:t>CampaignCo</a:t>
            </a:r>
            <a:r>
              <a:rPr lang="en-US" sz="3200" dirty="0"/>
              <a:t> has a client campaign with ratios of 14 reps to 1 manager.</a:t>
            </a:r>
          </a:p>
        </p:txBody>
      </p:sp>
    </p:spTree>
    <p:extLst>
      <p:ext uri="{BB962C8B-B14F-4D97-AF65-F5344CB8AC3E}">
        <p14:creationId xmlns:p14="http://schemas.microsoft.com/office/powerpoint/2010/main" val="4001759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BEA6E-4557-B734-2FF2-9D0186BE3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DED9C-B38E-37CA-6071-81950B8C644E}"/>
              </a:ext>
            </a:extLst>
          </p:cNvPr>
          <p:cNvSpPr>
            <a:spLocks noGrp="1"/>
          </p:cNvSpPr>
          <p:nvPr>
            <p:ph type="ctrTitle"/>
          </p:nvPr>
        </p:nvSpPr>
        <p:spPr>
          <a:xfrm>
            <a:off x="144377" y="152996"/>
            <a:ext cx="11201402" cy="1501653"/>
          </a:xfrm>
        </p:spPr>
        <p:txBody>
          <a:bodyPr>
            <a:noAutofit/>
          </a:bodyPr>
          <a:lstStyle/>
          <a:p>
            <a:pPr algn="l"/>
            <a:r>
              <a:rPr lang="en-US" sz="11500" dirty="0">
                <a:solidFill>
                  <a:srgbClr val="FFC000"/>
                </a:solidFill>
              </a:rPr>
              <a:t>Realistic Example</a:t>
            </a:r>
          </a:p>
        </p:txBody>
      </p:sp>
      <p:sp>
        <p:nvSpPr>
          <p:cNvPr id="6" name="TextBox 5">
            <a:extLst>
              <a:ext uri="{FF2B5EF4-FFF2-40B4-BE49-F238E27FC236}">
                <a16:creationId xmlns:a16="http://schemas.microsoft.com/office/drawing/2014/main" id="{842BFEB3-7FD7-B57B-B78B-20B6DAC8373A}"/>
              </a:ext>
            </a:extLst>
          </p:cNvPr>
          <p:cNvSpPr txBox="1"/>
          <p:nvPr/>
        </p:nvSpPr>
        <p:spPr>
          <a:xfrm>
            <a:off x="144376" y="2292516"/>
            <a:ext cx="10611856" cy="4524315"/>
          </a:xfrm>
          <a:prstGeom prst="rect">
            <a:avLst/>
          </a:prstGeom>
          <a:noFill/>
        </p:spPr>
        <p:txBody>
          <a:bodyPr wrap="square" rtlCol="0">
            <a:spAutoFit/>
          </a:bodyPr>
          <a:lstStyle/>
          <a:p>
            <a:r>
              <a:rPr lang="en-US" dirty="0"/>
              <a:t>Stage 1: Global Synchronization</a:t>
            </a:r>
          </a:p>
          <a:p>
            <a:pPr marL="285750" indent="-285750">
              <a:buFontTx/>
              <a:buChar char="-"/>
            </a:pPr>
            <a:r>
              <a:rPr lang="en-US" dirty="0"/>
              <a:t>Pull all data from all </a:t>
            </a:r>
            <a:r>
              <a:rPr lang="en-US" dirty="0">
                <a:solidFill>
                  <a:srgbClr val="FFC000"/>
                </a:solidFill>
              </a:rPr>
              <a:t>pilot documents </a:t>
            </a:r>
            <a:r>
              <a:rPr lang="en-US" dirty="0"/>
              <a:t>and synthesize results weekly</a:t>
            </a:r>
          </a:p>
          <a:p>
            <a:pPr marL="285750" indent="-285750">
              <a:buFontTx/>
              <a:buChar char="-"/>
            </a:pPr>
            <a:r>
              <a:rPr lang="en-US" dirty="0"/>
              <a:t>Establish a paid service to share these industry trends, pay </a:t>
            </a:r>
            <a:r>
              <a:rPr lang="en-US" dirty="0">
                <a:solidFill>
                  <a:srgbClr val="FFC000"/>
                </a:solidFill>
              </a:rPr>
              <a:t>Nodules</a:t>
            </a:r>
            <a:r>
              <a:rPr lang="en-US" dirty="0"/>
              <a:t> to sell it</a:t>
            </a:r>
          </a:p>
          <a:p>
            <a:pPr marL="285750" indent="-285750">
              <a:buFontTx/>
              <a:buChar char="-"/>
            </a:pPr>
            <a:r>
              <a:rPr lang="en-US" dirty="0"/>
              <a:t>Predict market trends using inputs from networked intelligence and your own campaigns</a:t>
            </a:r>
          </a:p>
          <a:p>
            <a:r>
              <a:rPr lang="en-US" dirty="0"/>
              <a:t>Stage 2: Training Revolution</a:t>
            </a:r>
          </a:p>
          <a:p>
            <a:pPr marL="285750" indent="-285750">
              <a:buFontTx/>
              <a:buChar char="-"/>
            </a:pPr>
            <a:r>
              <a:rPr lang="en-US" dirty="0"/>
              <a:t>Engage Learning &amp; Development to create a library of </a:t>
            </a:r>
            <a:r>
              <a:rPr lang="en-US" dirty="0">
                <a:solidFill>
                  <a:srgbClr val="92D050"/>
                </a:solidFill>
              </a:rPr>
              <a:t>modules</a:t>
            </a:r>
            <a:r>
              <a:rPr lang="en-US" dirty="0"/>
              <a:t> for specific use cases, keyword them and make them easy to find in cheaply obtained tools</a:t>
            </a:r>
          </a:p>
          <a:p>
            <a:pPr marL="285750" indent="-285750">
              <a:buFontTx/>
              <a:buChar char="-"/>
            </a:pPr>
            <a:r>
              <a:rPr lang="en-US" dirty="0"/>
              <a:t>Discover which </a:t>
            </a:r>
            <a:r>
              <a:rPr lang="en-US" dirty="0">
                <a:solidFill>
                  <a:srgbClr val="92D050"/>
                </a:solidFill>
              </a:rPr>
              <a:t>modules</a:t>
            </a:r>
            <a:r>
              <a:rPr lang="en-US" dirty="0"/>
              <a:t> need a guide, and allow them to be trained by agents part-time (step off the phones for a few weeks for a training, etc.)</a:t>
            </a:r>
          </a:p>
          <a:p>
            <a:pPr marL="285750" indent="-285750">
              <a:buFontTx/>
              <a:buChar char="-"/>
            </a:pPr>
            <a:r>
              <a:rPr lang="en-US" dirty="0"/>
              <a:t>Use </a:t>
            </a:r>
            <a:r>
              <a:rPr lang="en-US" dirty="0">
                <a:solidFill>
                  <a:srgbClr val="92D050"/>
                </a:solidFill>
              </a:rPr>
              <a:t>module</a:t>
            </a:r>
            <a:r>
              <a:rPr lang="en-US" dirty="0"/>
              <a:t> tied metrics to find </a:t>
            </a:r>
            <a:r>
              <a:rPr lang="en-US" dirty="0">
                <a:solidFill>
                  <a:srgbClr val="92D050"/>
                </a:solidFill>
              </a:rPr>
              <a:t>modules</a:t>
            </a:r>
            <a:r>
              <a:rPr lang="en-US" dirty="0"/>
              <a:t> that link </a:t>
            </a:r>
            <a:r>
              <a:rPr lang="en-US" dirty="0">
                <a:solidFill>
                  <a:srgbClr val="FFC000"/>
                </a:solidFill>
              </a:rPr>
              <a:t>Nodules</a:t>
            </a:r>
            <a:r>
              <a:rPr lang="en-US" dirty="0"/>
              <a:t> that provide value, then broadcast them</a:t>
            </a:r>
          </a:p>
          <a:p>
            <a:r>
              <a:rPr lang="en-US" dirty="0"/>
              <a:t>Stage 3: Recursive Benefit</a:t>
            </a:r>
          </a:p>
          <a:p>
            <a:pPr marL="285750" indent="-285750">
              <a:buFontTx/>
              <a:buChar char="-"/>
            </a:pPr>
            <a:r>
              <a:rPr lang="en-US" dirty="0"/>
              <a:t>Encourage the adoption and growth of initiatives that bring new product offerings or new business</a:t>
            </a:r>
          </a:p>
          <a:p>
            <a:pPr marL="285750" indent="-285750">
              <a:buFontTx/>
              <a:buChar char="-"/>
            </a:pPr>
            <a:r>
              <a:rPr lang="en-US" dirty="0"/>
              <a:t>Find your effective </a:t>
            </a:r>
            <a:r>
              <a:rPr lang="en-US" dirty="0">
                <a:solidFill>
                  <a:srgbClr val="92D050"/>
                </a:solidFill>
              </a:rPr>
              <a:t>module</a:t>
            </a:r>
            <a:r>
              <a:rPr lang="en-US" dirty="0"/>
              <a:t> writers, analysts and integration techniques, then make their practices work across </a:t>
            </a:r>
            <a:r>
              <a:rPr lang="en-US" dirty="0">
                <a:solidFill>
                  <a:srgbClr val="FF3300"/>
                </a:solidFill>
              </a:rPr>
              <a:t>frames</a:t>
            </a:r>
            <a:r>
              <a:rPr lang="en-US" dirty="0"/>
              <a:t> with the </a:t>
            </a:r>
            <a:r>
              <a:rPr lang="en-US" dirty="0">
                <a:solidFill>
                  <a:srgbClr val="FFC000"/>
                </a:solidFill>
              </a:rPr>
              <a:t>pilot document</a:t>
            </a:r>
          </a:p>
          <a:p>
            <a:pPr marL="285750" indent="-285750">
              <a:buFontTx/>
              <a:buChar char="-"/>
            </a:pPr>
            <a:r>
              <a:rPr lang="en-US" dirty="0"/>
              <a:t>Have up to the hour information on an entire enterprise internationally using networked strategy</a:t>
            </a:r>
          </a:p>
          <a:p>
            <a:endParaRPr lang="en-US" dirty="0"/>
          </a:p>
        </p:txBody>
      </p:sp>
      <p:sp>
        <p:nvSpPr>
          <p:cNvPr id="8" name="TextBox 7">
            <a:extLst>
              <a:ext uri="{FF2B5EF4-FFF2-40B4-BE49-F238E27FC236}">
                <a16:creationId xmlns:a16="http://schemas.microsoft.com/office/drawing/2014/main" id="{791C7058-A7D1-911A-F1B1-8FC87333312A}"/>
              </a:ext>
            </a:extLst>
          </p:cNvPr>
          <p:cNvSpPr txBox="1"/>
          <p:nvPr/>
        </p:nvSpPr>
        <p:spPr>
          <a:xfrm>
            <a:off x="144376" y="1466904"/>
            <a:ext cx="11903247" cy="584775"/>
          </a:xfrm>
          <a:prstGeom prst="rect">
            <a:avLst/>
          </a:prstGeom>
          <a:noFill/>
        </p:spPr>
        <p:txBody>
          <a:bodyPr wrap="square" rtlCol="0">
            <a:spAutoFit/>
          </a:bodyPr>
          <a:lstStyle/>
          <a:p>
            <a:r>
              <a:rPr lang="en-US" sz="3200" dirty="0" err="1"/>
              <a:t>CampaignCo</a:t>
            </a:r>
            <a:r>
              <a:rPr lang="en-US" sz="3200" dirty="0"/>
              <a:t> has the framework in place.</a:t>
            </a:r>
          </a:p>
        </p:txBody>
      </p:sp>
    </p:spTree>
    <p:extLst>
      <p:ext uri="{BB962C8B-B14F-4D97-AF65-F5344CB8AC3E}">
        <p14:creationId xmlns:p14="http://schemas.microsoft.com/office/powerpoint/2010/main" val="1511890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CBCAF-AA34-04A1-9D87-23E0F453C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2BBAA-99AF-A4EC-0634-662CD8A5C9E3}"/>
              </a:ext>
            </a:extLst>
          </p:cNvPr>
          <p:cNvSpPr>
            <a:spLocks noGrp="1"/>
          </p:cNvSpPr>
          <p:nvPr>
            <p:ph type="ctrTitle"/>
          </p:nvPr>
        </p:nvSpPr>
        <p:spPr>
          <a:xfrm>
            <a:off x="0" y="0"/>
            <a:ext cx="7904747" cy="1501653"/>
          </a:xfrm>
        </p:spPr>
        <p:txBody>
          <a:bodyPr>
            <a:noAutofit/>
          </a:bodyPr>
          <a:lstStyle/>
          <a:p>
            <a:pPr algn="l"/>
            <a:r>
              <a:rPr lang="en-US" sz="11500" dirty="0">
                <a:solidFill>
                  <a:srgbClr val="00B0F0"/>
                </a:solidFill>
              </a:rPr>
              <a:t>Qu</a:t>
            </a:r>
            <a:r>
              <a:rPr lang="en-US" sz="11500" dirty="0">
                <a:solidFill>
                  <a:srgbClr val="92D050"/>
                </a:solidFill>
              </a:rPr>
              <a:t>es</a:t>
            </a:r>
            <a:r>
              <a:rPr lang="en-US" sz="11500" dirty="0">
                <a:solidFill>
                  <a:srgbClr val="FFC000"/>
                </a:solidFill>
              </a:rPr>
              <a:t>ti</a:t>
            </a:r>
            <a:r>
              <a:rPr lang="en-US" sz="11500" dirty="0">
                <a:solidFill>
                  <a:srgbClr val="00B0F0"/>
                </a:solidFill>
              </a:rPr>
              <a:t>on</a:t>
            </a:r>
            <a:r>
              <a:rPr lang="en-US" sz="11500" dirty="0">
                <a:solidFill>
                  <a:srgbClr val="92D050"/>
                </a:solidFill>
              </a:rPr>
              <a:t>s?</a:t>
            </a:r>
          </a:p>
        </p:txBody>
      </p:sp>
    </p:spTree>
    <p:extLst>
      <p:ext uri="{BB962C8B-B14F-4D97-AF65-F5344CB8AC3E}">
        <p14:creationId xmlns:p14="http://schemas.microsoft.com/office/powerpoint/2010/main" val="1127163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5BEB6-D5E1-B084-F46B-E69EB615C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A153E-8F82-5E4E-48B7-9D43A1BE97D8}"/>
              </a:ext>
            </a:extLst>
          </p:cNvPr>
          <p:cNvSpPr>
            <a:spLocks noGrp="1"/>
          </p:cNvSpPr>
          <p:nvPr>
            <p:ph type="ctrTitle"/>
          </p:nvPr>
        </p:nvSpPr>
        <p:spPr>
          <a:xfrm>
            <a:off x="0" y="0"/>
            <a:ext cx="7904747" cy="1501653"/>
          </a:xfrm>
        </p:spPr>
        <p:txBody>
          <a:bodyPr>
            <a:noAutofit/>
          </a:bodyPr>
          <a:lstStyle/>
          <a:p>
            <a:pPr algn="l"/>
            <a:r>
              <a:rPr lang="en-US" sz="11500" dirty="0">
                <a:solidFill>
                  <a:srgbClr val="00B0F0"/>
                </a:solidFill>
              </a:rPr>
              <a:t>F</a:t>
            </a:r>
            <a:r>
              <a:rPr lang="en-US" sz="11500" dirty="0">
                <a:solidFill>
                  <a:srgbClr val="92D050"/>
                </a:solidFill>
              </a:rPr>
              <a:t>i</a:t>
            </a:r>
            <a:r>
              <a:rPr lang="en-US" sz="11500" dirty="0">
                <a:solidFill>
                  <a:srgbClr val="FFC000"/>
                </a:solidFill>
              </a:rPr>
              <a:t>n</a:t>
            </a:r>
            <a:endParaRPr lang="en-US" sz="11500" dirty="0"/>
          </a:p>
        </p:txBody>
      </p:sp>
    </p:spTree>
    <p:extLst>
      <p:ext uri="{BB962C8B-B14F-4D97-AF65-F5344CB8AC3E}">
        <p14:creationId xmlns:p14="http://schemas.microsoft.com/office/powerpoint/2010/main" val="28532534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78FF6-69E3-E0E5-B1EF-EB9F58FDF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52677-6773-CC04-FA78-3D519C458D35}"/>
              </a:ext>
            </a:extLst>
          </p:cNvPr>
          <p:cNvSpPr>
            <a:spLocks noGrp="1"/>
          </p:cNvSpPr>
          <p:nvPr>
            <p:ph type="ctrTitle"/>
          </p:nvPr>
        </p:nvSpPr>
        <p:spPr>
          <a:xfrm>
            <a:off x="0" y="79249"/>
            <a:ext cx="11201402" cy="993648"/>
          </a:xfrm>
        </p:spPr>
        <p:txBody>
          <a:bodyPr>
            <a:noAutofit/>
          </a:bodyPr>
          <a:lstStyle/>
          <a:p>
            <a:pPr algn="l"/>
            <a:r>
              <a:rPr lang="en-US" sz="8000" dirty="0">
                <a:solidFill>
                  <a:srgbClr val="FFC000"/>
                </a:solidFill>
              </a:rPr>
              <a:t>Implementation Template</a:t>
            </a:r>
          </a:p>
        </p:txBody>
      </p:sp>
      <p:sp>
        <p:nvSpPr>
          <p:cNvPr id="3" name="Rectangle 1">
            <a:extLst>
              <a:ext uri="{FF2B5EF4-FFF2-40B4-BE49-F238E27FC236}">
                <a16:creationId xmlns:a16="http://schemas.microsoft.com/office/drawing/2014/main" id="{76EB74B9-65B2-BB97-EC75-08E65F776F68}"/>
              </a:ext>
            </a:extLst>
          </p:cNvPr>
          <p:cNvSpPr>
            <a:spLocks noChangeArrowheads="1"/>
          </p:cNvSpPr>
          <p:nvPr/>
        </p:nvSpPr>
        <p:spPr bwMode="auto">
          <a:xfrm>
            <a:off x="0" y="1186612"/>
            <a:ext cx="12192000"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Introduction – What is a Resonant Organization?</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Define “Resonance” in a business context (aligning team rhythm for peak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State why we are adopting the Resonant Organization framework for the sales team (e.g. need for agility, consistent performance, and employee empowerment).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Highlight expected benefits: faster decision-making, increased sales productivity, and a scalable team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Framing Theory Overview</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Introduce the </a:t>
            </a:r>
            <a:r>
              <a:rPr kumimoji="0" lang="en-US" altLang="en-US" sz="700" b="1" i="0" u="none" strike="noStrike" cap="none" normalizeH="0" baseline="0" dirty="0">
                <a:ln>
                  <a:noFill/>
                </a:ln>
                <a:solidFill>
                  <a:schemeClr val="tx1"/>
                </a:solidFill>
                <a:effectLst/>
                <a:latin typeface="Arial" panose="020B0604020202020204" pitchFamily="34" charset="0"/>
              </a:rPr>
              <a:t>Resonant Frame</a:t>
            </a:r>
            <a:r>
              <a:rPr kumimoji="0" lang="en-US" altLang="en-US" sz="700" b="0" i="0" u="none" strike="noStrike" cap="none" normalizeH="0" baseline="0" dirty="0">
                <a:ln>
                  <a:noFill/>
                </a:ln>
                <a:solidFill>
                  <a:schemeClr val="tx1"/>
                </a:solidFill>
                <a:effectLst/>
                <a:latin typeface="Arial" panose="020B0604020202020204" pitchFamily="34" charset="0"/>
              </a:rPr>
              <a:t> concept: a team of 7 </a:t>
            </a:r>
            <a:r>
              <a:rPr kumimoji="0" lang="en-US" altLang="en-US" sz="700" b="1" i="0" u="none" strike="noStrike" cap="none" normalizeH="0" baseline="0" dirty="0">
                <a:ln>
                  <a:noFill/>
                </a:ln>
                <a:solidFill>
                  <a:schemeClr val="tx1"/>
                </a:solidFill>
                <a:effectLst/>
                <a:latin typeface="Arial" panose="020B0604020202020204" pitchFamily="34" charset="0"/>
              </a:rPr>
              <a:t>Nodules</a:t>
            </a:r>
            <a:r>
              <a:rPr kumimoji="0" lang="en-US" altLang="en-US" sz="700" b="0" i="0" u="none" strike="noStrike" cap="none" normalizeH="0" baseline="0" dirty="0">
                <a:ln>
                  <a:noFill/>
                </a:ln>
                <a:solidFill>
                  <a:schemeClr val="tx1"/>
                </a:solidFill>
                <a:effectLst/>
                <a:latin typeface="Arial" panose="020B0604020202020204" pitchFamily="34" charset="0"/>
              </a:rPr>
              <a:t> (roles) working as a self-contained unit. Include a mini-org chart graphic of 1 Interface, 1 Feedback, 2 Support, 3 Core roles.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Explain each Nodule’s purpose in brief (Interface = team lead/“signal bridge”; Feedback = performance monitor; Support = specialists; Core = sales producers).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Emphasize the </a:t>
            </a:r>
            <a:r>
              <a:rPr kumimoji="0" lang="en-US" altLang="en-US" sz="700" b="1" i="0" u="none" strike="noStrike" cap="none" normalizeH="0" baseline="0" dirty="0">
                <a:ln>
                  <a:noFill/>
                </a:ln>
                <a:solidFill>
                  <a:schemeClr val="tx1"/>
                </a:solidFill>
                <a:effectLst/>
                <a:latin typeface="Arial" panose="020B0604020202020204" pitchFamily="34" charset="0"/>
              </a:rPr>
              <a:t>fractal structure</a:t>
            </a:r>
            <a:r>
              <a:rPr kumimoji="0" lang="en-US" altLang="en-US" sz="700" b="0" i="0" u="none" strike="noStrike" cap="none" normalizeH="0" baseline="0" dirty="0">
                <a:ln>
                  <a:noFill/>
                </a:ln>
                <a:solidFill>
                  <a:schemeClr val="tx1"/>
                </a:solidFill>
                <a:effectLst/>
                <a:latin typeface="Arial" panose="020B0604020202020204" pitchFamily="34" charset="0"/>
              </a:rPr>
              <a:t> – each frame is like a small replica of the larger org – and how this modular design allows growth by replication.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Mention the mathematical grounding (e.g. Time-Adherence principle) to show it’s a data-driven model, without diving into formulas.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Intake and Pilot Design Process</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Describe how the pilot team was formed from the existing sales agents. Detail the selection of the 7 members and assignment of Nodule roles (e.g. based on skills and interests: who became Interface, who became Feedback,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Show a before-and-after team structure diagram (Traditional Team vs. Resonant Frame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Outline the preparation steps taken: initial team briefing on the resonant concept, gathering baseline metrics (current call volumes, conversion rates), and setting pilot objectives.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Explain the pilot scope: a 60-day trial period, operating within the current sales targets and using the new framework to achieve them.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Role Transitions and Training Plan</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Explain how each person’s day-to-day work is changing. For example: “Agent A + managerial duties = now Interface Nodule,” “Agent B takes on data duties = now Feedback Nodule,”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Acknowledge the learning curve: list training provided for each new role aspect (e.g. Interface Nodule trained in leadership communications, Feedback Nodule trained in using the new dashboard, Support Nodules cross-trained in script writing, research tools, simple automations).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Illustrate a sample daily schedule for a team member before vs. after (showing the mix of calls and new tasks). This reinforces that all roles still sell, while adding new responsibilities.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Discuss support mechanisms during transition: mentorship (perhaps a senior manager mentoring the Interface Nodule), reference guides for new tasks, and an open channel for team feedback on the new structure.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Metrics and Evaluation Timeline</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Identify the </a:t>
            </a:r>
            <a:r>
              <a:rPr kumimoji="0" lang="en-US" altLang="en-US" sz="700" b="1" i="0" u="none" strike="noStrike" cap="none" normalizeH="0" baseline="0" dirty="0">
                <a:ln>
                  <a:noFill/>
                </a:ln>
                <a:solidFill>
                  <a:schemeClr val="tx1"/>
                </a:solidFill>
                <a:effectLst/>
                <a:latin typeface="Arial" panose="020B0604020202020204" pitchFamily="34" charset="0"/>
              </a:rPr>
              <a:t>Key Performance Indicators (KPIs)</a:t>
            </a:r>
            <a:r>
              <a:rPr kumimoji="0" lang="en-US" altLang="en-US" sz="700" b="0" i="0" u="none" strike="noStrike" cap="none" normalizeH="0" baseline="0" dirty="0">
                <a:ln>
                  <a:noFill/>
                </a:ln>
                <a:solidFill>
                  <a:schemeClr val="tx1"/>
                </a:solidFill>
                <a:effectLst/>
                <a:latin typeface="Arial" panose="020B0604020202020204" pitchFamily="34" charset="0"/>
              </a:rPr>
              <a:t> for the pilot. For a sales frame, these include: daily calls per rep, conversion rate (% calls leading to sales), total sales/revenue, and qualitative metrics like team engagement or customer feedback. Introduce any new metrics from the Resonant framework (e.g. a “Frame Adherence Score” or process efficiency indicators).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Present the baseline metrics (current state) and the target goals (e.g. improve conversion by X%, reduce onboarding time,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Lay out the timeline: for instance, </a:t>
            </a:r>
            <a:r>
              <a:rPr kumimoji="0" lang="en-US" altLang="en-US" sz="700" b="1" i="0" u="none" strike="noStrike" cap="none" normalizeH="0" baseline="0" dirty="0">
                <a:ln>
                  <a:noFill/>
                </a:ln>
                <a:solidFill>
                  <a:schemeClr val="tx1"/>
                </a:solidFill>
                <a:effectLst/>
                <a:latin typeface="Arial" panose="020B0604020202020204" pitchFamily="34" charset="0"/>
              </a:rPr>
              <a:t>Day 0</a:t>
            </a:r>
            <a:r>
              <a:rPr kumimoji="0" lang="en-US" altLang="en-US" sz="700" b="0" i="0" u="none" strike="noStrike" cap="none" normalizeH="0" baseline="0" dirty="0">
                <a:ln>
                  <a:noFill/>
                </a:ln>
                <a:solidFill>
                  <a:schemeClr val="tx1"/>
                </a:solidFill>
                <a:effectLst/>
                <a:latin typeface="Arial" panose="020B0604020202020204" pitchFamily="34" charset="0"/>
              </a:rPr>
              <a:t> – Pilot launch with baseline recorded; </a:t>
            </a:r>
            <a:r>
              <a:rPr kumimoji="0" lang="en-US" altLang="en-US" sz="700" b="1" i="0" u="none" strike="noStrike" cap="none" normalizeH="0" baseline="0" dirty="0">
                <a:ln>
                  <a:noFill/>
                </a:ln>
                <a:solidFill>
                  <a:schemeClr val="tx1"/>
                </a:solidFill>
                <a:effectLst/>
                <a:latin typeface="Arial" panose="020B0604020202020204" pitchFamily="34" charset="0"/>
              </a:rPr>
              <a:t>Day 30</a:t>
            </a:r>
            <a:r>
              <a:rPr kumimoji="0" lang="en-US" altLang="en-US" sz="700" b="0" i="0" u="none" strike="noStrike" cap="none" normalizeH="0" baseline="0" dirty="0">
                <a:ln>
                  <a:noFill/>
                </a:ln>
                <a:solidFill>
                  <a:schemeClr val="tx1"/>
                </a:solidFill>
                <a:effectLst/>
                <a:latin typeface="Arial" panose="020B0604020202020204" pitchFamily="34" charset="0"/>
              </a:rPr>
              <a:t> – interim checkpoint (light review, adjust if needed); </a:t>
            </a:r>
            <a:r>
              <a:rPr kumimoji="0" lang="en-US" altLang="en-US" sz="700" b="1" i="0" u="none" strike="noStrike" cap="none" normalizeH="0" baseline="0" dirty="0">
                <a:ln>
                  <a:noFill/>
                </a:ln>
                <a:solidFill>
                  <a:schemeClr val="tx1"/>
                </a:solidFill>
                <a:effectLst/>
                <a:latin typeface="Arial" panose="020B0604020202020204" pitchFamily="34" charset="0"/>
              </a:rPr>
              <a:t>Day 60</a:t>
            </a:r>
            <a:r>
              <a:rPr kumimoji="0" lang="en-US" altLang="en-US" sz="700" b="0" i="0" u="none" strike="noStrike" cap="none" normalizeH="0" baseline="0" dirty="0">
                <a:ln>
                  <a:noFill/>
                </a:ln>
                <a:solidFill>
                  <a:schemeClr val="tx1"/>
                </a:solidFill>
                <a:effectLst/>
                <a:latin typeface="Arial" panose="020B0604020202020204" pitchFamily="34" charset="0"/>
              </a:rPr>
              <a:t> – full evaluation. Mark the </a:t>
            </a:r>
            <a:r>
              <a:rPr kumimoji="0" lang="en-US" altLang="en-US" sz="700" b="1" i="0" u="none" strike="noStrike" cap="none" normalizeH="0" baseline="0" dirty="0">
                <a:ln>
                  <a:noFill/>
                </a:ln>
                <a:solidFill>
                  <a:schemeClr val="tx1"/>
                </a:solidFill>
                <a:effectLst/>
                <a:latin typeface="Arial" panose="020B0604020202020204" pitchFamily="34" charset="0"/>
              </a:rPr>
              <a:t>60-day milestone</a:t>
            </a:r>
            <a:r>
              <a:rPr kumimoji="0" lang="en-US" altLang="en-US" sz="700" b="0" i="0" u="none" strike="noStrike" cap="none" normalizeH="0" baseline="0" dirty="0">
                <a:ln>
                  <a:noFill/>
                </a:ln>
                <a:solidFill>
                  <a:schemeClr val="tx1"/>
                </a:solidFill>
                <a:effectLst/>
                <a:latin typeface="Arial" panose="020B0604020202020204" pitchFamily="34" charset="0"/>
              </a:rPr>
              <a:t> as the decision point to assess pilot success.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Explain the evaluation process at 60 days: compare metrics to baseline, survey team members for feedback, and perhaps compare against a control group (another sales team not using the resonant model). Define what success looks like (for example, hitting sales targets with smoother operations and positive team morale).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Note that throughout the 60 days, data is being collected continuously (via the frame dashboard and pilot documents) to inform these evaluations.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Feedback Loop Integration – Dashboard and Meetings</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Describe the </a:t>
            </a:r>
            <a:r>
              <a:rPr kumimoji="0" lang="en-US" altLang="en-US" sz="700" b="1" i="0" u="none" strike="noStrike" cap="none" normalizeH="0" baseline="0" dirty="0">
                <a:ln>
                  <a:noFill/>
                </a:ln>
                <a:solidFill>
                  <a:schemeClr val="tx1"/>
                </a:solidFill>
                <a:effectLst/>
                <a:latin typeface="Arial" panose="020B0604020202020204" pitchFamily="34" charset="0"/>
              </a:rPr>
              <a:t>Frame Dashboard</a:t>
            </a:r>
            <a:r>
              <a:rPr kumimoji="0" lang="en-US" altLang="en-US" sz="700" b="0" i="0" u="none" strike="noStrike" cap="none" normalizeH="0" baseline="0" dirty="0">
                <a:ln>
                  <a:noFill/>
                </a:ln>
                <a:solidFill>
                  <a:schemeClr val="tx1"/>
                </a:solidFill>
                <a:effectLst/>
                <a:latin typeface="Arial" panose="020B0604020202020204" pitchFamily="34" charset="0"/>
              </a:rPr>
              <a:t> that the team is using. (Show a screenshot or mock-up: e.g. a Salesforce dashboard with real-time metrics and a “resonance” indicator.) Explain how this dashboard provides transparency and quick feedback to the whole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Explain the new meeting rhythm: daily huddles for micro-adjustments (optional), biweekly Frame Meetings for retrospective and planning, and biweekly cross-frame syncs by role. Emphasize how these meetings close the feedback loop: information flows from individual work -&gt; frame dashboard -&gt; team discussion -&gt; adjustments in strategy.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Highlight the </a:t>
            </a:r>
            <a:r>
              <a:rPr kumimoji="0" lang="en-US" altLang="en-US" sz="700" b="1" i="0" u="none" strike="noStrike" cap="none" normalizeH="0" baseline="0" dirty="0">
                <a:ln>
                  <a:noFill/>
                </a:ln>
                <a:solidFill>
                  <a:schemeClr val="tx1"/>
                </a:solidFill>
                <a:effectLst/>
                <a:latin typeface="Arial" panose="020B0604020202020204" pitchFamily="34" charset="0"/>
              </a:rPr>
              <a:t>Feedback Nodule’s role</a:t>
            </a:r>
            <a:r>
              <a:rPr kumimoji="0" lang="en-US" altLang="en-US" sz="700" b="0" i="0" u="none" strike="noStrike" cap="none" normalizeH="0" baseline="0" dirty="0">
                <a:ln>
                  <a:noFill/>
                </a:ln>
                <a:solidFill>
                  <a:schemeClr val="tx1"/>
                </a:solidFill>
                <a:effectLst/>
                <a:latin typeface="Arial" panose="020B0604020202020204" pitchFamily="34" charset="0"/>
              </a:rPr>
              <a:t> in facilitating these loops (monitoring data, sounding alarms early) and the </a:t>
            </a:r>
            <a:r>
              <a:rPr kumimoji="0" lang="en-US" altLang="en-US" sz="700" b="1" i="0" u="none" strike="noStrike" cap="none" normalizeH="0" baseline="0" dirty="0">
                <a:ln>
                  <a:noFill/>
                </a:ln>
                <a:solidFill>
                  <a:schemeClr val="tx1"/>
                </a:solidFill>
                <a:effectLst/>
                <a:latin typeface="Arial" panose="020B0604020202020204" pitchFamily="34" charset="0"/>
              </a:rPr>
              <a:t>Interface Nodule’s role</a:t>
            </a:r>
            <a:r>
              <a:rPr kumimoji="0" lang="en-US" altLang="en-US" sz="700" b="0" i="0" u="none" strike="noStrike" cap="none" normalizeH="0" baseline="0" dirty="0">
                <a:ln>
                  <a:noFill/>
                </a:ln>
                <a:solidFill>
                  <a:schemeClr val="tx1"/>
                </a:solidFill>
                <a:effectLst/>
                <a:latin typeface="Arial" panose="020B0604020202020204" pitchFamily="34" charset="0"/>
              </a:rPr>
              <a:t> in communicating outcomes to leadership, ensuring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Include an example of a feedback loop in action: e.g. “Week 2 data showed low afternoon contact rates, team decided to shift some calls to morning; Week 3 saw improvement.” This real example will make the concept concrete.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Mention how these feedback practices will be sustained beyond the pilot, creating a culture of continuous improvement and adaptability.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1" i="0" u="none" strike="noStrike" cap="none" normalizeH="0" baseline="0" dirty="0">
                <a:ln>
                  <a:noFill/>
                </a:ln>
                <a:solidFill>
                  <a:schemeClr val="tx1"/>
                </a:solidFill>
                <a:effectLst/>
                <a:latin typeface="Arial" panose="020B0604020202020204" pitchFamily="34" charset="0"/>
              </a:rPr>
              <a:t>Iteration, Promotion, and Scale-Up Plan</a:t>
            </a: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Outline what happens after the initial pilot frame proves itself. Describe a Phase 2 where the resonant structure is scaled: for instance, the current Interface Nodule (pilot team lead) could officially become a manager of multiple frames (if performance merits), spinning up a second and third frame using the same 7-role template​file-qm8mwqdjb7wu54yly6xvvm.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Show a future org chart vision: one leader overseeing 2–3 Resonant Frames, each self-sufficient – a modular “fractal” expansion of the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Discuss </a:t>
            </a:r>
            <a:r>
              <a:rPr kumimoji="0" lang="en-US" altLang="en-US" sz="700" b="1" i="0" u="none" strike="noStrike" cap="none" normalizeH="0" baseline="0" dirty="0">
                <a:ln>
                  <a:noFill/>
                </a:ln>
                <a:solidFill>
                  <a:schemeClr val="tx1"/>
                </a:solidFill>
                <a:effectLst/>
                <a:latin typeface="Arial" panose="020B0604020202020204" pitchFamily="34" charset="0"/>
              </a:rPr>
              <a:t>promotion pathways</a:t>
            </a:r>
            <a:r>
              <a:rPr kumimoji="0" lang="en-US" altLang="en-US" sz="700" b="0" i="0" u="none" strike="noStrike" cap="none" normalizeH="0" baseline="0" dirty="0">
                <a:ln>
                  <a:noFill/>
                </a:ln>
                <a:solidFill>
                  <a:schemeClr val="tx1"/>
                </a:solidFill>
                <a:effectLst/>
                <a:latin typeface="Arial" panose="020B0604020202020204" pitchFamily="34" charset="0"/>
              </a:rPr>
              <a:t> for team members: e.g. a stellar Feedback Nodule could be promoted to a central Analyst role supporting several frames, or Support Nodules could step into specialized corporate roles (training, IT, etc.) as noted in the framework. This helps stakeholders see career growth opportunities resulting from the pilot.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Emphasize the iterative nature of the rollout: we will apply lessons from the pilot to refine the framework (perhaps adjusting role definitions or support prototypes) before wider implementation. Each new frame launched will use an improved version (“version 2.0”) of the playbook.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Conclude with a scale-up timeline: after 60-day pilot, months 3–4 to roll out to the next teams, and so on, aiming for full department adoption by [X date], assuming metrics stay positive. End on a confident note that this resonant approach will </a:t>
            </a:r>
            <a:r>
              <a:rPr kumimoji="0" lang="en-US" altLang="en-US" sz="700" b="1" i="0" u="none" strike="noStrike" cap="none" normalizeH="0" baseline="0" dirty="0">
                <a:ln>
                  <a:noFill/>
                </a:ln>
                <a:solidFill>
                  <a:schemeClr val="tx1"/>
                </a:solidFill>
                <a:effectLst/>
                <a:latin typeface="Arial" panose="020B0604020202020204" pitchFamily="34" charset="0"/>
              </a:rPr>
              <a:t>future-proof the organization</a:t>
            </a:r>
            <a:r>
              <a:rPr kumimoji="0" lang="en-US" altLang="en-US" sz="700" b="0" i="0" u="none" strike="noStrike" cap="none" normalizeH="0" baseline="0" dirty="0">
                <a:ln>
                  <a:noFill/>
                </a:ln>
                <a:solidFill>
                  <a:schemeClr val="tx1"/>
                </a:solidFill>
                <a:effectLst/>
                <a:latin typeface="Arial" panose="020B0604020202020204" pitchFamily="34" charset="0"/>
              </a:rPr>
              <a:t> by building teams that are adaptive, engaged, and high-performing.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7961301"/>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1345</TotalTime>
  <Words>5127</Words>
  <Application>Microsoft Office PowerPoint</Application>
  <PresentationFormat>Widescreen</PresentationFormat>
  <Paragraphs>351</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Cambria Math</vt:lpstr>
      <vt:lpstr>Gill Sans MT</vt:lpstr>
      <vt:lpstr>Office Theme</vt:lpstr>
      <vt:lpstr>The</vt:lpstr>
      <vt:lpstr>                                  Resonance</vt:lpstr>
      <vt:lpstr>The Resonance we want is across Time</vt:lpstr>
      <vt:lpstr>Agenda</vt:lpstr>
      <vt:lpstr>Math</vt:lpstr>
      <vt:lpstr>Math</vt:lpstr>
      <vt:lpstr>Math</vt:lpstr>
      <vt:lpstr>Math</vt:lpstr>
      <vt:lpstr>Structure</vt:lpstr>
      <vt:lpstr>Structure</vt:lpstr>
      <vt:lpstr>Structure</vt:lpstr>
      <vt:lpstr>Structure</vt:lpstr>
      <vt:lpstr>Structure</vt:lpstr>
      <vt:lpstr>Structure</vt:lpstr>
      <vt:lpstr>Metrics</vt:lpstr>
      <vt:lpstr>PowerPoint Presentation</vt:lpstr>
      <vt:lpstr>PowerPoint Presentation</vt:lpstr>
      <vt:lpstr>PowerPoint Presentation</vt:lpstr>
      <vt:lpstr>Metrics</vt:lpstr>
      <vt:lpstr>Modules</vt:lpstr>
      <vt:lpstr>Modules</vt:lpstr>
      <vt:lpstr>Modules</vt:lpstr>
      <vt:lpstr>Modules</vt:lpstr>
      <vt:lpstr>Modules</vt:lpstr>
      <vt:lpstr>Modules</vt:lpstr>
      <vt:lpstr>Pilot Document</vt:lpstr>
      <vt:lpstr>Pilot Document</vt:lpstr>
      <vt:lpstr>Pilot Document</vt:lpstr>
      <vt:lpstr>Pilot Document</vt:lpstr>
      <vt:lpstr>Pilot Document</vt:lpstr>
      <vt:lpstr>Realistic Example</vt:lpstr>
      <vt:lpstr>Realistic Example</vt:lpstr>
      <vt:lpstr>Realistic Example</vt:lpstr>
      <vt:lpstr>Questions?</vt:lpstr>
      <vt:lpstr>Fin</vt:lpstr>
      <vt:lpstr>Implementation 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Database Ecosystems</dc:title>
  <dc:creator>Keaton Smith</dc:creator>
  <cp:lastModifiedBy>Keaton Smith</cp:lastModifiedBy>
  <cp:revision>13</cp:revision>
  <dcterms:created xsi:type="dcterms:W3CDTF">2023-08-19T18:32:36Z</dcterms:created>
  <dcterms:modified xsi:type="dcterms:W3CDTF">2025-05-02T17:00:37Z</dcterms:modified>
</cp:coreProperties>
</file>